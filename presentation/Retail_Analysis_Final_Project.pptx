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35"/>
  </p:notesMasterIdLst>
  <p:sldIdLst>
    <p:sldId id="282" r:id="rId2"/>
    <p:sldId id="256" r:id="rId3"/>
    <p:sldId id="260" r:id="rId4"/>
    <p:sldId id="262" r:id="rId5"/>
    <p:sldId id="315" r:id="rId6"/>
    <p:sldId id="316" r:id="rId7"/>
    <p:sldId id="317" r:id="rId8"/>
    <p:sldId id="263" r:id="rId9"/>
    <p:sldId id="319" r:id="rId10"/>
    <p:sldId id="340" r:id="rId11"/>
    <p:sldId id="320" r:id="rId12"/>
    <p:sldId id="321" r:id="rId13"/>
    <p:sldId id="313" r:id="rId14"/>
    <p:sldId id="323" r:id="rId15"/>
    <p:sldId id="324" r:id="rId16"/>
    <p:sldId id="266" r:id="rId17"/>
    <p:sldId id="326" r:id="rId18"/>
    <p:sldId id="328" r:id="rId19"/>
    <p:sldId id="345" r:id="rId20"/>
    <p:sldId id="344" r:id="rId21"/>
    <p:sldId id="341" r:id="rId22"/>
    <p:sldId id="342" r:id="rId23"/>
    <p:sldId id="343" r:id="rId24"/>
    <p:sldId id="261" r:id="rId25"/>
    <p:sldId id="333" r:id="rId26"/>
    <p:sldId id="334" r:id="rId27"/>
    <p:sldId id="335" r:id="rId28"/>
    <p:sldId id="336" r:id="rId29"/>
    <p:sldId id="337" r:id="rId30"/>
    <p:sldId id="338" r:id="rId31"/>
    <p:sldId id="339" r:id="rId32"/>
    <p:sldId id="346" r:id="rId33"/>
    <p:sldId id="327" r:id="rId34"/>
  </p:sldIdLst>
  <p:sldSz cx="9144000" cy="5143500" type="screen16x9"/>
  <p:notesSz cx="6858000" cy="9144000"/>
  <p:embeddedFontLst>
    <p:embeddedFont>
      <p:font typeface="Albert Sans" panose="020B0604020202020204" charset="0"/>
      <p:regular r:id="rId36"/>
      <p:bold r:id="rId37"/>
      <p:italic r:id="rId38"/>
      <p:boldItalic r:id="rId39"/>
    </p:embeddedFont>
    <p:embeddedFont>
      <p:font typeface="Anaheim" panose="020B0604020202020204" charset="0"/>
      <p:regular r:id="rId40"/>
      <p:bold r:id="rId41"/>
    </p:embeddedFont>
    <p:embeddedFont>
      <p:font typeface="Bebas Neue" panose="020B0606020202050201" pitchFamily="34" charset="0"/>
      <p:regular r:id="rId42"/>
    </p:embeddedFont>
    <p:embeddedFont>
      <p:font typeface="Myanmar Text" panose="020B0502040204020203" pitchFamily="34" charset="0"/>
      <p:regular r:id="rId43"/>
      <p:bold r:id="rId44"/>
    </p:embeddedFont>
    <p:embeddedFont>
      <p:font typeface="OCR A Extended" panose="020B0604020202020204" charset="0"/>
      <p:regular r:id="rId45"/>
    </p:embeddedFont>
    <p:embeddedFont>
      <p:font typeface="Open Sans" panose="020B0606030504020204" pitchFamily="34" charset="0"/>
      <p:regular r:id="rId46"/>
      <p:bold r:id="rId47"/>
      <p:italic r:id="rId48"/>
      <p:boldItalic r:id="rId49"/>
    </p:embeddedFont>
    <p:embeddedFont>
      <p:font typeface="Play" panose="020B0604020202020204" charset="0"/>
      <p:regular r:id="rId50"/>
      <p:bold r:id="rId51"/>
    </p:embeddedFont>
    <p:embeddedFont>
      <p:font typeface="Segoe UI" panose="020B0502040204020203" pitchFamily="34" charset="0"/>
      <p:regular r:id="rId52"/>
      <p:bold r:id="rId53"/>
      <p:italic r:id="rId54"/>
      <p:boldItalic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41C3808-7BF4-40A5-9374-C4C0850E65E3}">
  <a:tblStyle styleId="{F41C3808-7BF4-40A5-9374-C4C0850E65E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FBFFA56-D8AC-4EFB-86C7-D1368744F21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64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042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font" Target="fonts/font15.fntdata"/><Relationship Id="rId55" Type="http://schemas.openxmlformats.org/officeDocument/2006/relationships/font" Target="fonts/font20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openxmlformats.org/officeDocument/2006/relationships/font" Target="fonts/font18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1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6.fntdata"/><Relationship Id="rId54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font" Target="fonts/font14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52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1eb92021df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1eb92021df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eb74d54ae3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1eb74d54ae3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eb7503266f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eb7503266f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1eb92021dfa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5" name="Google Shape;935;g1eb92021dfa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74496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eb7503266f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eb7503266f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93663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eb74d54ae3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1eb74d54ae3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91971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eb90da908d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eb90da908d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eb90da908d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eb90da908d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17770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>
          <a:extLst>
            <a:ext uri="{FF2B5EF4-FFF2-40B4-BE49-F238E27FC236}">
              <a16:creationId xmlns:a16="http://schemas.microsoft.com/office/drawing/2014/main" id="{E6748E2C-9D6E-4D70-0804-E0CCC767D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eb90da908d_0_58:notes">
            <a:extLst>
              <a:ext uri="{FF2B5EF4-FFF2-40B4-BE49-F238E27FC236}">
                <a16:creationId xmlns:a16="http://schemas.microsoft.com/office/drawing/2014/main" id="{4C045065-9998-91FE-7A5B-74EF01D9AF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eb90da908d_0_58:notes">
            <a:extLst>
              <a:ext uri="{FF2B5EF4-FFF2-40B4-BE49-F238E27FC236}">
                <a16:creationId xmlns:a16="http://schemas.microsoft.com/office/drawing/2014/main" id="{0A095D31-B6E4-0475-332F-52AB198994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23153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eb90da908d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eb90da908d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92494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1eb90da908d_0_8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1eb90da908d_0_8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89537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eb7503266f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eb7503266f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81717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eb7503266f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eb7503266f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20141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eb74d54ae3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1eb74d54ae3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28509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eb90da908d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1eb90da908d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eb7503266f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eb7503266f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68221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1eb90da908d_0_9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1eb90da908d_0_9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08751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1eb90da908d_0_9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1eb90da908d_0_9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44515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1eb90da908d_0_9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1eb90da908d_0_9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60945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1eb90da908d_0_9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1eb90da908d_0_9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15923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1eb90da908d_0_9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1eb90da908d_0_9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81757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1eb90da908d_0_9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1eb90da908d_0_9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05529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eb74d54ae3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1eb74d54ae3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eb74d54ae3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1eb74d54ae3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40770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eb74d54ae3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1eb74d54ae3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14660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eb74d54ae3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1eb74d54ae3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9461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eb74d54ae3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1eb74d54ae3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75549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eb74d54ae3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1eb74d54ae3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25858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eb74d54ae3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1eb74d54ae3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28498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eb74d54ae3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1eb74d54ae3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733970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eb74d54ae3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1eb74d54ae3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628215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1eb90da908d_0_9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1eb90da908d_0_9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3074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l="24648" t="235" b="36172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011625" y="1240400"/>
            <a:ext cx="4345500" cy="127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011587" y="3345025"/>
            <a:ext cx="43455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 rotWithShape="1">
          <a:blip r:embed="rId2">
            <a:alphaModFix/>
          </a:blip>
          <a:srcRect t="36407" r="24648"/>
          <a:stretch/>
        </p:blipFill>
        <p:spPr>
          <a:xfrm flipH="1">
            <a:off x="3" y="0"/>
            <a:ext cx="9143997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964950" y="2657138"/>
            <a:ext cx="44805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964950" y="1282838"/>
            <a:ext cx="4480500" cy="841800"/>
          </a:xfrm>
          <a:prstGeom prst="rect">
            <a:avLst/>
          </a:prstGeom>
          <a:effectLst>
            <a:outerShdw blurRad="357188" dist="1905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964950" y="3561338"/>
            <a:ext cx="4480500" cy="3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/>
          <p:cNvPicPr preferRelativeResize="0"/>
          <p:nvPr/>
        </p:nvPicPr>
        <p:blipFill rotWithShape="1">
          <a:blip r:embed="rId2">
            <a:alphaModFix/>
          </a:blip>
          <a:srcRect l="21197" t="36407" r="3451"/>
          <a:stretch/>
        </p:blipFill>
        <p:spPr>
          <a:xfrm flipH="1">
            <a:off x="3" y="0"/>
            <a:ext cx="9143997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354300" y="323250"/>
            <a:ext cx="8435400" cy="4497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271463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1129938" y="1443100"/>
            <a:ext cx="3050100" cy="295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2"/>
          </p:nvPr>
        </p:nvSpPr>
        <p:spPr>
          <a:xfrm>
            <a:off x="4963951" y="1443100"/>
            <a:ext cx="3050100" cy="295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7"/>
          <p:cNvPicPr preferRelativeResize="0"/>
          <p:nvPr/>
        </p:nvPicPr>
        <p:blipFill rotWithShape="1">
          <a:blip r:embed="rId2">
            <a:alphaModFix/>
          </a:blip>
          <a:srcRect l="14980" t="36407" r="9668"/>
          <a:stretch/>
        </p:blipFill>
        <p:spPr>
          <a:xfrm flipH="1">
            <a:off x="3" y="0"/>
            <a:ext cx="9143997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7"/>
          <p:cNvSpPr/>
          <p:nvPr/>
        </p:nvSpPr>
        <p:spPr>
          <a:xfrm>
            <a:off x="354300" y="323250"/>
            <a:ext cx="8435400" cy="4497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720000" y="1553800"/>
            <a:ext cx="32136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┌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>
            <a:spLocks noGrp="1"/>
          </p:cNvSpPr>
          <p:nvPr>
            <p:ph type="pic" idx="2"/>
          </p:nvPr>
        </p:nvSpPr>
        <p:spPr>
          <a:xfrm>
            <a:off x="4565900" y="678450"/>
            <a:ext cx="3863100" cy="3786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3213600" cy="10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/>
          <p:cNvPicPr preferRelativeResize="0"/>
          <p:nvPr/>
        </p:nvPicPr>
        <p:blipFill rotWithShape="1">
          <a:blip r:embed="rId2">
            <a:alphaModFix/>
          </a:blip>
          <a:srcRect l="25333" t="25653" r="-686" b="10754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354300" y="323250"/>
            <a:ext cx="8435400" cy="4497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271463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77" name="Google Shape;77;p15"/>
          <p:cNvSpPr txBox="1">
            <a:spLocks noGrp="1"/>
          </p:cNvSpPr>
          <p:nvPr>
            <p:ph type="subTitle" idx="1"/>
          </p:nvPr>
        </p:nvSpPr>
        <p:spPr>
          <a:xfrm>
            <a:off x="720000" y="3016475"/>
            <a:ext cx="2975400" cy="9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720000" y="1162825"/>
            <a:ext cx="2975400" cy="14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>
            <a:spLocks noGrp="1"/>
          </p:cNvSpPr>
          <p:nvPr>
            <p:ph type="pic" idx="2"/>
          </p:nvPr>
        </p:nvSpPr>
        <p:spPr>
          <a:xfrm>
            <a:off x="4125325" y="678450"/>
            <a:ext cx="4303500" cy="3786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_1_1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8"/>
          <p:cNvPicPr preferRelativeResize="0"/>
          <p:nvPr/>
        </p:nvPicPr>
        <p:blipFill rotWithShape="1">
          <a:blip r:embed="rId2">
            <a:alphaModFix/>
          </a:blip>
          <a:srcRect l="2200" t="18207" r="22447" b="1820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/>
          <p:nvPr/>
        </p:nvSpPr>
        <p:spPr>
          <a:xfrm>
            <a:off x="354300" y="323250"/>
            <a:ext cx="8435400" cy="4497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271463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93" name="Google Shape;93;p18"/>
          <p:cNvSpPr txBox="1">
            <a:spLocks noGrp="1"/>
          </p:cNvSpPr>
          <p:nvPr>
            <p:ph type="subTitle" idx="1"/>
          </p:nvPr>
        </p:nvSpPr>
        <p:spPr>
          <a:xfrm>
            <a:off x="720000" y="2348856"/>
            <a:ext cx="2589600" cy="10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720000" y="1258063"/>
            <a:ext cx="2589600" cy="109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0"/>
          <p:cNvPicPr preferRelativeResize="0"/>
          <p:nvPr/>
        </p:nvPicPr>
        <p:blipFill rotWithShape="1">
          <a:blip r:embed="rId2">
            <a:alphaModFix/>
          </a:blip>
          <a:srcRect l="24648" b="36407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0"/>
          <p:cNvSpPr/>
          <p:nvPr/>
        </p:nvSpPr>
        <p:spPr>
          <a:xfrm>
            <a:off x="354300" y="323250"/>
            <a:ext cx="8435400" cy="4497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271463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03" name="Google Shape;103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subTitle" idx="1"/>
          </p:nvPr>
        </p:nvSpPr>
        <p:spPr>
          <a:xfrm>
            <a:off x="3373801" y="1807727"/>
            <a:ext cx="4097100" cy="79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subTitle" idx="2"/>
          </p:nvPr>
        </p:nvSpPr>
        <p:spPr>
          <a:xfrm>
            <a:off x="3373801" y="1495450"/>
            <a:ext cx="4097100" cy="388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subTitle" idx="3"/>
          </p:nvPr>
        </p:nvSpPr>
        <p:spPr>
          <a:xfrm>
            <a:off x="3373801" y="3811104"/>
            <a:ext cx="4097100" cy="79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subTitle" idx="4"/>
          </p:nvPr>
        </p:nvSpPr>
        <p:spPr>
          <a:xfrm>
            <a:off x="3373801" y="3498822"/>
            <a:ext cx="4097100" cy="388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2"/>
          <p:cNvPicPr preferRelativeResize="0"/>
          <p:nvPr/>
        </p:nvPicPr>
        <p:blipFill rotWithShape="1">
          <a:blip r:embed="rId2">
            <a:alphaModFix/>
          </a:blip>
          <a:srcRect l="2200" t="18207" r="22447" b="1820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2"/>
          <p:cNvSpPr/>
          <p:nvPr/>
        </p:nvSpPr>
        <p:spPr>
          <a:xfrm>
            <a:off x="354300" y="323250"/>
            <a:ext cx="8435400" cy="4497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271463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21" name="Google Shape;121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2"/>
          <p:cNvSpPr txBox="1">
            <a:spLocks noGrp="1"/>
          </p:cNvSpPr>
          <p:nvPr>
            <p:ph type="subTitle" idx="1"/>
          </p:nvPr>
        </p:nvSpPr>
        <p:spPr>
          <a:xfrm>
            <a:off x="720000" y="3650375"/>
            <a:ext cx="2336400" cy="419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123" name="Google Shape;123;p22"/>
          <p:cNvSpPr txBox="1">
            <a:spLocks noGrp="1"/>
          </p:cNvSpPr>
          <p:nvPr>
            <p:ph type="subTitle" idx="2"/>
          </p:nvPr>
        </p:nvSpPr>
        <p:spPr>
          <a:xfrm>
            <a:off x="720000" y="4035805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2"/>
          <p:cNvSpPr txBox="1">
            <a:spLocks noGrp="1"/>
          </p:cNvSpPr>
          <p:nvPr>
            <p:ph type="subTitle" idx="3"/>
          </p:nvPr>
        </p:nvSpPr>
        <p:spPr>
          <a:xfrm>
            <a:off x="3403800" y="4035805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subTitle" idx="4"/>
          </p:nvPr>
        </p:nvSpPr>
        <p:spPr>
          <a:xfrm>
            <a:off x="6087600" y="4035805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subTitle" idx="5"/>
          </p:nvPr>
        </p:nvSpPr>
        <p:spPr>
          <a:xfrm>
            <a:off x="3403800" y="3650375"/>
            <a:ext cx="2336400" cy="419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ubTitle" idx="6"/>
          </p:nvPr>
        </p:nvSpPr>
        <p:spPr>
          <a:xfrm>
            <a:off x="6087600" y="3650375"/>
            <a:ext cx="2336400" cy="419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4"/>
          <p:cNvPicPr preferRelativeResize="0"/>
          <p:nvPr/>
        </p:nvPicPr>
        <p:blipFill rotWithShape="1">
          <a:blip r:embed="rId2">
            <a:alphaModFix/>
          </a:blip>
          <a:srcRect l="21664" t="29113" r="2984" b="7294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354300" y="323250"/>
            <a:ext cx="8435400" cy="4497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271463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43" name="Google Shape;143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4"/>
          <p:cNvSpPr txBox="1">
            <a:spLocks noGrp="1"/>
          </p:cNvSpPr>
          <p:nvPr>
            <p:ph type="subTitle" idx="1"/>
          </p:nvPr>
        </p:nvSpPr>
        <p:spPr>
          <a:xfrm>
            <a:off x="715120" y="2239175"/>
            <a:ext cx="2356800" cy="501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4"/>
          <p:cNvSpPr txBox="1">
            <a:spLocks noGrp="1"/>
          </p:cNvSpPr>
          <p:nvPr>
            <p:ph type="subTitle" idx="2"/>
          </p:nvPr>
        </p:nvSpPr>
        <p:spPr>
          <a:xfrm>
            <a:off x="715100" y="1926900"/>
            <a:ext cx="2356800" cy="388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6" name="Google Shape;146;p24"/>
          <p:cNvSpPr txBox="1">
            <a:spLocks noGrp="1"/>
          </p:cNvSpPr>
          <p:nvPr>
            <p:ph type="subTitle" idx="3"/>
          </p:nvPr>
        </p:nvSpPr>
        <p:spPr>
          <a:xfrm>
            <a:off x="6067208" y="2239175"/>
            <a:ext cx="2356800" cy="501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4"/>
          <p:cNvSpPr txBox="1">
            <a:spLocks noGrp="1"/>
          </p:cNvSpPr>
          <p:nvPr>
            <p:ph type="subTitle" idx="4"/>
          </p:nvPr>
        </p:nvSpPr>
        <p:spPr>
          <a:xfrm>
            <a:off x="6067188" y="1926900"/>
            <a:ext cx="2356800" cy="388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8" name="Google Shape;148;p24"/>
          <p:cNvSpPr txBox="1">
            <a:spLocks noGrp="1"/>
          </p:cNvSpPr>
          <p:nvPr>
            <p:ph type="subTitle" idx="5"/>
          </p:nvPr>
        </p:nvSpPr>
        <p:spPr>
          <a:xfrm>
            <a:off x="3391170" y="2239175"/>
            <a:ext cx="2356800" cy="501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4"/>
          <p:cNvSpPr txBox="1">
            <a:spLocks noGrp="1"/>
          </p:cNvSpPr>
          <p:nvPr>
            <p:ph type="subTitle" idx="6"/>
          </p:nvPr>
        </p:nvSpPr>
        <p:spPr>
          <a:xfrm>
            <a:off x="3391150" y="1926900"/>
            <a:ext cx="2356800" cy="388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0" name="Google Shape;150;p24"/>
          <p:cNvSpPr txBox="1">
            <a:spLocks noGrp="1"/>
          </p:cNvSpPr>
          <p:nvPr>
            <p:ph type="subTitle" idx="7"/>
          </p:nvPr>
        </p:nvSpPr>
        <p:spPr>
          <a:xfrm>
            <a:off x="715120" y="4106600"/>
            <a:ext cx="2356800" cy="501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4"/>
          <p:cNvSpPr txBox="1">
            <a:spLocks noGrp="1"/>
          </p:cNvSpPr>
          <p:nvPr>
            <p:ph type="subTitle" idx="8"/>
          </p:nvPr>
        </p:nvSpPr>
        <p:spPr>
          <a:xfrm>
            <a:off x="715100" y="3794325"/>
            <a:ext cx="2356800" cy="388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2" name="Google Shape;152;p24"/>
          <p:cNvSpPr txBox="1">
            <a:spLocks noGrp="1"/>
          </p:cNvSpPr>
          <p:nvPr>
            <p:ph type="subTitle" idx="9"/>
          </p:nvPr>
        </p:nvSpPr>
        <p:spPr>
          <a:xfrm>
            <a:off x="6067208" y="4106600"/>
            <a:ext cx="2356800" cy="501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4"/>
          <p:cNvSpPr txBox="1">
            <a:spLocks noGrp="1"/>
          </p:cNvSpPr>
          <p:nvPr>
            <p:ph type="subTitle" idx="13"/>
          </p:nvPr>
        </p:nvSpPr>
        <p:spPr>
          <a:xfrm>
            <a:off x="6067188" y="3794325"/>
            <a:ext cx="2356800" cy="388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4" name="Google Shape;154;p24"/>
          <p:cNvSpPr txBox="1">
            <a:spLocks noGrp="1"/>
          </p:cNvSpPr>
          <p:nvPr>
            <p:ph type="subTitle" idx="14"/>
          </p:nvPr>
        </p:nvSpPr>
        <p:spPr>
          <a:xfrm>
            <a:off x="3391170" y="4106600"/>
            <a:ext cx="2356800" cy="501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4"/>
          <p:cNvSpPr txBox="1">
            <a:spLocks noGrp="1"/>
          </p:cNvSpPr>
          <p:nvPr>
            <p:ph type="subTitle" idx="15"/>
          </p:nvPr>
        </p:nvSpPr>
        <p:spPr>
          <a:xfrm>
            <a:off x="3391150" y="3794325"/>
            <a:ext cx="2356800" cy="388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7"/>
          <p:cNvPicPr preferRelativeResize="0"/>
          <p:nvPr/>
        </p:nvPicPr>
        <p:blipFill rotWithShape="1">
          <a:blip r:embed="rId2">
            <a:alphaModFix/>
          </a:blip>
          <a:srcRect l="24648" t="13742" b="22665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7"/>
          <p:cNvSpPr/>
          <p:nvPr/>
        </p:nvSpPr>
        <p:spPr>
          <a:xfrm>
            <a:off x="354300" y="323250"/>
            <a:ext cx="8435400" cy="4497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271463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72" name="Google Shape;172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0"/>
          <p:cNvPicPr preferRelativeResize="0"/>
          <p:nvPr/>
        </p:nvPicPr>
        <p:blipFill rotWithShape="1">
          <a:blip r:embed="rId2">
            <a:alphaModFix/>
          </a:blip>
          <a:srcRect t="36407" r="24648"/>
          <a:stretch/>
        </p:blipFill>
        <p:spPr>
          <a:xfrm>
            <a:off x="-45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1"/>
          <p:cNvPicPr preferRelativeResize="0"/>
          <p:nvPr/>
        </p:nvPicPr>
        <p:blipFill rotWithShape="1">
          <a:blip r:embed="rId2">
            <a:alphaModFix amt="32000"/>
          </a:blip>
          <a:srcRect t="36407" r="24648"/>
          <a:stretch/>
        </p:blipFill>
        <p:spPr>
          <a:xfrm rot="10800000">
            <a:off x="-45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"/>
              <a:buNone/>
              <a:defRPr sz="3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pen Sans"/>
              <a:buNone/>
              <a:defRPr sz="3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pen Sans"/>
              <a:buNone/>
              <a:defRPr sz="3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pen Sans"/>
              <a:buNone/>
              <a:defRPr sz="3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pen Sans"/>
              <a:buNone/>
              <a:defRPr sz="3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pen Sans"/>
              <a:buNone/>
              <a:defRPr sz="3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pen Sans"/>
              <a:buNone/>
              <a:defRPr sz="3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pen Sans"/>
              <a:buNone/>
              <a:defRPr sz="3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pen Sans"/>
              <a:buNone/>
              <a:defRPr sz="3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8" r:id="rId5"/>
    <p:sldLayoutId id="2147483661" r:id="rId6"/>
    <p:sldLayoutId id="2147483664" r:id="rId7"/>
    <p:sldLayoutId id="2147483666" r:id="rId8"/>
    <p:sldLayoutId id="2147483668" r:id="rId9"/>
    <p:sldLayoutId id="2147483670" r:id="rId10"/>
    <p:sldLayoutId id="2147483673" r:id="rId11"/>
    <p:sldLayoutId id="2147483676" r:id="rId12"/>
    <p:sldLayoutId id="2147483677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6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Our team</a:t>
            </a:r>
            <a:endParaRPr dirty="0"/>
          </a:p>
        </p:txBody>
      </p:sp>
      <p:sp>
        <p:nvSpPr>
          <p:cNvPr id="847" name="Google Shape;847;p61"/>
          <p:cNvSpPr txBox="1">
            <a:spLocks noGrp="1"/>
          </p:cNvSpPr>
          <p:nvPr>
            <p:ph type="subTitle" idx="1"/>
          </p:nvPr>
        </p:nvSpPr>
        <p:spPr>
          <a:xfrm>
            <a:off x="786907" y="1293751"/>
            <a:ext cx="2336400" cy="41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1. Nancy Khaled</a:t>
            </a:r>
            <a:endParaRPr dirty="0"/>
          </a:p>
        </p:txBody>
      </p:sp>
      <p:sp>
        <p:nvSpPr>
          <p:cNvPr id="851" name="Google Shape;851;p61"/>
          <p:cNvSpPr txBox="1">
            <a:spLocks noGrp="1"/>
          </p:cNvSpPr>
          <p:nvPr>
            <p:ph type="subTitle" idx="5"/>
          </p:nvPr>
        </p:nvSpPr>
        <p:spPr>
          <a:xfrm>
            <a:off x="786907" y="1851311"/>
            <a:ext cx="2336400" cy="41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2. Nureen Ehab</a:t>
            </a:r>
            <a:endParaRPr dirty="0"/>
          </a:p>
        </p:txBody>
      </p:sp>
      <p:sp>
        <p:nvSpPr>
          <p:cNvPr id="852" name="Google Shape;852;p61"/>
          <p:cNvSpPr txBox="1">
            <a:spLocks noGrp="1"/>
          </p:cNvSpPr>
          <p:nvPr>
            <p:ph type="subTitle" idx="6"/>
          </p:nvPr>
        </p:nvSpPr>
        <p:spPr>
          <a:xfrm>
            <a:off x="786906" y="2408871"/>
            <a:ext cx="3145702" cy="41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3. Mahmoud </a:t>
            </a:r>
            <a:r>
              <a:rPr lang="en-US" dirty="0"/>
              <a:t>Abo</a:t>
            </a:r>
            <a:r>
              <a:rPr lang="ar-EG" dirty="0"/>
              <a:t> </a:t>
            </a:r>
            <a:r>
              <a:rPr lang="en-US" dirty="0" err="1"/>
              <a:t>AlSaud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5"/>
          <p:cNvSpPr/>
          <p:nvPr/>
        </p:nvSpPr>
        <p:spPr>
          <a:xfrm>
            <a:off x="3579000" y="323250"/>
            <a:ext cx="5210700" cy="4497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271463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98" name="Google Shape;198;p35"/>
          <p:cNvSpPr txBox="1">
            <a:spLocks noGrp="1"/>
          </p:cNvSpPr>
          <p:nvPr>
            <p:ph type="ctrTitle"/>
          </p:nvPr>
        </p:nvSpPr>
        <p:spPr>
          <a:xfrm>
            <a:off x="4011625" y="1240400"/>
            <a:ext cx="4345500" cy="127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Retail Analysis</a:t>
            </a:r>
            <a:endParaRPr dirty="0"/>
          </a:p>
        </p:txBody>
      </p:sp>
      <p:sp>
        <p:nvSpPr>
          <p:cNvPr id="199" name="Google Shape;199;p35"/>
          <p:cNvSpPr txBox="1">
            <a:spLocks noGrp="1"/>
          </p:cNvSpPr>
          <p:nvPr>
            <p:ph type="subTitle" idx="1"/>
          </p:nvPr>
        </p:nvSpPr>
        <p:spPr>
          <a:xfrm>
            <a:off x="4011587" y="3345025"/>
            <a:ext cx="43455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yanmar Text" panose="020B0502040204020203" pitchFamily="34" charset="0"/>
                <a:cs typeface="Myanmar Text" panose="020B0502040204020203" pitchFamily="34" charset="0"/>
              </a:rPr>
              <a:t>Numbers tell the story; analytics reveals the strategy</a:t>
            </a:r>
            <a:endParaRPr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yanmar Text" panose="020B0502040204020203" pitchFamily="34" charset="0"/>
              <a:cs typeface="Myanmar Text" panose="020B0502040204020203" pitchFamily="34" charset="0"/>
            </a:endParaRPr>
          </a:p>
        </p:txBody>
      </p:sp>
      <p:grpSp>
        <p:nvGrpSpPr>
          <p:cNvPr id="200" name="Google Shape;200;p35"/>
          <p:cNvGrpSpPr/>
          <p:nvPr/>
        </p:nvGrpSpPr>
        <p:grpSpPr>
          <a:xfrm>
            <a:off x="4020763" y="2841338"/>
            <a:ext cx="4299225" cy="181938"/>
            <a:chOff x="4004025" y="2914825"/>
            <a:chExt cx="4299225" cy="181938"/>
          </a:xfrm>
        </p:grpSpPr>
        <p:sp>
          <p:nvSpPr>
            <p:cNvPr id="201" name="Google Shape;201;p35"/>
            <p:cNvSpPr/>
            <p:nvPr/>
          </p:nvSpPr>
          <p:spPr>
            <a:xfrm>
              <a:off x="4004025" y="3011825"/>
              <a:ext cx="27900" cy="27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2" name="Google Shape;202;p35"/>
            <p:cNvSpPr/>
            <p:nvPr/>
          </p:nvSpPr>
          <p:spPr>
            <a:xfrm>
              <a:off x="5044725" y="3011825"/>
              <a:ext cx="27900" cy="27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203" name="Google Shape;203;p35"/>
            <p:cNvCxnSpPr>
              <a:stCxn id="204" idx="2"/>
              <a:endCxn id="205" idx="2"/>
            </p:cNvCxnSpPr>
            <p:nvPr/>
          </p:nvCxnSpPr>
          <p:spPr>
            <a:xfrm>
              <a:off x="6233175" y="3082813"/>
              <a:ext cx="502800" cy="0"/>
            </a:xfrm>
            <a:prstGeom prst="straightConnector1">
              <a:avLst/>
            </a:pr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06" name="Google Shape;206;p35"/>
            <p:cNvGrpSpPr/>
            <p:nvPr/>
          </p:nvGrpSpPr>
          <p:grpSpPr>
            <a:xfrm>
              <a:off x="4031925" y="2914825"/>
              <a:ext cx="4271325" cy="181938"/>
              <a:chOff x="4031925" y="2914825"/>
              <a:chExt cx="4271325" cy="181938"/>
            </a:xfrm>
          </p:grpSpPr>
          <p:sp>
            <p:nvSpPr>
              <p:cNvPr id="207" name="Google Shape;207;p35"/>
              <p:cNvSpPr/>
              <p:nvPr/>
            </p:nvSpPr>
            <p:spPr>
              <a:xfrm>
                <a:off x="4480275" y="2914825"/>
                <a:ext cx="27900" cy="27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08" name="Google Shape;208;p35"/>
              <p:cNvSpPr/>
              <p:nvPr/>
            </p:nvSpPr>
            <p:spPr>
              <a:xfrm>
                <a:off x="5684150" y="2914825"/>
                <a:ext cx="27900" cy="27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04" name="Google Shape;204;p35"/>
              <p:cNvSpPr/>
              <p:nvPr/>
            </p:nvSpPr>
            <p:spPr>
              <a:xfrm>
                <a:off x="6233175" y="3068863"/>
                <a:ext cx="27900" cy="27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05" name="Google Shape;205;p35"/>
              <p:cNvSpPr/>
              <p:nvPr/>
            </p:nvSpPr>
            <p:spPr>
              <a:xfrm>
                <a:off x="6735900" y="3068850"/>
                <a:ext cx="27900" cy="27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09" name="Google Shape;209;p35"/>
              <p:cNvSpPr/>
              <p:nvPr/>
            </p:nvSpPr>
            <p:spPr>
              <a:xfrm>
                <a:off x="7249350" y="2914825"/>
                <a:ext cx="27900" cy="27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10" name="Google Shape;210;p35"/>
              <p:cNvSpPr/>
              <p:nvPr/>
            </p:nvSpPr>
            <p:spPr>
              <a:xfrm>
                <a:off x="7791750" y="2992663"/>
                <a:ext cx="27900" cy="27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cxnSp>
            <p:nvCxnSpPr>
              <p:cNvPr id="211" name="Google Shape;211;p35"/>
              <p:cNvCxnSpPr>
                <a:stCxn id="201" idx="6"/>
                <a:endCxn id="207" idx="2"/>
              </p:cNvCxnSpPr>
              <p:nvPr/>
            </p:nvCxnSpPr>
            <p:spPr>
              <a:xfrm rot="10800000" flipH="1">
                <a:off x="4031925" y="2928875"/>
                <a:ext cx="448500" cy="969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2" name="Google Shape;212;p35"/>
              <p:cNvCxnSpPr>
                <a:stCxn id="207" idx="6"/>
                <a:endCxn id="202" idx="2"/>
              </p:cNvCxnSpPr>
              <p:nvPr/>
            </p:nvCxnSpPr>
            <p:spPr>
              <a:xfrm>
                <a:off x="4508175" y="2928775"/>
                <a:ext cx="536700" cy="969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35"/>
              <p:cNvCxnSpPr>
                <a:stCxn id="202" idx="6"/>
                <a:endCxn id="208" idx="2"/>
              </p:cNvCxnSpPr>
              <p:nvPr/>
            </p:nvCxnSpPr>
            <p:spPr>
              <a:xfrm rot="10800000" flipH="1">
                <a:off x="5072625" y="2928875"/>
                <a:ext cx="611400" cy="969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4" name="Google Shape;214;p35"/>
              <p:cNvCxnSpPr>
                <a:stCxn id="208" idx="6"/>
                <a:endCxn id="204" idx="2"/>
              </p:cNvCxnSpPr>
              <p:nvPr/>
            </p:nvCxnSpPr>
            <p:spPr>
              <a:xfrm>
                <a:off x="5712050" y="2928775"/>
                <a:ext cx="521100" cy="1539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5" name="Google Shape;215;p35"/>
              <p:cNvCxnSpPr>
                <a:stCxn id="205" idx="6"/>
                <a:endCxn id="209" idx="2"/>
              </p:cNvCxnSpPr>
              <p:nvPr/>
            </p:nvCxnSpPr>
            <p:spPr>
              <a:xfrm rot="10800000" flipH="1">
                <a:off x="6763800" y="2928900"/>
                <a:ext cx="485700" cy="1539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6" name="Google Shape;216;p35"/>
              <p:cNvCxnSpPr>
                <a:stCxn id="209" idx="6"/>
                <a:endCxn id="210" idx="2"/>
              </p:cNvCxnSpPr>
              <p:nvPr/>
            </p:nvCxnSpPr>
            <p:spPr>
              <a:xfrm>
                <a:off x="7277250" y="2928775"/>
                <a:ext cx="514500" cy="777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35"/>
              <p:cNvCxnSpPr>
                <a:stCxn id="210" idx="6"/>
                <a:endCxn id="218" idx="2"/>
              </p:cNvCxnSpPr>
              <p:nvPr/>
            </p:nvCxnSpPr>
            <p:spPr>
              <a:xfrm rot="10800000" flipH="1">
                <a:off x="7819650" y="2928913"/>
                <a:ext cx="483600" cy="777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9"/>
          <p:cNvSpPr/>
          <p:nvPr/>
        </p:nvSpPr>
        <p:spPr>
          <a:xfrm>
            <a:off x="354300" y="323250"/>
            <a:ext cx="5701800" cy="4497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271463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274" name="Google Shape;274;p39"/>
          <p:cNvSpPr txBox="1">
            <a:spLocks noGrp="1"/>
          </p:cNvSpPr>
          <p:nvPr>
            <p:ph type="title"/>
          </p:nvPr>
        </p:nvSpPr>
        <p:spPr>
          <a:xfrm>
            <a:off x="964950" y="2657138"/>
            <a:ext cx="44805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Business Problem</a:t>
            </a:r>
            <a:endParaRPr dirty="0"/>
          </a:p>
        </p:txBody>
      </p:sp>
      <p:sp>
        <p:nvSpPr>
          <p:cNvPr id="275" name="Google Shape;275;p39"/>
          <p:cNvSpPr txBox="1">
            <a:spLocks noGrp="1"/>
          </p:cNvSpPr>
          <p:nvPr>
            <p:ph type="title" idx="2"/>
          </p:nvPr>
        </p:nvSpPr>
        <p:spPr>
          <a:xfrm>
            <a:off x="964950" y="1282838"/>
            <a:ext cx="4480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277" name="Google Shape;277;p39"/>
          <p:cNvGrpSpPr/>
          <p:nvPr/>
        </p:nvGrpSpPr>
        <p:grpSpPr>
          <a:xfrm>
            <a:off x="1055588" y="2383575"/>
            <a:ext cx="4299225" cy="180300"/>
            <a:chOff x="4004025" y="2991025"/>
            <a:chExt cx="4299225" cy="180300"/>
          </a:xfrm>
        </p:grpSpPr>
        <p:sp>
          <p:nvSpPr>
            <p:cNvPr id="278" name="Google Shape;278;p39"/>
            <p:cNvSpPr/>
            <p:nvPr/>
          </p:nvSpPr>
          <p:spPr>
            <a:xfrm>
              <a:off x="4004025" y="3011825"/>
              <a:ext cx="27900" cy="27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9" name="Google Shape;279;p39"/>
            <p:cNvSpPr/>
            <p:nvPr/>
          </p:nvSpPr>
          <p:spPr>
            <a:xfrm>
              <a:off x="5044725" y="3011825"/>
              <a:ext cx="27900" cy="27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280" name="Google Shape;280;p39"/>
            <p:cNvCxnSpPr>
              <a:stCxn id="281" idx="2"/>
              <a:endCxn id="282" idx="2"/>
            </p:cNvCxnSpPr>
            <p:nvPr/>
          </p:nvCxnSpPr>
          <p:spPr>
            <a:xfrm>
              <a:off x="6233175" y="3006613"/>
              <a:ext cx="502800" cy="76200"/>
            </a:xfrm>
            <a:prstGeom prst="straightConnector1">
              <a:avLst/>
            </a:pr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83" name="Google Shape;283;p39"/>
            <p:cNvGrpSpPr/>
            <p:nvPr/>
          </p:nvGrpSpPr>
          <p:grpSpPr>
            <a:xfrm>
              <a:off x="4031925" y="2991025"/>
              <a:ext cx="4271325" cy="180300"/>
              <a:chOff x="4031925" y="2991025"/>
              <a:chExt cx="4271325" cy="180300"/>
            </a:xfrm>
          </p:grpSpPr>
          <p:sp>
            <p:nvSpPr>
              <p:cNvPr id="284" name="Google Shape;284;p39"/>
              <p:cNvSpPr/>
              <p:nvPr/>
            </p:nvSpPr>
            <p:spPr>
              <a:xfrm>
                <a:off x="4480275" y="3067225"/>
                <a:ext cx="27900" cy="27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5" name="Google Shape;285;p39"/>
              <p:cNvSpPr/>
              <p:nvPr/>
            </p:nvSpPr>
            <p:spPr>
              <a:xfrm>
                <a:off x="5684150" y="3143425"/>
                <a:ext cx="27900" cy="27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1" name="Google Shape;281;p39"/>
              <p:cNvSpPr/>
              <p:nvPr/>
            </p:nvSpPr>
            <p:spPr>
              <a:xfrm>
                <a:off x="6233175" y="2992663"/>
                <a:ext cx="27900" cy="27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2" name="Google Shape;282;p39"/>
              <p:cNvSpPr/>
              <p:nvPr/>
            </p:nvSpPr>
            <p:spPr>
              <a:xfrm>
                <a:off x="6735900" y="3068850"/>
                <a:ext cx="27900" cy="27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6" name="Google Shape;286;p39"/>
              <p:cNvSpPr/>
              <p:nvPr/>
            </p:nvSpPr>
            <p:spPr>
              <a:xfrm>
                <a:off x="7249350" y="2991025"/>
                <a:ext cx="27900" cy="27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7" name="Google Shape;287;p39"/>
              <p:cNvSpPr/>
              <p:nvPr/>
            </p:nvSpPr>
            <p:spPr>
              <a:xfrm>
                <a:off x="7791750" y="3062113"/>
                <a:ext cx="27900" cy="27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cxnSp>
            <p:nvCxnSpPr>
              <p:cNvPr id="288" name="Google Shape;288;p39"/>
              <p:cNvCxnSpPr>
                <a:stCxn id="278" idx="6"/>
                <a:endCxn id="284" idx="2"/>
              </p:cNvCxnSpPr>
              <p:nvPr/>
            </p:nvCxnSpPr>
            <p:spPr>
              <a:xfrm>
                <a:off x="4031925" y="3025775"/>
                <a:ext cx="448500" cy="555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9" name="Google Shape;289;p39"/>
              <p:cNvCxnSpPr>
                <a:stCxn id="284" idx="6"/>
                <a:endCxn id="279" idx="2"/>
              </p:cNvCxnSpPr>
              <p:nvPr/>
            </p:nvCxnSpPr>
            <p:spPr>
              <a:xfrm rot="10800000" flipH="1">
                <a:off x="4508175" y="3025675"/>
                <a:ext cx="536700" cy="555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0" name="Google Shape;290;p39"/>
              <p:cNvCxnSpPr>
                <a:stCxn id="279" idx="6"/>
                <a:endCxn id="285" idx="2"/>
              </p:cNvCxnSpPr>
              <p:nvPr/>
            </p:nvCxnSpPr>
            <p:spPr>
              <a:xfrm>
                <a:off x="5072625" y="3025775"/>
                <a:ext cx="611400" cy="1317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1" name="Google Shape;291;p39"/>
              <p:cNvCxnSpPr>
                <a:stCxn id="285" idx="6"/>
                <a:endCxn id="281" idx="2"/>
              </p:cNvCxnSpPr>
              <p:nvPr/>
            </p:nvCxnSpPr>
            <p:spPr>
              <a:xfrm rot="10800000" flipH="1">
                <a:off x="5712050" y="3006475"/>
                <a:ext cx="521100" cy="1509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2" name="Google Shape;292;p39"/>
              <p:cNvCxnSpPr>
                <a:stCxn id="282" idx="6"/>
                <a:endCxn id="286" idx="2"/>
              </p:cNvCxnSpPr>
              <p:nvPr/>
            </p:nvCxnSpPr>
            <p:spPr>
              <a:xfrm rot="10800000" flipH="1">
                <a:off x="6763800" y="3005100"/>
                <a:ext cx="485700" cy="777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3" name="Google Shape;293;p39"/>
              <p:cNvCxnSpPr>
                <a:stCxn id="286" idx="6"/>
                <a:endCxn id="287" idx="2"/>
              </p:cNvCxnSpPr>
              <p:nvPr/>
            </p:nvCxnSpPr>
            <p:spPr>
              <a:xfrm>
                <a:off x="7277250" y="3004975"/>
                <a:ext cx="514500" cy="711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4" name="Google Shape;294;p39"/>
              <p:cNvCxnSpPr>
                <a:stCxn id="287" idx="6"/>
                <a:endCxn id="295" idx="2"/>
              </p:cNvCxnSpPr>
              <p:nvPr/>
            </p:nvCxnSpPr>
            <p:spPr>
              <a:xfrm>
                <a:off x="7819650" y="3076063"/>
                <a:ext cx="483600" cy="51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3213600" cy="10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Too much data!</a:t>
            </a:r>
            <a:endParaRPr dirty="0"/>
          </a:p>
        </p:txBody>
      </p:sp>
      <p:sp>
        <p:nvSpPr>
          <p:cNvPr id="309" name="Google Shape;309;p41"/>
          <p:cNvSpPr txBox="1">
            <a:spLocks noGrp="1"/>
          </p:cNvSpPr>
          <p:nvPr>
            <p:ph type="body" idx="1"/>
          </p:nvPr>
        </p:nvSpPr>
        <p:spPr>
          <a:xfrm>
            <a:off x="720000" y="1553800"/>
            <a:ext cx="32136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Large amounts of transactional data generated daily</a:t>
            </a:r>
            <a:r>
              <a:rPr lang="en-US" dirty="0">
                <a:solidFill>
                  <a:schemeClr val="dk1"/>
                </a:solidFill>
              </a:rPr>
              <a:t>: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┌"/>
            </a:pPr>
            <a:r>
              <a:rPr lang="en-US" dirty="0">
                <a:solidFill>
                  <a:schemeClr val="dk1"/>
                </a:solidFill>
              </a:rPr>
              <a:t>Multiple tables and instances</a:t>
            </a: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┌"/>
            </a:pPr>
            <a:r>
              <a:rPr lang="en-US" dirty="0">
                <a:solidFill>
                  <a:schemeClr val="dk1"/>
                </a:solidFill>
              </a:rPr>
              <a:t>Data spanning across time</a:t>
            </a: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┌"/>
            </a:pPr>
            <a:r>
              <a:rPr lang="en-US" dirty="0"/>
              <a:t>Distraction</a:t>
            </a: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┌"/>
            </a:pPr>
            <a:r>
              <a:rPr lang="en-US" dirty="0">
                <a:solidFill>
                  <a:schemeClr val="dk1"/>
                </a:solidFill>
              </a:rPr>
              <a:t>No real added value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310" name="Google Shape;310;p41"/>
          <p:cNvPicPr preferRelativeResize="0">
            <a:picLocks noGrp="1"/>
          </p:cNvPicPr>
          <p:nvPr>
            <p:ph type="pic" idx="2"/>
          </p:nvPr>
        </p:nvPicPr>
        <p:blipFill>
          <a:blip r:embed="rId3"/>
          <a:srcRect l="15994" r="15994"/>
          <a:stretch/>
        </p:blipFill>
        <p:spPr>
          <a:xfrm>
            <a:off x="4565900" y="678450"/>
            <a:ext cx="3862999" cy="37865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6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Goal</a:t>
            </a:r>
            <a:endParaRPr dirty="0"/>
          </a:p>
        </p:txBody>
      </p:sp>
      <p:sp>
        <p:nvSpPr>
          <p:cNvPr id="938" name="Google Shape;938;p64"/>
          <p:cNvSpPr/>
          <p:nvPr/>
        </p:nvSpPr>
        <p:spPr>
          <a:xfrm>
            <a:off x="720000" y="1422529"/>
            <a:ext cx="3185700" cy="3185700"/>
          </a:xfrm>
          <a:prstGeom prst="donut">
            <a:avLst>
              <a:gd name="adj" fmla="val 132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939" name="Google Shape;939;p64"/>
          <p:cNvSpPr/>
          <p:nvPr/>
        </p:nvSpPr>
        <p:spPr>
          <a:xfrm>
            <a:off x="1318841" y="2021371"/>
            <a:ext cx="1988400" cy="1988400"/>
          </a:xfrm>
          <a:prstGeom prst="donut">
            <a:avLst>
              <a:gd name="adj" fmla="val 1736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940" name="Google Shape;940;p64"/>
          <p:cNvSpPr/>
          <p:nvPr/>
        </p:nvSpPr>
        <p:spPr>
          <a:xfrm>
            <a:off x="1849025" y="2551555"/>
            <a:ext cx="928500" cy="928500"/>
          </a:xfrm>
          <a:prstGeom prst="donut">
            <a:avLst>
              <a:gd name="adj" fmla="val 31218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941" name="Google Shape;941;p64"/>
          <p:cNvSpPr/>
          <p:nvPr/>
        </p:nvSpPr>
        <p:spPr>
          <a:xfrm>
            <a:off x="1318930" y="2021371"/>
            <a:ext cx="1988400" cy="1988400"/>
          </a:xfrm>
          <a:prstGeom prst="donut">
            <a:avLst>
              <a:gd name="adj" fmla="val 1736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942" name="Google Shape;942;p64"/>
          <p:cNvSpPr txBox="1"/>
          <p:nvPr/>
        </p:nvSpPr>
        <p:spPr>
          <a:xfrm>
            <a:off x="5276100" y="1422525"/>
            <a:ext cx="3147900" cy="8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A dashboard that transforms raw data into actionable business insights</a:t>
            </a:r>
          </a:p>
        </p:txBody>
      </p:sp>
      <p:sp>
        <p:nvSpPr>
          <p:cNvPr id="943" name="Google Shape;943;p64"/>
          <p:cNvSpPr txBox="1"/>
          <p:nvPr/>
        </p:nvSpPr>
        <p:spPr>
          <a:xfrm>
            <a:off x="5276100" y="2595510"/>
            <a:ext cx="3147900" cy="8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Supports strategic and operational decision-making</a:t>
            </a:r>
            <a:endParaRPr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944" name="Google Shape;944;p64"/>
          <p:cNvSpPr txBox="1"/>
          <p:nvPr/>
        </p:nvSpPr>
        <p:spPr>
          <a:xfrm>
            <a:off x="5276100" y="3768496"/>
            <a:ext cx="3147900" cy="8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Plan for the future</a:t>
            </a:r>
            <a:endParaRPr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945" name="Google Shape;945;p64"/>
          <p:cNvCxnSpPr>
            <a:stCxn id="942" idx="1"/>
            <a:endCxn id="938" idx="0"/>
          </p:cNvCxnSpPr>
          <p:nvPr/>
        </p:nvCxnSpPr>
        <p:spPr>
          <a:xfrm rot="10800000">
            <a:off x="2313000" y="1422525"/>
            <a:ext cx="2963100" cy="420000"/>
          </a:xfrm>
          <a:prstGeom prst="bentConnector4">
            <a:avLst>
              <a:gd name="adj1" fmla="val 23124"/>
              <a:gd name="adj2" fmla="val 13922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stealth" w="med" len="med"/>
            <a:tailEnd type="none" w="med" len="med"/>
          </a:ln>
        </p:spPr>
      </p:cxnSp>
      <p:cxnSp>
        <p:nvCxnSpPr>
          <p:cNvPr id="946" name="Google Shape;946;p64"/>
          <p:cNvCxnSpPr>
            <a:stCxn id="943" idx="1"/>
            <a:endCxn id="941" idx="0"/>
          </p:cNvCxnSpPr>
          <p:nvPr/>
        </p:nvCxnSpPr>
        <p:spPr>
          <a:xfrm rot="10800000">
            <a:off x="2313000" y="2021310"/>
            <a:ext cx="2963100" cy="994200"/>
          </a:xfrm>
          <a:prstGeom prst="bentConnector4">
            <a:avLst>
              <a:gd name="adj1" fmla="val 33221"/>
              <a:gd name="adj2" fmla="val 123945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stealth" w="med" len="med"/>
            <a:tailEnd type="none" w="med" len="med"/>
          </a:ln>
        </p:spPr>
      </p:cxnSp>
      <p:cxnSp>
        <p:nvCxnSpPr>
          <p:cNvPr id="947" name="Google Shape;947;p64"/>
          <p:cNvCxnSpPr>
            <a:stCxn id="944" idx="1"/>
            <a:endCxn id="940" idx="0"/>
          </p:cNvCxnSpPr>
          <p:nvPr/>
        </p:nvCxnSpPr>
        <p:spPr>
          <a:xfrm rot="10800000">
            <a:off x="2313300" y="2551696"/>
            <a:ext cx="2962800" cy="1636800"/>
          </a:xfrm>
          <a:prstGeom prst="bentConnector4">
            <a:avLst>
              <a:gd name="adj1" fmla="val 42166"/>
              <a:gd name="adj2" fmla="val 11455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stealth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708435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" grpId="0"/>
      <p:bldP spid="943" grpId="0"/>
      <p:bldP spid="94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3213600" cy="10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Dataset Overview</a:t>
            </a:r>
            <a:endParaRPr dirty="0"/>
          </a:p>
        </p:txBody>
      </p:sp>
      <p:sp>
        <p:nvSpPr>
          <p:cNvPr id="309" name="Google Shape;309;p41"/>
          <p:cNvSpPr txBox="1">
            <a:spLocks noGrp="1"/>
          </p:cNvSpPr>
          <p:nvPr>
            <p:ph type="body" idx="1"/>
          </p:nvPr>
        </p:nvSpPr>
        <p:spPr>
          <a:xfrm>
            <a:off x="720000" y="1553800"/>
            <a:ext cx="32136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1000"/>
              </a:spcBef>
            </a:pPr>
            <a:r>
              <a:rPr lang="en-US" sz="1800" dirty="0">
                <a:solidFill>
                  <a:schemeClr val="dk1"/>
                </a:solidFill>
              </a:rPr>
              <a:t>Sales 2017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┌"/>
            </a:pPr>
            <a:r>
              <a:rPr lang="en-US" sz="1800" dirty="0">
                <a:solidFill>
                  <a:schemeClr val="dk1"/>
                </a:solidFill>
              </a:rPr>
              <a:t>Sales 2018</a:t>
            </a: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┌"/>
            </a:pPr>
            <a:r>
              <a:rPr lang="en-US" sz="1800" dirty="0"/>
              <a:t>Customers</a:t>
            </a: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┌"/>
            </a:pPr>
            <a:r>
              <a:rPr lang="en-US" sz="1800" dirty="0"/>
              <a:t>Products</a:t>
            </a:r>
          </a:p>
        </p:txBody>
      </p:sp>
      <p:sp>
        <p:nvSpPr>
          <p:cNvPr id="4" name="Google Shape;309;p41">
            <a:extLst>
              <a:ext uri="{FF2B5EF4-FFF2-40B4-BE49-F238E27FC236}">
                <a16:creationId xmlns:a16="http://schemas.microsoft.com/office/drawing/2014/main" id="{2CEA0881-6169-94D3-BFEE-F24568DC5C3D}"/>
              </a:ext>
            </a:extLst>
          </p:cNvPr>
          <p:cNvSpPr txBox="1">
            <a:spLocks/>
          </p:cNvSpPr>
          <p:nvPr/>
        </p:nvSpPr>
        <p:spPr>
          <a:xfrm>
            <a:off x="4572000" y="1553800"/>
            <a:ext cx="3213600" cy="29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┌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>
              <a:spcBef>
                <a:spcPts val="1000"/>
              </a:spcBef>
            </a:pPr>
            <a:r>
              <a:rPr lang="en-US" sz="1800" dirty="0"/>
              <a:t>Region</a:t>
            </a:r>
          </a:p>
          <a:p>
            <a:pPr>
              <a:spcBef>
                <a:spcPts val="1000"/>
              </a:spcBef>
            </a:pPr>
            <a:r>
              <a:rPr lang="en-US" sz="1800" dirty="0"/>
              <a:t>Returns</a:t>
            </a:r>
          </a:p>
          <a:p>
            <a:pPr>
              <a:spcBef>
                <a:spcPts val="1000"/>
              </a:spcBef>
            </a:pPr>
            <a:r>
              <a:rPr lang="en-US" sz="1800" dirty="0"/>
              <a:t>Stores</a:t>
            </a:r>
          </a:p>
          <a:p>
            <a:pPr>
              <a:spcBef>
                <a:spcPts val="1000"/>
              </a:spcBef>
            </a:pPr>
            <a:r>
              <a:rPr lang="en-US" sz="1800" dirty="0"/>
              <a:t>Calendar</a:t>
            </a:r>
          </a:p>
        </p:txBody>
      </p:sp>
    </p:spTree>
    <p:extLst>
      <p:ext uri="{BB962C8B-B14F-4D97-AF65-F5344CB8AC3E}">
        <p14:creationId xmlns:p14="http://schemas.microsoft.com/office/powerpoint/2010/main" val="1083041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9"/>
          <p:cNvSpPr/>
          <p:nvPr/>
        </p:nvSpPr>
        <p:spPr>
          <a:xfrm>
            <a:off x="354300" y="323250"/>
            <a:ext cx="5701800" cy="4497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271463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274" name="Google Shape;274;p39"/>
          <p:cNvSpPr txBox="1">
            <a:spLocks noGrp="1"/>
          </p:cNvSpPr>
          <p:nvPr>
            <p:ph type="title"/>
          </p:nvPr>
        </p:nvSpPr>
        <p:spPr>
          <a:xfrm>
            <a:off x="964950" y="2657138"/>
            <a:ext cx="44805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SQL</a:t>
            </a:r>
            <a:endParaRPr dirty="0"/>
          </a:p>
        </p:txBody>
      </p:sp>
      <p:sp>
        <p:nvSpPr>
          <p:cNvPr id="275" name="Google Shape;275;p39"/>
          <p:cNvSpPr txBox="1">
            <a:spLocks noGrp="1"/>
          </p:cNvSpPr>
          <p:nvPr>
            <p:ph type="title" idx="2"/>
          </p:nvPr>
        </p:nvSpPr>
        <p:spPr>
          <a:xfrm>
            <a:off x="964950" y="1282838"/>
            <a:ext cx="4480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277" name="Google Shape;277;p39"/>
          <p:cNvGrpSpPr/>
          <p:nvPr/>
        </p:nvGrpSpPr>
        <p:grpSpPr>
          <a:xfrm>
            <a:off x="1055588" y="2383575"/>
            <a:ext cx="4299225" cy="180300"/>
            <a:chOff x="4004025" y="2991025"/>
            <a:chExt cx="4299225" cy="180300"/>
          </a:xfrm>
        </p:grpSpPr>
        <p:sp>
          <p:nvSpPr>
            <p:cNvPr id="278" name="Google Shape;278;p39"/>
            <p:cNvSpPr/>
            <p:nvPr/>
          </p:nvSpPr>
          <p:spPr>
            <a:xfrm>
              <a:off x="4004025" y="3011825"/>
              <a:ext cx="27900" cy="27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9" name="Google Shape;279;p39"/>
            <p:cNvSpPr/>
            <p:nvPr/>
          </p:nvSpPr>
          <p:spPr>
            <a:xfrm>
              <a:off x="5044725" y="3011825"/>
              <a:ext cx="27900" cy="27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280" name="Google Shape;280;p39"/>
            <p:cNvCxnSpPr>
              <a:stCxn id="281" idx="2"/>
              <a:endCxn id="282" idx="2"/>
            </p:cNvCxnSpPr>
            <p:nvPr/>
          </p:nvCxnSpPr>
          <p:spPr>
            <a:xfrm>
              <a:off x="6233175" y="3006613"/>
              <a:ext cx="502800" cy="76200"/>
            </a:xfrm>
            <a:prstGeom prst="straightConnector1">
              <a:avLst/>
            </a:pr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83" name="Google Shape;283;p39"/>
            <p:cNvGrpSpPr/>
            <p:nvPr/>
          </p:nvGrpSpPr>
          <p:grpSpPr>
            <a:xfrm>
              <a:off x="4031925" y="2991025"/>
              <a:ext cx="4271325" cy="180300"/>
              <a:chOff x="4031925" y="2991025"/>
              <a:chExt cx="4271325" cy="180300"/>
            </a:xfrm>
          </p:grpSpPr>
          <p:sp>
            <p:nvSpPr>
              <p:cNvPr id="284" name="Google Shape;284;p39"/>
              <p:cNvSpPr/>
              <p:nvPr/>
            </p:nvSpPr>
            <p:spPr>
              <a:xfrm>
                <a:off x="4480275" y="3067225"/>
                <a:ext cx="27900" cy="27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5" name="Google Shape;285;p39"/>
              <p:cNvSpPr/>
              <p:nvPr/>
            </p:nvSpPr>
            <p:spPr>
              <a:xfrm>
                <a:off x="5684150" y="3143425"/>
                <a:ext cx="27900" cy="27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1" name="Google Shape;281;p39"/>
              <p:cNvSpPr/>
              <p:nvPr/>
            </p:nvSpPr>
            <p:spPr>
              <a:xfrm>
                <a:off x="6233175" y="2992663"/>
                <a:ext cx="27900" cy="27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2" name="Google Shape;282;p39"/>
              <p:cNvSpPr/>
              <p:nvPr/>
            </p:nvSpPr>
            <p:spPr>
              <a:xfrm>
                <a:off x="6735900" y="3068850"/>
                <a:ext cx="27900" cy="27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6" name="Google Shape;286;p39"/>
              <p:cNvSpPr/>
              <p:nvPr/>
            </p:nvSpPr>
            <p:spPr>
              <a:xfrm>
                <a:off x="7249350" y="2991025"/>
                <a:ext cx="27900" cy="27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7" name="Google Shape;287;p39"/>
              <p:cNvSpPr/>
              <p:nvPr/>
            </p:nvSpPr>
            <p:spPr>
              <a:xfrm>
                <a:off x="7791750" y="3062113"/>
                <a:ext cx="27900" cy="27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cxnSp>
            <p:nvCxnSpPr>
              <p:cNvPr id="288" name="Google Shape;288;p39"/>
              <p:cNvCxnSpPr>
                <a:stCxn id="278" idx="6"/>
                <a:endCxn id="284" idx="2"/>
              </p:cNvCxnSpPr>
              <p:nvPr/>
            </p:nvCxnSpPr>
            <p:spPr>
              <a:xfrm>
                <a:off x="4031925" y="3025775"/>
                <a:ext cx="448500" cy="555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9" name="Google Shape;289;p39"/>
              <p:cNvCxnSpPr>
                <a:stCxn id="284" idx="6"/>
                <a:endCxn id="279" idx="2"/>
              </p:cNvCxnSpPr>
              <p:nvPr/>
            </p:nvCxnSpPr>
            <p:spPr>
              <a:xfrm rot="10800000" flipH="1">
                <a:off x="4508175" y="3025675"/>
                <a:ext cx="536700" cy="555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0" name="Google Shape;290;p39"/>
              <p:cNvCxnSpPr>
                <a:stCxn id="279" idx="6"/>
                <a:endCxn id="285" idx="2"/>
              </p:cNvCxnSpPr>
              <p:nvPr/>
            </p:nvCxnSpPr>
            <p:spPr>
              <a:xfrm>
                <a:off x="5072625" y="3025775"/>
                <a:ext cx="611400" cy="1317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1" name="Google Shape;291;p39"/>
              <p:cNvCxnSpPr>
                <a:stCxn id="285" idx="6"/>
                <a:endCxn id="281" idx="2"/>
              </p:cNvCxnSpPr>
              <p:nvPr/>
            </p:nvCxnSpPr>
            <p:spPr>
              <a:xfrm rot="10800000" flipH="1">
                <a:off x="5712050" y="3006475"/>
                <a:ext cx="521100" cy="1509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2" name="Google Shape;292;p39"/>
              <p:cNvCxnSpPr>
                <a:stCxn id="282" idx="6"/>
                <a:endCxn id="286" idx="2"/>
              </p:cNvCxnSpPr>
              <p:nvPr/>
            </p:nvCxnSpPr>
            <p:spPr>
              <a:xfrm rot="10800000" flipH="1">
                <a:off x="6763800" y="3005100"/>
                <a:ext cx="485700" cy="777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3" name="Google Shape;293;p39"/>
              <p:cNvCxnSpPr>
                <a:stCxn id="286" idx="6"/>
                <a:endCxn id="287" idx="2"/>
              </p:cNvCxnSpPr>
              <p:nvPr/>
            </p:nvCxnSpPr>
            <p:spPr>
              <a:xfrm>
                <a:off x="7277250" y="3004975"/>
                <a:ext cx="514500" cy="711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4" name="Google Shape;294;p39"/>
              <p:cNvCxnSpPr>
                <a:stCxn id="287" idx="6"/>
                <a:endCxn id="295" idx="2"/>
              </p:cNvCxnSpPr>
              <p:nvPr/>
            </p:nvCxnSpPr>
            <p:spPr>
              <a:xfrm>
                <a:off x="7819650" y="3076063"/>
                <a:ext cx="483600" cy="51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1231729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Engineering</a:t>
            </a:r>
            <a:endParaRPr dirty="0"/>
          </a:p>
        </p:txBody>
      </p:sp>
      <p:sp>
        <p:nvSpPr>
          <p:cNvPr id="316" name="Google Shape;316;p42"/>
          <p:cNvSpPr txBox="1">
            <a:spLocks noGrp="1"/>
          </p:cNvSpPr>
          <p:nvPr>
            <p:ph type="subTitle" idx="1"/>
          </p:nvPr>
        </p:nvSpPr>
        <p:spPr>
          <a:xfrm>
            <a:off x="3373801" y="1807727"/>
            <a:ext cx="4097100" cy="7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Establishing core Dimensions &amp; Fact tables</a:t>
            </a:r>
            <a:endParaRPr dirty="0"/>
          </a:p>
        </p:txBody>
      </p:sp>
      <p:sp>
        <p:nvSpPr>
          <p:cNvPr id="317" name="Google Shape;317;p42"/>
          <p:cNvSpPr txBox="1">
            <a:spLocks noGrp="1"/>
          </p:cNvSpPr>
          <p:nvPr>
            <p:ph type="subTitle" idx="2"/>
          </p:nvPr>
        </p:nvSpPr>
        <p:spPr>
          <a:xfrm>
            <a:off x="3373801" y="1495450"/>
            <a:ext cx="4097100" cy="3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Schema Architecture</a:t>
            </a:r>
            <a:endParaRPr dirty="0"/>
          </a:p>
        </p:txBody>
      </p:sp>
      <p:sp>
        <p:nvSpPr>
          <p:cNvPr id="318" name="Google Shape;318;p42"/>
          <p:cNvSpPr txBox="1">
            <a:spLocks noGrp="1"/>
          </p:cNvSpPr>
          <p:nvPr>
            <p:ph type="subTitle" idx="3"/>
          </p:nvPr>
        </p:nvSpPr>
        <p:spPr>
          <a:xfrm>
            <a:off x="3373801" y="3811104"/>
            <a:ext cx="4097100" cy="7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Bulk loading historical business data from CSVs</a:t>
            </a:r>
            <a:endParaRPr dirty="0"/>
          </a:p>
        </p:txBody>
      </p:sp>
      <p:sp>
        <p:nvSpPr>
          <p:cNvPr id="319" name="Google Shape;319;p42"/>
          <p:cNvSpPr txBox="1">
            <a:spLocks noGrp="1"/>
          </p:cNvSpPr>
          <p:nvPr>
            <p:ph type="subTitle" idx="4"/>
          </p:nvPr>
        </p:nvSpPr>
        <p:spPr>
          <a:xfrm>
            <a:off x="3373801" y="3498822"/>
            <a:ext cx="4097100" cy="3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Data Ingestion</a:t>
            </a:r>
            <a:endParaRPr dirty="0"/>
          </a:p>
        </p:txBody>
      </p:sp>
      <p:sp>
        <p:nvSpPr>
          <p:cNvPr id="320" name="Google Shape;320;p42"/>
          <p:cNvSpPr txBox="1"/>
          <p:nvPr/>
        </p:nvSpPr>
        <p:spPr>
          <a:xfrm>
            <a:off x="1666538" y="1495438"/>
            <a:ext cx="664200" cy="593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200025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01</a:t>
            </a:r>
            <a:endParaRPr sz="3000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21" name="Google Shape;321;p42"/>
          <p:cNvSpPr txBox="1"/>
          <p:nvPr/>
        </p:nvSpPr>
        <p:spPr>
          <a:xfrm>
            <a:off x="1671438" y="3498825"/>
            <a:ext cx="664200" cy="593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200025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02</a:t>
            </a:r>
            <a:endParaRPr sz="3000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322" name="Google Shape;322;p42"/>
          <p:cNvCxnSpPr>
            <a:stCxn id="321" idx="2"/>
            <a:endCxn id="319" idx="1"/>
          </p:cNvCxnSpPr>
          <p:nvPr/>
        </p:nvCxnSpPr>
        <p:spPr>
          <a:xfrm rot="-5400000">
            <a:off x="2489088" y="3207375"/>
            <a:ext cx="399300" cy="1370400"/>
          </a:xfrm>
          <a:prstGeom prst="bentConnector4">
            <a:avLst>
              <a:gd name="adj1" fmla="val -59636"/>
              <a:gd name="adj2" fmla="val 62112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23" name="Google Shape;323;p42"/>
          <p:cNvCxnSpPr>
            <a:stCxn id="320" idx="2"/>
            <a:endCxn id="317" idx="1"/>
          </p:cNvCxnSpPr>
          <p:nvPr/>
        </p:nvCxnSpPr>
        <p:spPr>
          <a:xfrm rot="-5400000">
            <a:off x="2486738" y="1201738"/>
            <a:ext cx="399000" cy="1375200"/>
          </a:xfrm>
          <a:prstGeom prst="bentConnector4">
            <a:avLst>
              <a:gd name="adj1" fmla="val -59680"/>
              <a:gd name="adj2" fmla="val 6207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Engineering</a:t>
            </a:r>
            <a:endParaRPr dirty="0"/>
          </a:p>
        </p:txBody>
      </p:sp>
      <p:sp>
        <p:nvSpPr>
          <p:cNvPr id="316" name="Google Shape;316;p42"/>
          <p:cNvSpPr txBox="1">
            <a:spLocks noGrp="1"/>
          </p:cNvSpPr>
          <p:nvPr>
            <p:ph type="subTitle" idx="1"/>
          </p:nvPr>
        </p:nvSpPr>
        <p:spPr>
          <a:xfrm>
            <a:off x="3373801" y="1807727"/>
            <a:ext cx="4097100" cy="7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Performing row-count audits for validation</a:t>
            </a:r>
            <a:endParaRPr dirty="0"/>
          </a:p>
        </p:txBody>
      </p:sp>
      <p:sp>
        <p:nvSpPr>
          <p:cNvPr id="317" name="Google Shape;317;p42"/>
          <p:cNvSpPr txBox="1">
            <a:spLocks noGrp="1"/>
          </p:cNvSpPr>
          <p:nvPr>
            <p:ph type="subTitle" idx="2"/>
          </p:nvPr>
        </p:nvSpPr>
        <p:spPr>
          <a:xfrm>
            <a:off x="3373801" y="1495450"/>
            <a:ext cx="4097100" cy="3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Quality Assurance</a:t>
            </a:r>
            <a:endParaRPr dirty="0"/>
          </a:p>
        </p:txBody>
      </p:sp>
      <p:sp>
        <p:nvSpPr>
          <p:cNvPr id="318" name="Google Shape;318;p42"/>
          <p:cNvSpPr txBox="1">
            <a:spLocks noGrp="1"/>
          </p:cNvSpPr>
          <p:nvPr>
            <p:ph type="subTitle" idx="3"/>
          </p:nvPr>
        </p:nvSpPr>
        <p:spPr>
          <a:xfrm>
            <a:off x="3373801" y="3811104"/>
            <a:ext cx="4326410" cy="7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Non-Clustered Indexes on large scale Fact tables</a:t>
            </a:r>
            <a:endParaRPr dirty="0"/>
          </a:p>
        </p:txBody>
      </p:sp>
      <p:sp>
        <p:nvSpPr>
          <p:cNvPr id="319" name="Google Shape;319;p42"/>
          <p:cNvSpPr txBox="1">
            <a:spLocks noGrp="1"/>
          </p:cNvSpPr>
          <p:nvPr>
            <p:ph type="subTitle" idx="4"/>
          </p:nvPr>
        </p:nvSpPr>
        <p:spPr>
          <a:xfrm>
            <a:off x="3373801" y="3498822"/>
            <a:ext cx="4097100" cy="3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Performance Tuning</a:t>
            </a:r>
            <a:endParaRPr dirty="0"/>
          </a:p>
        </p:txBody>
      </p:sp>
      <p:sp>
        <p:nvSpPr>
          <p:cNvPr id="320" name="Google Shape;320;p42"/>
          <p:cNvSpPr txBox="1"/>
          <p:nvPr/>
        </p:nvSpPr>
        <p:spPr>
          <a:xfrm>
            <a:off x="1666538" y="1495438"/>
            <a:ext cx="664200" cy="593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200025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03</a:t>
            </a:r>
            <a:endParaRPr sz="3000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21" name="Google Shape;321;p42"/>
          <p:cNvSpPr txBox="1"/>
          <p:nvPr/>
        </p:nvSpPr>
        <p:spPr>
          <a:xfrm>
            <a:off x="1671438" y="3498825"/>
            <a:ext cx="664200" cy="593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200025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04</a:t>
            </a:r>
            <a:endParaRPr sz="3000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322" name="Google Shape;322;p42"/>
          <p:cNvCxnSpPr>
            <a:stCxn id="321" idx="2"/>
            <a:endCxn id="319" idx="1"/>
          </p:cNvCxnSpPr>
          <p:nvPr/>
        </p:nvCxnSpPr>
        <p:spPr>
          <a:xfrm rot="-5400000">
            <a:off x="2489088" y="3207375"/>
            <a:ext cx="399300" cy="1370400"/>
          </a:xfrm>
          <a:prstGeom prst="bentConnector4">
            <a:avLst>
              <a:gd name="adj1" fmla="val -59636"/>
              <a:gd name="adj2" fmla="val 62112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23" name="Google Shape;323;p42"/>
          <p:cNvCxnSpPr>
            <a:stCxn id="320" idx="2"/>
            <a:endCxn id="317" idx="1"/>
          </p:cNvCxnSpPr>
          <p:nvPr/>
        </p:nvCxnSpPr>
        <p:spPr>
          <a:xfrm rot="-5400000">
            <a:off x="2486738" y="1201738"/>
            <a:ext cx="399000" cy="1375200"/>
          </a:xfrm>
          <a:prstGeom prst="bentConnector4">
            <a:avLst>
              <a:gd name="adj1" fmla="val -59680"/>
              <a:gd name="adj2" fmla="val 6207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</p:spTree>
    <p:extLst>
      <p:ext uri="{BB962C8B-B14F-4D97-AF65-F5344CB8AC3E}">
        <p14:creationId xmlns:p14="http://schemas.microsoft.com/office/powerpoint/2010/main" val="1638561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>
          <a:extLst>
            <a:ext uri="{FF2B5EF4-FFF2-40B4-BE49-F238E27FC236}">
              <a16:creationId xmlns:a16="http://schemas.microsoft.com/office/drawing/2014/main" id="{719D7C65-EBC1-D522-7989-49F2F2C2D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2">
            <a:extLst>
              <a:ext uri="{FF2B5EF4-FFF2-40B4-BE49-F238E27FC236}">
                <a16:creationId xmlns:a16="http://schemas.microsoft.com/office/drawing/2014/main" id="{05279069-A323-D1ED-7D8F-BC56E842B5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Engineering</a:t>
            </a:r>
            <a:endParaRPr dirty="0"/>
          </a:p>
        </p:txBody>
      </p:sp>
      <p:sp>
        <p:nvSpPr>
          <p:cNvPr id="316" name="Google Shape;316;p42">
            <a:extLst>
              <a:ext uri="{FF2B5EF4-FFF2-40B4-BE49-F238E27FC236}">
                <a16:creationId xmlns:a16="http://schemas.microsoft.com/office/drawing/2014/main" id="{54B7A73E-AB4C-1421-C397-6DDFF8F3AF7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373801" y="1807727"/>
            <a:ext cx="4326410" cy="7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Multi-dimensional insights across 3 core sectors: Sales &amp; Profit, Customer Demographics</a:t>
            </a:r>
            <a:r>
              <a:rPr lang="ar-EG" dirty="0"/>
              <a:t> </a:t>
            </a:r>
            <a:r>
              <a:rPr lang="en-US" dirty="0"/>
              <a:t>, and Product Performance &amp; Returns</a:t>
            </a:r>
          </a:p>
        </p:txBody>
      </p:sp>
      <p:sp>
        <p:nvSpPr>
          <p:cNvPr id="317" name="Google Shape;317;p42">
            <a:extLst>
              <a:ext uri="{FF2B5EF4-FFF2-40B4-BE49-F238E27FC236}">
                <a16:creationId xmlns:a16="http://schemas.microsoft.com/office/drawing/2014/main" id="{87EF9327-4BF4-4CFF-EA5A-EE14A86488ED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373801" y="1495450"/>
            <a:ext cx="4097100" cy="3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Analytical Business Intelligence</a:t>
            </a:r>
          </a:p>
        </p:txBody>
      </p:sp>
      <p:sp>
        <p:nvSpPr>
          <p:cNvPr id="318" name="Google Shape;318;p42">
            <a:extLst>
              <a:ext uri="{FF2B5EF4-FFF2-40B4-BE49-F238E27FC236}">
                <a16:creationId xmlns:a16="http://schemas.microsoft.com/office/drawing/2014/main" id="{3798B9D4-6BE6-4846-9F8B-73B6E1082264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373800" y="3811104"/>
            <a:ext cx="4429537" cy="7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Standardizing raw data for Power BI consumption</a:t>
            </a:r>
            <a:endParaRPr dirty="0"/>
          </a:p>
        </p:txBody>
      </p:sp>
      <p:sp>
        <p:nvSpPr>
          <p:cNvPr id="319" name="Google Shape;319;p42">
            <a:extLst>
              <a:ext uri="{FF2B5EF4-FFF2-40B4-BE49-F238E27FC236}">
                <a16:creationId xmlns:a16="http://schemas.microsoft.com/office/drawing/2014/main" id="{CEF2FBB5-B2A6-8738-6987-287B760E7CCF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373801" y="3498822"/>
            <a:ext cx="4097100" cy="3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Serving Layer (SQL Views)</a:t>
            </a:r>
            <a:endParaRPr dirty="0"/>
          </a:p>
        </p:txBody>
      </p:sp>
      <p:sp>
        <p:nvSpPr>
          <p:cNvPr id="320" name="Google Shape;320;p42">
            <a:extLst>
              <a:ext uri="{FF2B5EF4-FFF2-40B4-BE49-F238E27FC236}">
                <a16:creationId xmlns:a16="http://schemas.microsoft.com/office/drawing/2014/main" id="{776F6897-F1F4-52DB-59F0-71AD57C64ABD}"/>
              </a:ext>
            </a:extLst>
          </p:cNvPr>
          <p:cNvSpPr txBox="1"/>
          <p:nvPr/>
        </p:nvSpPr>
        <p:spPr>
          <a:xfrm>
            <a:off x="1666538" y="1495438"/>
            <a:ext cx="664200" cy="593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200025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05</a:t>
            </a:r>
            <a:endParaRPr sz="3000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21" name="Google Shape;321;p42">
            <a:extLst>
              <a:ext uri="{FF2B5EF4-FFF2-40B4-BE49-F238E27FC236}">
                <a16:creationId xmlns:a16="http://schemas.microsoft.com/office/drawing/2014/main" id="{FE65A989-5908-BA23-34D9-333AB4780C8D}"/>
              </a:ext>
            </a:extLst>
          </p:cNvPr>
          <p:cNvSpPr txBox="1"/>
          <p:nvPr/>
        </p:nvSpPr>
        <p:spPr>
          <a:xfrm>
            <a:off x="1671438" y="3498825"/>
            <a:ext cx="664200" cy="593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200025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06</a:t>
            </a:r>
            <a:endParaRPr sz="3000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322" name="Google Shape;322;p42">
            <a:extLst>
              <a:ext uri="{FF2B5EF4-FFF2-40B4-BE49-F238E27FC236}">
                <a16:creationId xmlns:a16="http://schemas.microsoft.com/office/drawing/2014/main" id="{DC00DD67-308F-3F72-F936-5EFEADFBB4D5}"/>
              </a:ext>
            </a:extLst>
          </p:cNvPr>
          <p:cNvCxnSpPr>
            <a:stCxn id="321" idx="2"/>
            <a:endCxn id="319" idx="1"/>
          </p:cNvCxnSpPr>
          <p:nvPr/>
        </p:nvCxnSpPr>
        <p:spPr>
          <a:xfrm rot="-5400000">
            <a:off x="2489088" y="3207375"/>
            <a:ext cx="399300" cy="1370400"/>
          </a:xfrm>
          <a:prstGeom prst="bentConnector4">
            <a:avLst>
              <a:gd name="adj1" fmla="val -59636"/>
              <a:gd name="adj2" fmla="val 62112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23" name="Google Shape;323;p42">
            <a:extLst>
              <a:ext uri="{FF2B5EF4-FFF2-40B4-BE49-F238E27FC236}">
                <a16:creationId xmlns:a16="http://schemas.microsoft.com/office/drawing/2014/main" id="{1733E6CF-7BEC-3AF5-E95E-9DB9BA3C7A27}"/>
              </a:ext>
            </a:extLst>
          </p:cNvPr>
          <p:cNvCxnSpPr>
            <a:stCxn id="320" idx="2"/>
            <a:endCxn id="317" idx="1"/>
          </p:cNvCxnSpPr>
          <p:nvPr/>
        </p:nvCxnSpPr>
        <p:spPr>
          <a:xfrm rot="-5400000">
            <a:off x="2486738" y="1201738"/>
            <a:ext cx="399000" cy="1375200"/>
          </a:xfrm>
          <a:prstGeom prst="bentConnector4">
            <a:avLst>
              <a:gd name="adj1" fmla="val -59680"/>
              <a:gd name="adj2" fmla="val 6207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</p:spTree>
    <p:extLst>
      <p:ext uri="{BB962C8B-B14F-4D97-AF65-F5344CB8AC3E}">
        <p14:creationId xmlns:p14="http://schemas.microsoft.com/office/powerpoint/2010/main" val="3576244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Engineering</a:t>
            </a:r>
            <a:endParaRPr dirty="0"/>
          </a:p>
        </p:txBody>
      </p:sp>
      <p:sp>
        <p:nvSpPr>
          <p:cNvPr id="316" name="Google Shape;316;p42"/>
          <p:cNvSpPr txBox="1">
            <a:spLocks noGrp="1"/>
          </p:cNvSpPr>
          <p:nvPr>
            <p:ph type="subTitle" idx="1"/>
          </p:nvPr>
        </p:nvSpPr>
        <p:spPr>
          <a:xfrm>
            <a:off x="3373801" y="1807727"/>
            <a:ext cx="4097100" cy="7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Custom Stored Procedures for maintenance</a:t>
            </a:r>
            <a:endParaRPr dirty="0"/>
          </a:p>
        </p:txBody>
      </p:sp>
      <p:sp>
        <p:nvSpPr>
          <p:cNvPr id="317" name="Google Shape;317;p42"/>
          <p:cNvSpPr txBox="1">
            <a:spLocks noGrp="1"/>
          </p:cNvSpPr>
          <p:nvPr>
            <p:ph type="subTitle" idx="2"/>
          </p:nvPr>
        </p:nvSpPr>
        <p:spPr>
          <a:xfrm>
            <a:off x="3373801" y="1495450"/>
            <a:ext cx="4097100" cy="3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Pipeline Automation</a:t>
            </a:r>
            <a:endParaRPr dirty="0"/>
          </a:p>
        </p:txBody>
      </p:sp>
      <p:sp>
        <p:nvSpPr>
          <p:cNvPr id="320" name="Google Shape;320;p42"/>
          <p:cNvSpPr txBox="1"/>
          <p:nvPr/>
        </p:nvSpPr>
        <p:spPr>
          <a:xfrm>
            <a:off x="1666538" y="1495438"/>
            <a:ext cx="664200" cy="593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200025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07</a:t>
            </a:r>
            <a:endParaRPr sz="3000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323" name="Google Shape;323;p42"/>
          <p:cNvCxnSpPr>
            <a:stCxn id="320" idx="2"/>
            <a:endCxn id="317" idx="1"/>
          </p:cNvCxnSpPr>
          <p:nvPr/>
        </p:nvCxnSpPr>
        <p:spPr>
          <a:xfrm rot="-5400000">
            <a:off x="2486738" y="1201738"/>
            <a:ext cx="399000" cy="1375200"/>
          </a:xfrm>
          <a:prstGeom prst="bentConnector4">
            <a:avLst>
              <a:gd name="adj1" fmla="val -59680"/>
              <a:gd name="adj2" fmla="val 6207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9" name="Google Shape;318;p42">
            <a:extLst>
              <a:ext uri="{FF2B5EF4-FFF2-40B4-BE49-F238E27FC236}">
                <a16:creationId xmlns:a16="http://schemas.microsoft.com/office/drawing/2014/main" id="{CB75D333-56AB-7403-2878-0B82A31585E0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373801" y="3811104"/>
            <a:ext cx="4097100" cy="7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Auditing Power BI measures against DB totals</a:t>
            </a:r>
            <a:endParaRPr dirty="0"/>
          </a:p>
        </p:txBody>
      </p:sp>
      <p:sp>
        <p:nvSpPr>
          <p:cNvPr id="10" name="Google Shape;319;p42">
            <a:extLst>
              <a:ext uri="{FF2B5EF4-FFF2-40B4-BE49-F238E27FC236}">
                <a16:creationId xmlns:a16="http://schemas.microsoft.com/office/drawing/2014/main" id="{4355B4BD-CC60-769E-2C09-FC783DFCEB7A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373801" y="3498822"/>
            <a:ext cx="4097100" cy="3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Cross-System Reconciliation</a:t>
            </a:r>
            <a:endParaRPr dirty="0"/>
          </a:p>
        </p:txBody>
      </p:sp>
      <p:sp>
        <p:nvSpPr>
          <p:cNvPr id="11" name="Google Shape;321;p42">
            <a:extLst>
              <a:ext uri="{FF2B5EF4-FFF2-40B4-BE49-F238E27FC236}">
                <a16:creationId xmlns:a16="http://schemas.microsoft.com/office/drawing/2014/main" id="{57C61D07-2E1C-EE60-2C03-4C984CA5A5E8}"/>
              </a:ext>
            </a:extLst>
          </p:cNvPr>
          <p:cNvSpPr txBox="1"/>
          <p:nvPr/>
        </p:nvSpPr>
        <p:spPr>
          <a:xfrm>
            <a:off x="1671438" y="3498825"/>
            <a:ext cx="664200" cy="593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200025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08</a:t>
            </a:r>
            <a:endParaRPr sz="3000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2" name="Google Shape;322;p42">
            <a:extLst>
              <a:ext uri="{FF2B5EF4-FFF2-40B4-BE49-F238E27FC236}">
                <a16:creationId xmlns:a16="http://schemas.microsoft.com/office/drawing/2014/main" id="{95F8B6FC-85DF-EEA4-DC11-A95114240AE2}"/>
              </a:ext>
            </a:extLst>
          </p:cNvPr>
          <p:cNvCxnSpPr>
            <a:stCxn id="11" idx="2"/>
            <a:endCxn id="10" idx="1"/>
          </p:cNvCxnSpPr>
          <p:nvPr/>
        </p:nvCxnSpPr>
        <p:spPr>
          <a:xfrm rot="16200000">
            <a:off x="2489088" y="3207375"/>
            <a:ext cx="399300" cy="1370400"/>
          </a:xfrm>
          <a:prstGeom prst="bentConnector4">
            <a:avLst>
              <a:gd name="adj1" fmla="val -59636"/>
              <a:gd name="adj2" fmla="val 62112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</p:spTree>
    <p:extLst>
      <p:ext uri="{BB962C8B-B14F-4D97-AF65-F5344CB8AC3E}">
        <p14:creationId xmlns:p14="http://schemas.microsoft.com/office/powerpoint/2010/main" val="3572162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Google Shape;510;p49"/>
          <p:cNvPicPr preferRelativeResize="0">
            <a:picLocks noGrp="1"/>
          </p:cNvPicPr>
          <p:nvPr>
            <p:ph type="pic" idx="2"/>
          </p:nvPr>
        </p:nvPicPr>
        <p:blipFill>
          <a:blip r:embed="rId3"/>
          <a:srcRect l="678" r="45369"/>
          <a:stretch/>
        </p:blipFill>
        <p:spPr>
          <a:xfrm>
            <a:off x="4207727" y="1099500"/>
            <a:ext cx="4216273" cy="3394532"/>
          </a:xfrm>
          <a:prstGeom prst="rect">
            <a:avLst/>
          </a:prstGeom>
        </p:spPr>
      </p:pic>
      <p:sp>
        <p:nvSpPr>
          <p:cNvPr id="4" name="Google Shape;315;p42">
            <a:extLst>
              <a:ext uri="{FF2B5EF4-FFF2-40B4-BE49-F238E27FC236}">
                <a16:creationId xmlns:a16="http://schemas.microsoft.com/office/drawing/2014/main" id="{01BAC40C-3E28-ADE6-C02E-E4F8E1CAF6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Data Modeling: The Galaxy Schema</a:t>
            </a:r>
          </a:p>
        </p:txBody>
      </p:sp>
      <p:sp>
        <p:nvSpPr>
          <p:cNvPr id="7" name="Google Shape;509;p49">
            <a:extLst>
              <a:ext uri="{FF2B5EF4-FFF2-40B4-BE49-F238E27FC236}">
                <a16:creationId xmlns:a16="http://schemas.microsoft.com/office/drawing/2014/main" id="{7597F3EA-6986-5789-CC06-0543312CC57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1754459"/>
            <a:ext cx="3398238" cy="22262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Sales</a:t>
            </a:r>
            <a:r>
              <a:rPr lang="en" sz="1800" dirty="0">
                <a:solidFill>
                  <a:schemeClr val="accent1">
                    <a:lumMod val="50000"/>
                  </a:schemeClr>
                </a:solidFill>
              </a:rPr>
              <a:t> &amp; Return tables:   </a:t>
            </a:r>
            <a:r>
              <a:rPr lang="en" sz="1800" dirty="0"/>
              <a:t>Fact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Other </a:t>
            </a:r>
            <a:r>
              <a:rPr lang="en" sz="1800" dirty="0">
                <a:solidFill>
                  <a:schemeClr val="accent1">
                    <a:lumMod val="50000"/>
                  </a:schemeClr>
                </a:solidFill>
              </a:rPr>
              <a:t>tables:   </a:t>
            </a:r>
            <a:r>
              <a:rPr lang="en" sz="1800" dirty="0"/>
              <a:t>Dimensions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4225196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052722" cy="10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Relationship Mapping 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27FBBB85-BA83-A81B-8F19-E0C9D143BAFB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17" r="17"/>
          <a:stretch>
            <a:fillRect/>
          </a:stretch>
        </p:blipFill>
        <p:spPr>
          <a:xfrm>
            <a:off x="1670863" y="1494125"/>
            <a:ext cx="5965825" cy="2835275"/>
          </a:xfrm>
        </p:spPr>
      </p:pic>
    </p:spTree>
    <p:extLst>
      <p:ext uri="{BB962C8B-B14F-4D97-AF65-F5344CB8AC3E}">
        <p14:creationId xmlns:p14="http://schemas.microsoft.com/office/powerpoint/2010/main" val="2082538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766400" cy="10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Cleaning Challenges</a:t>
            </a:r>
            <a:endParaRPr dirty="0"/>
          </a:p>
        </p:txBody>
      </p:sp>
      <p:sp>
        <p:nvSpPr>
          <p:cNvPr id="309" name="Google Shape;309;p41"/>
          <p:cNvSpPr txBox="1">
            <a:spLocks noGrp="1"/>
          </p:cNvSpPr>
          <p:nvPr>
            <p:ph type="body" idx="1"/>
          </p:nvPr>
        </p:nvSpPr>
        <p:spPr>
          <a:xfrm>
            <a:off x="720000" y="1553800"/>
            <a:ext cx="3920752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b="1" dirty="0"/>
              <a:t>Skewed Outliers in Customer Age</a:t>
            </a:r>
            <a:r>
              <a:rPr lang="en-US" sz="1800" dirty="0"/>
              <a:t> </a:t>
            </a:r>
          </a:p>
          <a:p>
            <a:endParaRPr lang="en-US" sz="1800" dirty="0"/>
          </a:p>
          <a:p>
            <a:pPr marL="139700" indent="0">
              <a:buNone/>
            </a:pPr>
            <a:r>
              <a:rPr lang="en-US" sz="1600" b="1" dirty="0"/>
              <a:t>Challenge: </a:t>
            </a:r>
            <a:r>
              <a:rPr lang="en-US" sz="1600" dirty="0"/>
              <a:t>Historical birthdates from 1998 resulted in unrealistically high current ages when calculated against the year 2026.</a:t>
            </a:r>
          </a:p>
          <a:p>
            <a:pPr marL="139700" indent="0">
              <a:buNone/>
            </a:pPr>
            <a:endParaRPr lang="en-US" sz="1600" dirty="0"/>
          </a:p>
          <a:p>
            <a:pPr marL="139700" indent="0">
              <a:buNone/>
            </a:pPr>
            <a:r>
              <a:rPr lang="en-US" sz="1600" b="1" dirty="0"/>
              <a:t>Solution:</a:t>
            </a:r>
            <a:r>
              <a:rPr lang="en-US" sz="1600" dirty="0"/>
              <a:t> Replaced the current date with the Max Transaction Date.</a:t>
            </a:r>
          </a:p>
          <a:p>
            <a:pPr>
              <a:spcBef>
                <a:spcPts val="1000"/>
              </a:spcBef>
            </a:pPr>
            <a:endParaRPr lang="en-US" sz="1800" dirty="0"/>
          </a:p>
        </p:txBody>
      </p:sp>
      <p:sp>
        <p:nvSpPr>
          <p:cNvPr id="5" name="Google Shape;309;p41">
            <a:extLst>
              <a:ext uri="{FF2B5EF4-FFF2-40B4-BE49-F238E27FC236}">
                <a16:creationId xmlns:a16="http://schemas.microsoft.com/office/drawing/2014/main" id="{7396DA63-B6FE-C42D-3684-0B0C0776DB89}"/>
              </a:ext>
            </a:extLst>
          </p:cNvPr>
          <p:cNvSpPr txBox="1">
            <a:spLocks/>
          </p:cNvSpPr>
          <p:nvPr/>
        </p:nvSpPr>
        <p:spPr>
          <a:xfrm>
            <a:off x="4503248" y="1494125"/>
            <a:ext cx="3920752" cy="29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┌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>
              <a:spcBef>
                <a:spcPts val="1000"/>
              </a:spcBef>
            </a:pPr>
            <a:r>
              <a:rPr lang="en-US" sz="1800" b="1" dirty="0"/>
              <a:t>Inaccurate RFM Customer Segmentation</a:t>
            </a:r>
            <a:endParaRPr lang="en-US" sz="1800" dirty="0"/>
          </a:p>
          <a:p>
            <a:pPr marL="139700" indent="0">
              <a:spcBef>
                <a:spcPts val="1000"/>
              </a:spcBef>
              <a:buNone/>
            </a:pPr>
            <a:r>
              <a:rPr lang="en-US" sz="1600" b="1" dirty="0"/>
              <a:t>Challenge: </a:t>
            </a:r>
            <a:r>
              <a:rPr lang="en-US" sz="1600" dirty="0"/>
              <a:t>Simple additive scoring (R+F+M=12) incorrectly classified over 35% of the database as "VIP Customers.“</a:t>
            </a:r>
          </a:p>
          <a:p>
            <a:pPr marL="139700" indent="0">
              <a:spcBef>
                <a:spcPts val="1000"/>
              </a:spcBef>
              <a:buNone/>
            </a:pPr>
            <a:r>
              <a:rPr lang="en-US" sz="1600" b="1" dirty="0"/>
              <a:t>Solution: </a:t>
            </a:r>
            <a:r>
              <a:rPr lang="en-US" sz="1600" dirty="0"/>
              <a:t>Developed hardcoded conditional logic to ensure precise, realistic tier distribution.</a:t>
            </a:r>
          </a:p>
          <a:p>
            <a:pPr>
              <a:spcBef>
                <a:spcPts val="1000"/>
              </a:spcBef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78097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9"/>
          <p:cNvSpPr/>
          <p:nvPr/>
        </p:nvSpPr>
        <p:spPr>
          <a:xfrm>
            <a:off x="354300" y="323250"/>
            <a:ext cx="5701800" cy="4497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271463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274" name="Google Shape;274;p39"/>
          <p:cNvSpPr txBox="1">
            <a:spLocks noGrp="1"/>
          </p:cNvSpPr>
          <p:nvPr>
            <p:ph type="title"/>
          </p:nvPr>
        </p:nvSpPr>
        <p:spPr>
          <a:xfrm>
            <a:off x="964950" y="2657138"/>
            <a:ext cx="44805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Power BI</a:t>
            </a:r>
            <a:endParaRPr dirty="0"/>
          </a:p>
        </p:txBody>
      </p:sp>
      <p:sp>
        <p:nvSpPr>
          <p:cNvPr id="275" name="Google Shape;275;p39"/>
          <p:cNvSpPr txBox="1">
            <a:spLocks noGrp="1"/>
          </p:cNvSpPr>
          <p:nvPr>
            <p:ph type="title" idx="2"/>
          </p:nvPr>
        </p:nvSpPr>
        <p:spPr>
          <a:xfrm>
            <a:off x="964950" y="1282838"/>
            <a:ext cx="4480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277" name="Google Shape;277;p39"/>
          <p:cNvGrpSpPr/>
          <p:nvPr/>
        </p:nvGrpSpPr>
        <p:grpSpPr>
          <a:xfrm>
            <a:off x="1055588" y="2383575"/>
            <a:ext cx="4299225" cy="180300"/>
            <a:chOff x="4004025" y="2991025"/>
            <a:chExt cx="4299225" cy="180300"/>
          </a:xfrm>
        </p:grpSpPr>
        <p:sp>
          <p:nvSpPr>
            <p:cNvPr id="278" name="Google Shape;278;p39"/>
            <p:cNvSpPr/>
            <p:nvPr/>
          </p:nvSpPr>
          <p:spPr>
            <a:xfrm>
              <a:off x="4004025" y="3011825"/>
              <a:ext cx="27900" cy="27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9" name="Google Shape;279;p39"/>
            <p:cNvSpPr/>
            <p:nvPr/>
          </p:nvSpPr>
          <p:spPr>
            <a:xfrm>
              <a:off x="5044725" y="3011825"/>
              <a:ext cx="27900" cy="27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280" name="Google Shape;280;p39"/>
            <p:cNvCxnSpPr>
              <a:stCxn id="281" idx="2"/>
              <a:endCxn id="282" idx="2"/>
            </p:cNvCxnSpPr>
            <p:nvPr/>
          </p:nvCxnSpPr>
          <p:spPr>
            <a:xfrm>
              <a:off x="6233175" y="3006613"/>
              <a:ext cx="502800" cy="76200"/>
            </a:xfrm>
            <a:prstGeom prst="straightConnector1">
              <a:avLst/>
            </a:pr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83" name="Google Shape;283;p39"/>
            <p:cNvGrpSpPr/>
            <p:nvPr/>
          </p:nvGrpSpPr>
          <p:grpSpPr>
            <a:xfrm>
              <a:off x="4031925" y="2991025"/>
              <a:ext cx="4271325" cy="180300"/>
              <a:chOff x="4031925" y="2991025"/>
              <a:chExt cx="4271325" cy="180300"/>
            </a:xfrm>
          </p:grpSpPr>
          <p:sp>
            <p:nvSpPr>
              <p:cNvPr id="284" name="Google Shape;284;p39"/>
              <p:cNvSpPr/>
              <p:nvPr/>
            </p:nvSpPr>
            <p:spPr>
              <a:xfrm>
                <a:off x="4480275" y="3067225"/>
                <a:ext cx="27900" cy="27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5" name="Google Shape;285;p39"/>
              <p:cNvSpPr/>
              <p:nvPr/>
            </p:nvSpPr>
            <p:spPr>
              <a:xfrm>
                <a:off x="5684150" y="3143425"/>
                <a:ext cx="27900" cy="27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1" name="Google Shape;281;p39"/>
              <p:cNvSpPr/>
              <p:nvPr/>
            </p:nvSpPr>
            <p:spPr>
              <a:xfrm>
                <a:off x="6233175" y="2992663"/>
                <a:ext cx="27900" cy="27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2" name="Google Shape;282;p39"/>
              <p:cNvSpPr/>
              <p:nvPr/>
            </p:nvSpPr>
            <p:spPr>
              <a:xfrm>
                <a:off x="6735900" y="3068850"/>
                <a:ext cx="27900" cy="27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6" name="Google Shape;286;p39"/>
              <p:cNvSpPr/>
              <p:nvPr/>
            </p:nvSpPr>
            <p:spPr>
              <a:xfrm>
                <a:off x="7249350" y="2991025"/>
                <a:ext cx="27900" cy="27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7" name="Google Shape;287;p39"/>
              <p:cNvSpPr/>
              <p:nvPr/>
            </p:nvSpPr>
            <p:spPr>
              <a:xfrm>
                <a:off x="7791750" y="3062113"/>
                <a:ext cx="27900" cy="27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cxnSp>
            <p:nvCxnSpPr>
              <p:cNvPr id="288" name="Google Shape;288;p39"/>
              <p:cNvCxnSpPr>
                <a:stCxn id="278" idx="6"/>
                <a:endCxn id="284" idx="2"/>
              </p:cNvCxnSpPr>
              <p:nvPr/>
            </p:nvCxnSpPr>
            <p:spPr>
              <a:xfrm>
                <a:off x="4031925" y="3025775"/>
                <a:ext cx="448500" cy="555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9" name="Google Shape;289;p39"/>
              <p:cNvCxnSpPr>
                <a:stCxn id="284" idx="6"/>
                <a:endCxn id="279" idx="2"/>
              </p:cNvCxnSpPr>
              <p:nvPr/>
            </p:nvCxnSpPr>
            <p:spPr>
              <a:xfrm rot="10800000" flipH="1">
                <a:off x="4508175" y="3025675"/>
                <a:ext cx="536700" cy="555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0" name="Google Shape;290;p39"/>
              <p:cNvCxnSpPr>
                <a:stCxn id="279" idx="6"/>
                <a:endCxn id="285" idx="2"/>
              </p:cNvCxnSpPr>
              <p:nvPr/>
            </p:nvCxnSpPr>
            <p:spPr>
              <a:xfrm>
                <a:off x="5072625" y="3025775"/>
                <a:ext cx="611400" cy="1317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1" name="Google Shape;291;p39"/>
              <p:cNvCxnSpPr>
                <a:stCxn id="285" idx="6"/>
                <a:endCxn id="281" idx="2"/>
              </p:cNvCxnSpPr>
              <p:nvPr/>
            </p:nvCxnSpPr>
            <p:spPr>
              <a:xfrm rot="10800000" flipH="1">
                <a:off x="5712050" y="3006475"/>
                <a:ext cx="521100" cy="1509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2" name="Google Shape;292;p39"/>
              <p:cNvCxnSpPr>
                <a:stCxn id="282" idx="6"/>
                <a:endCxn id="286" idx="2"/>
              </p:cNvCxnSpPr>
              <p:nvPr/>
            </p:nvCxnSpPr>
            <p:spPr>
              <a:xfrm rot="10800000" flipH="1">
                <a:off x="6763800" y="3005100"/>
                <a:ext cx="485700" cy="777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3" name="Google Shape;293;p39"/>
              <p:cNvCxnSpPr>
                <a:stCxn id="286" idx="6"/>
                <a:endCxn id="287" idx="2"/>
              </p:cNvCxnSpPr>
              <p:nvPr/>
            </p:nvCxnSpPr>
            <p:spPr>
              <a:xfrm>
                <a:off x="7277250" y="3004975"/>
                <a:ext cx="514500" cy="711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4" name="Google Shape;294;p39"/>
              <p:cNvCxnSpPr>
                <a:stCxn id="287" idx="6"/>
                <a:endCxn id="295" idx="2"/>
              </p:cNvCxnSpPr>
              <p:nvPr/>
            </p:nvCxnSpPr>
            <p:spPr>
              <a:xfrm>
                <a:off x="7819650" y="3076063"/>
                <a:ext cx="483600" cy="51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2179379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5"/>
          <p:cNvSpPr txBox="1"/>
          <p:nvPr/>
        </p:nvSpPr>
        <p:spPr>
          <a:xfrm>
            <a:off x="720000" y="3124725"/>
            <a:ext cx="664200" cy="593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200025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83" name="Google Shape;383;p45"/>
          <p:cNvSpPr txBox="1"/>
          <p:nvPr/>
        </p:nvSpPr>
        <p:spPr>
          <a:xfrm>
            <a:off x="6062350" y="1257288"/>
            <a:ext cx="664200" cy="593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200025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66" name="Google Shape;366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</a:t>
            </a:r>
            <a:r>
              <a:rPr lang="en" dirty="0"/>
              <a:t>ashboard Features</a:t>
            </a:r>
            <a:endParaRPr dirty="0"/>
          </a:p>
        </p:txBody>
      </p:sp>
      <p:sp>
        <p:nvSpPr>
          <p:cNvPr id="368" name="Google Shape;368;p45"/>
          <p:cNvSpPr txBox="1">
            <a:spLocks noGrp="1"/>
          </p:cNvSpPr>
          <p:nvPr>
            <p:ph type="subTitle" idx="2"/>
          </p:nvPr>
        </p:nvSpPr>
        <p:spPr>
          <a:xfrm>
            <a:off x="715100" y="1926900"/>
            <a:ext cx="2356800" cy="3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Interactive visuals</a:t>
            </a:r>
            <a:endParaRPr dirty="0"/>
          </a:p>
        </p:txBody>
      </p:sp>
      <p:sp>
        <p:nvSpPr>
          <p:cNvPr id="370" name="Google Shape;370;p45"/>
          <p:cNvSpPr txBox="1">
            <a:spLocks noGrp="1"/>
          </p:cNvSpPr>
          <p:nvPr>
            <p:ph type="subTitle" idx="4"/>
          </p:nvPr>
        </p:nvSpPr>
        <p:spPr>
          <a:xfrm>
            <a:off x="6067188" y="1926900"/>
            <a:ext cx="2356800" cy="71965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Dynamic filtering and slicers</a:t>
            </a:r>
          </a:p>
        </p:txBody>
      </p:sp>
      <p:sp>
        <p:nvSpPr>
          <p:cNvPr id="372" name="Google Shape;372;p45"/>
          <p:cNvSpPr txBox="1">
            <a:spLocks noGrp="1"/>
          </p:cNvSpPr>
          <p:nvPr>
            <p:ph type="subTitle" idx="6"/>
          </p:nvPr>
        </p:nvSpPr>
        <p:spPr>
          <a:xfrm>
            <a:off x="3391150" y="1926899"/>
            <a:ext cx="2351925" cy="4445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Multiple Pages</a:t>
            </a:r>
            <a:endParaRPr dirty="0"/>
          </a:p>
        </p:txBody>
      </p:sp>
      <p:sp>
        <p:nvSpPr>
          <p:cNvPr id="374" name="Google Shape;374;p45"/>
          <p:cNvSpPr txBox="1">
            <a:spLocks noGrp="1"/>
          </p:cNvSpPr>
          <p:nvPr>
            <p:ph type="subTitle" idx="8"/>
          </p:nvPr>
        </p:nvSpPr>
        <p:spPr>
          <a:xfrm>
            <a:off x="715100" y="3794324"/>
            <a:ext cx="2356800" cy="67359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Time-series analysis</a:t>
            </a:r>
          </a:p>
        </p:txBody>
      </p:sp>
      <p:sp>
        <p:nvSpPr>
          <p:cNvPr id="376" name="Google Shape;376;p45"/>
          <p:cNvSpPr txBox="1">
            <a:spLocks noGrp="1"/>
          </p:cNvSpPr>
          <p:nvPr>
            <p:ph type="subTitle" idx="13"/>
          </p:nvPr>
        </p:nvSpPr>
        <p:spPr>
          <a:xfrm>
            <a:off x="6067188" y="3794325"/>
            <a:ext cx="2356800" cy="3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US" dirty="0"/>
              <a:t>Easy to Use</a:t>
            </a:r>
          </a:p>
        </p:txBody>
      </p:sp>
      <p:sp>
        <p:nvSpPr>
          <p:cNvPr id="378" name="Google Shape;378;p45"/>
          <p:cNvSpPr txBox="1">
            <a:spLocks noGrp="1"/>
          </p:cNvSpPr>
          <p:nvPr>
            <p:ph type="subTitle" idx="15"/>
          </p:nvPr>
        </p:nvSpPr>
        <p:spPr>
          <a:xfrm>
            <a:off x="3391150" y="3794325"/>
            <a:ext cx="2356800" cy="3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Drill-down analysis</a:t>
            </a:r>
          </a:p>
        </p:txBody>
      </p:sp>
      <p:sp>
        <p:nvSpPr>
          <p:cNvPr id="379" name="Google Shape;379;p45"/>
          <p:cNvSpPr txBox="1"/>
          <p:nvPr/>
        </p:nvSpPr>
        <p:spPr>
          <a:xfrm>
            <a:off x="720000" y="1257288"/>
            <a:ext cx="664200" cy="593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200025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81" name="Google Shape;381;p45"/>
          <p:cNvSpPr txBox="1"/>
          <p:nvPr/>
        </p:nvSpPr>
        <p:spPr>
          <a:xfrm>
            <a:off x="3391175" y="1257288"/>
            <a:ext cx="664200" cy="593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200025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84" name="Google Shape;384;p45"/>
          <p:cNvSpPr txBox="1"/>
          <p:nvPr/>
        </p:nvSpPr>
        <p:spPr>
          <a:xfrm>
            <a:off x="6062350" y="3124725"/>
            <a:ext cx="664200" cy="593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200025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435" name="Google Shape;435;p45"/>
          <p:cNvGrpSpPr/>
          <p:nvPr/>
        </p:nvGrpSpPr>
        <p:grpSpPr>
          <a:xfrm>
            <a:off x="6266695" y="1442714"/>
            <a:ext cx="275491" cy="248250"/>
            <a:chOff x="3411676" y="2366259"/>
            <a:chExt cx="329180" cy="296631"/>
          </a:xfrm>
        </p:grpSpPr>
        <p:sp>
          <p:nvSpPr>
            <p:cNvPr id="436" name="Google Shape;436;p45"/>
            <p:cNvSpPr/>
            <p:nvPr/>
          </p:nvSpPr>
          <p:spPr>
            <a:xfrm>
              <a:off x="3443630" y="2389621"/>
              <a:ext cx="17860" cy="17859"/>
            </a:xfrm>
            <a:custGeom>
              <a:avLst/>
              <a:gdLst/>
              <a:ahLst/>
              <a:cxnLst/>
              <a:rect l="l" t="t" r="r" b="b"/>
              <a:pathLst>
                <a:path w="17860" h="17859" extrusionOk="0">
                  <a:moveTo>
                    <a:pt x="8930" y="17859"/>
                  </a:moveTo>
                  <a:cubicBezTo>
                    <a:pt x="13862" y="17859"/>
                    <a:pt x="17861" y="13860"/>
                    <a:pt x="17861" y="8930"/>
                  </a:cubicBezTo>
                  <a:cubicBezTo>
                    <a:pt x="17861" y="3999"/>
                    <a:pt x="13862" y="0"/>
                    <a:pt x="8930" y="0"/>
                  </a:cubicBezTo>
                  <a:cubicBezTo>
                    <a:pt x="3999" y="0"/>
                    <a:pt x="0" y="3999"/>
                    <a:pt x="0" y="8930"/>
                  </a:cubicBezTo>
                  <a:cubicBezTo>
                    <a:pt x="0" y="13860"/>
                    <a:pt x="3999" y="17859"/>
                    <a:pt x="8930" y="178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45"/>
            <p:cNvSpPr/>
            <p:nvPr/>
          </p:nvSpPr>
          <p:spPr>
            <a:xfrm>
              <a:off x="3471102" y="2389621"/>
              <a:ext cx="17867" cy="17859"/>
            </a:xfrm>
            <a:custGeom>
              <a:avLst/>
              <a:gdLst/>
              <a:ahLst/>
              <a:cxnLst/>
              <a:rect l="l" t="t" r="r" b="b"/>
              <a:pathLst>
                <a:path w="17867" h="17859" extrusionOk="0">
                  <a:moveTo>
                    <a:pt x="8937" y="17859"/>
                  </a:moveTo>
                  <a:cubicBezTo>
                    <a:pt x="13868" y="17859"/>
                    <a:pt x="17867" y="13860"/>
                    <a:pt x="17867" y="8930"/>
                  </a:cubicBezTo>
                  <a:cubicBezTo>
                    <a:pt x="17867" y="3999"/>
                    <a:pt x="13868" y="0"/>
                    <a:pt x="8937" y="0"/>
                  </a:cubicBezTo>
                  <a:cubicBezTo>
                    <a:pt x="3999" y="0"/>
                    <a:pt x="0" y="3999"/>
                    <a:pt x="0" y="8930"/>
                  </a:cubicBezTo>
                  <a:cubicBezTo>
                    <a:pt x="0" y="13860"/>
                    <a:pt x="3999" y="17859"/>
                    <a:pt x="8937" y="178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45"/>
            <p:cNvSpPr/>
            <p:nvPr/>
          </p:nvSpPr>
          <p:spPr>
            <a:xfrm>
              <a:off x="3498581" y="2389621"/>
              <a:ext cx="17867" cy="17859"/>
            </a:xfrm>
            <a:custGeom>
              <a:avLst/>
              <a:gdLst/>
              <a:ahLst/>
              <a:cxnLst/>
              <a:rect l="l" t="t" r="r" b="b"/>
              <a:pathLst>
                <a:path w="17867" h="17859" extrusionOk="0">
                  <a:moveTo>
                    <a:pt x="8930" y="17859"/>
                  </a:moveTo>
                  <a:cubicBezTo>
                    <a:pt x="13868" y="17859"/>
                    <a:pt x="17867" y="13860"/>
                    <a:pt x="17867" y="8930"/>
                  </a:cubicBezTo>
                  <a:cubicBezTo>
                    <a:pt x="17867" y="3999"/>
                    <a:pt x="13868" y="0"/>
                    <a:pt x="8930" y="0"/>
                  </a:cubicBezTo>
                  <a:cubicBezTo>
                    <a:pt x="3999" y="0"/>
                    <a:pt x="0" y="3999"/>
                    <a:pt x="0" y="8930"/>
                  </a:cubicBezTo>
                  <a:cubicBezTo>
                    <a:pt x="0" y="13860"/>
                    <a:pt x="3999" y="17859"/>
                    <a:pt x="8930" y="178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45"/>
            <p:cNvSpPr/>
            <p:nvPr/>
          </p:nvSpPr>
          <p:spPr>
            <a:xfrm>
              <a:off x="3670728" y="2481248"/>
              <a:ext cx="53385" cy="38800"/>
            </a:xfrm>
            <a:custGeom>
              <a:avLst/>
              <a:gdLst/>
              <a:ahLst/>
              <a:cxnLst/>
              <a:rect l="l" t="t" r="r" b="b"/>
              <a:pathLst>
                <a:path w="53385" h="38800" extrusionOk="0">
                  <a:moveTo>
                    <a:pt x="19402" y="38800"/>
                  </a:moveTo>
                  <a:cubicBezTo>
                    <a:pt x="18168" y="38800"/>
                    <a:pt x="16933" y="38331"/>
                    <a:pt x="15988" y="37392"/>
                  </a:cubicBezTo>
                  <a:lnTo>
                    <a:pt x="1413" y="22812"/>
                  </a:lnTo>
                  <a:cubicBezTo>
                    <a:pt x="-471" y="20928"/>
                    <a:pt x="-471" y="17874"/>
                    <a:pt x="1413" y="15991"/>
                  </a:cubicBezTo>
                  <a:cubicBezTo>
                    <a:pt x="3290" y="14107"/>
                    <a:pt x="6344" y="14107"/>
                    <a:pt x="8228" y="15991"/>
                  </a:cubicBezTo>
                  <a:lnTo>
                    <a:pt x="19402" y="27164"/>
                  </a:lnTo>
                  <a:lnTo>
                    <a:pt x="45151" y="1410"/>
                  </a:lnTo>
                  <a:cubicBezTo>
                    <a:pt x="47035" y="-473"/>
                    <a:pt x="50089" y="-467"/>
                    <a:pt x="51973" y="1410"/>
                  </a:cubicBezTo>
                  <a:cubicBezTo>
                    <a:pt x="53857" y="3294"/>
                    <a:pt x="53857" y="6348"/>
                    <a:pt x="51973" y="8231"/>
                  </a:cubicBezTo>
                  <a:lnTo>
                    <a:pt x="22810" y="37392"/>
                  </a:lnTo>
                  <a:cubicBezTo>
                    <a:pt x="21871" y="38331"/>
                    <a:pt x="20637" y="38800"/>
                    <a:pt x="19402" y="388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45"/>
            <p:cNvSpPr/>
            <p:nvPr/>
          </p:nvSpPr>
          <p:spPr>
            <a:xfrm>
              <a:off x="3443128" y="2461199"/>
              <a:ext cx="211492" cy="87000"/>
            </a:xfrm>
            <a:custGeom>
              <a:avLst/>
              <a:gdLst/>
              <a:ahLst/>
              <a:cxnLst/>
              <a:rect l="l" t="t" r="r" b="b"/>
              <a:pathLst>
                <a:path w="211492" h="87000" extrusionOk="0">
                  <a:moveTo>
                    <a:pt x="188025" y="87001"/>
                  </a:moveTo>
                  <a:lnTo>
                    <a:pt x="57710" y="87001"/>
                  </a:lnTo>
                  <a:cubicBezTo>
                    <a:pt x="55048" y="87001"/>
                    <a:pt x="52888" y="84847"/>
                    <a:pt x="52888" y="82179"/>
                  </a:cubicBezTo>
                  <a:cubicBezTo>
                    <a:pt x="52888" y="79518"/>
                    <a:pt x="55048" y="77358"/>
                    <a:pt x="57710" y="77358"/>
                  </a:cubicBezTo>
                  <a:lnTo>
                    <a:pt x="188025" y="77358"/>
                  </a:lnTo>
                  <a:cubicBezTo>
                    <a:pt x="195651" y="77358"/>
                    <a:pt x="201848" y="71160"/>
                    <a:pt x="201848" y="63536"/>
                  </a:cubicBezTo>
                  <a:lnTo>
                    <a:pt x="201848" y="23465"/>
                  </a:lnTo>
                  <a:cubicBezTo>
                    <a:pt x="201848" y="15841"/>
                    <a:pt x="195651" y="9643"/>
                    <a:pt x="188025" y="9643"/>
                  </a:cubicBezTo>
                  <a:lnTo>
                    <a:pt x="23467" y="9643"/>
                  </a:lnTo>
                  <a:cubicBezTo>
                    <a:pt x="15848" y="9643"/>
                    <a:pt x="9644" y="15841"/>
                    <a:pt x="9644" y="23465"/>
                  </a:cubicBezTo>
                  <a:lnTo>
                    <a:pt x="9644" y="63536"/>
                  </a:lnTo>
                  <a:cubicBezTo>
                    <a:pt x="9644" y="71160"/>
                    <a:pt x="15848" y="77358"/>
                    <a:pt x="23467" y="77358"/>
                  </a:cubicBezTo>
                  <a:lnTo>
                    <a:pt x="34268" y="77358"/>
                  </a:lnTo>
                  <a:cubicBezTo>
                    <a:pt x="36930" y="77358"/>
                    <a:pt x="39090" y="79518"/>
                    <a:pt x="39090" y="82179"/>
                  </a:cubicBezTo>
                  <a:cubicBezTo>
                    <a:pt x="39090" y="84847"/>
                    <a:pt x="36930" y="87001"/>
                    <a:pt x="34268" y="87001"/>
                  </a:cubicBezTo>
                  <a:lnTo>
                    <a:pt x="23467" y="87001"/>
                  </a:lnTo>
                  <a:cubicBezTo>
                    <a:pt x="10531" y="87001"/>
                    <a:pt x="0" y="76477"/>
                    <a:pt x="0" y="63536"/>
                  </a:cubicBezTo>
                  <a:lnTo>
                    <a:pt x="0" y="23465"/>
                  </a:lnTo>
                  <a:cubicBezTo>
                    <a:pt x="0" y="10524"/>
                    <a:pt x="10531" y="0"/>
                    <a:pt x="23467" y="0"/>
                  </a:cubicBezTo>
                  <a:lnTo>
                    <a:pt x="188025" y="0"/>
                  </a:lnTo>
                  <a:cubicBezTo>
                    <a:pt x="200968" y="0"/>
                    <a:pt x="211492" y="10524"/>
                    <a:pt x="211492" y="23465"/>
                  </a:cubicBezTo>
                  <a:lnTo>
                    <a:pt x="211492" y="63536"/>
                  </a:lnTo>
                  <a:cubicBezTo>
                    <a:pt x="211492" y="76477"/>
                    <a:pt x="200968" y="87001"/>
                    <a:pt x="188025" y="870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45"/>
            <p:cNvSpPr/>
            <p:nvPr/>
          </p:nvSpPr>
          <p:spPr>
            <a:xfrm>
              <a:off x="3477297" y="2481109"/>
              <a:ext cx="41224" cy="46101"/>
            </a:xfrm>
            <a:custGeom>
              <a:avLst/>
              <a:gdLst/>
              <a:ahLst/>
              <a:cxnLst/>
              <a:rect l="l" t="t" r="r" b="b"/>
              <a:pathLst>
                <a:path w="41224" h="46101" extrusionOk="0">
                  <a:moveTo>
                    <a:pt x="40579" y="11527"/>
                  </a:moveTo>
                  <a:cubicBezTo>
                    <a:pt x="39248" y="9219"/>
                    <a:pt x="36297" y="8428"/>
                    <a:pt x="33989" y="9759"/>
                  </a:cubicBezTo>
                  <a:lnTo>
                    <a:pt x="25431" y="14703"/>
                  </a:lnTo>
                  <a:lnTo>
                    <a:pt x="25431" y="4822"/>
                  </a:lnTo>
                  <a:cubicBezTo>
                    <a:pt x="25431" y="2160"/>
                    <a:pt x="23271" y="0"/>
                    <a:pt x="20609" y="0"/>
                  </a:cubicBezTo>
                  <a:cubicBezTo>
                    <a:pt x="17948" y="0"/>
                    <a:pt x="15787" y="2160"/>
                    <a:pt x="15787" y="4822"/>
                  </a:cubicBezTo>
                  <a:lnTo>
                    <a:pt x="15787" y="14703"/>
                  </a:lnTo>
                  <a:lnTo>
                    <a:pt x="7230" y="9759"/>
                  </a:lnTo>
                  <a:cubicBezTo>
                    <a:pt x="4928" y="8428"/>
                    <a:pt x="1977" y="9219"/>
                    <a:pt x="646" y="11527"/>
                  </a:cubicBezTo>
                  <a:cubicBezTo>
                    <a:pt x="-685" y="13828"/>
                    <a:pt x="106" y="16779"/>
                    <a:pt x="2408" y="18110"/>
                  </a:cubicBezTo>
                  <a:lnTo>
                    <a:pt x="10965" y="23054"/>
                  </a:lnTo>
                  <a:lnTo>
                    <a:pt x="2408" y="27991"/>
                  </a:lnTo>
                  <a:cubicBezTo>
                    <a:pt x="106" y="29322"/>
                    <a:pt x="-685" y="32273"/>
                    <a:pt x="646" y="34581"/>
                  </a:cubicBezTo>
                  <a:cubicBezTo>
                    <a:pt x="1540" y="36124"/>
                    <a:pt x="3160" y="36991"/>
                    <a:pt x="4825" y="36991"/>
                  </a:cubicBezTo>
                  <a:cubicBezTo>
                    <a:pt x="5642" y="36991"/>
                    <a:pt x="6471" y="36779"/>
                    <a:pt x="7230" y="36342"/>
                  </a:cubicBezTo>
                  <a:lnTo>
                    <a:pt x="15787" y="31405"/>
                  </a:lnTo>
                  <a:lnTo>
                    <a:pt x="15787" y="41279"/>
                  </a:lnTo>
                  <a:cubicBezTo>
                    <a:pt x="15787" y="43947"/>
                    <a:pt x="17948" y="46101"/>
                    <a:pt x="20609" y="46101"/>
                  </a:cubicBezTo>
                  <a:cubicBezTo>
                    <a:pt x="23271" y="46101"/>
                    <a:pt x="25431" y="43947"/>
                    <a:pt x="25431" y="41279"/>
                  </a:cubicBezTo>
                  <a:lnTo>
                    <a:pt x="25431" y="31405"/>
                  </a:lnTo>
                  <a:lnTo>
                    <a:pt x="33989" y="36342"/>
                  </a:lnTo>
                  <a:cubicBezTo>
                    <a:pt x="34747" y="36779"/>
                    <a:pt x="35577" y="36991"/>
                    <a:pt x="36393" y="36991"/>
                  </a:cubicBezTo>
                  <a:cubicBezTo>
                    <a:pt x="38065" y="36991"/>
                    <a:pt x="39685" y="36124"/>
                    <a:pt x="40579" y="34574"/>
                  </a:cubicBezTo>
                  <a:cubicBezTo>
                    <a:pt x="41910" y="32273"/>
                    <a:pt x="41119" y="29322"/>
                    <a:pt x="38811" y="27991"/>
                  </a:cubicBezTo>
                  <a:lnTo>
                    <a:pt x="30253" y="23054"/>
                  </a:lnTo>
                  <a:lnTo>
                    <a:pt x="38811" y="18110"/>
                  </a:lnTo>
                  <a:cubicBezTo>
                    <a:pt x="41119" y="16779"/>
                    <a:pt x="41910" y="13828"/>
                    <a:pt x="40579" y="115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45"/>
            <p:cNvSpPr/>
            <p:nvPr/>
          </p:nvSpPr>
          <p:spPr>
            <a:xfrm>
              <a:off x="3528198" y="2481109"/>
              <a:ext cx="41224" cy="46101"/>
            </a:xfrm>
            <a:custGeom>
              <a:avLst/>
              <a:gdLst/>
              <a:ahLst/>
              <a:cxnLst/>
              <a:rect l="l" t="t" r="r" b="b"/>
              <a:pathLst>
                <a:path w="41224" h="46101" extrusionOk="0">
                  <a:moveTo>
                    <a:pt x="40579" y="11527"/>
                  </a:moveTo>
                  <a:cubicBezTo>
                    <a:pt x="39248" y="9219"/>
                    <a:pt x="36297" y="8428"/>
                    <a:pt x="33989" y="9759"/>
                  </a:cubicBezTo>
                  <a:lnTo>
                    <a:pt x="25431" y="14703"/>
                  </a:lnTo>
                  <a:lnTo>
                    <a:pt x="25431" y="4822"/>
                  </a:lnTo>
                  <a:cubicBezTo>
                    <a:pt x="25431" y="2160"/>
                    <a:pt x="23271" y="0"/>
                    <a:pt x="20609" y="0"/>
                  </a:cubicBezTo>
                  <a:cubicBezTo>
                    <a:pt x="17948" y="0"/>
                    <a:pt x="15787" y="2160"/>
                    <a:pt x="15787" y="4822"/>
                  </a:cubicBezTo>
                  <a:lnTo>
                    <a:pt x="15787" y="14703"/>
                  </a:lnTo>
                  <a:lnTo>
                    <a:pt x="7230" y="9759"/>
                  </a:lnTo>
                  <a:cubicBezTo>
                    <a:pt x="4928" y="8428"/>
                    <a:pt x="1977" y="9219"/>
                    <a:pt x="646" y="11527"/>
                  </a:cubicBezTo>
                  <a:cubicBezTo>
                    <a:pt x="-685" y="13828"/>
                    <a:pt x="106" y="16779"/>
                    <a:pt x="2408" y="18110"/>
                  </a:cubicBezTo>
                  <a:lnTo>
                    <a:pt x="10965" y="23054"/>
                  </a:lnTo>
                  <a:lnTo>
                    <a:pt x="2408" y="27991"/>
                  </a:lnTo>
                  <a:cubicBezTo>
                    <a:pt x="106" y="29322"/>
                    <a:pt x="-685" y="32273"/>
                    <a:pt x="646" y="34581"/>
                  </a:cubicBezTo>
                  <a:cubicBezTo>
                    <a:pt x="1540" y="36124"/>
                    <a:pt x="3160" y="36991"/>
                    <a:pt x="4825" y="36991"/>
                  </a:cubicBezTo>
                  <a:cubicBezTo>
                    <a:pt x="5642" y="36991"/>
                    <a:pt x="6471" y="36779"/>
                    <a:pt x="7230" y="36342"/>
                  </a:cubicBezTo>
                  <a:lnTo>
                    <a:pt x="15787" y="31405"/>
                  </a:lnTo>
                  <a:lnTo>
                    <a:pt x="15787" y="41279"/>
                  </a:lnTo>
                  <a:cubicBezTo>
                    <a:pt x="15787" y="43947"/>
                    <a:pt x="17948" y="46101"/>
                    <a:pt x="20609" y="46101"/>
                  </a:cubicBezTo>
                  <a:cubicBezTo>
                    <a:pt x="23271" y="46101"/>
                    <a:pt x="25431" y="43947"/>
                    <a:pt x="25431" y="41279"/>
                  </a:cubicBezTo>
                  <a:lnTo>
                    <a:pt x="25431" y="31405"/>
                  </a:lnTo>
                  <a:lnTo>
                    <a:pt x="33989" y="36342"/>
                  </a:lnTo>
                  <a:cubicBezTo>
                    <a:pt x="34748" y="36779"/>
                    <a:pt x="35577" y="36991"/>
                    <a:pt x="36393" y="36991"/>
                  </a:cubicBezTo>
                  <a:cubicBezTo>
                    <a:pt x="38065" y="36991"/>
                    <a:pt x="39685" y="36124"/>
                    <a:pt x="40579" y="34574"/>
                  </a:cubicBezTo>
                  <a:cubicBezTo>
                    <a:pt x="41910" y="32273"/>
                    <a:pt x="41119" y="29322"/>
                    <a:pt x="38811" y="27991"/>
                  </a:cubicBezTo>
                  <a:lnTo>
                    <a:pt x="30253" y="23054"/>
                  </a:lnTo>
                  <a:lnTo>
                    <a:pt x="38811" y="18110"/>
                  </a:lnTo>
                  <a:cubicBezTo>
                    <a:pt x="41119" y="16779"/>
                    <a:pt x="41910" y="13828"/>
                    <a:pt x="40579" y="115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45"/>
            <p:cNvSpPr/>
            <p:nvPr/>
          </p:nvSpPr>
          <p:spPr>
            <a:xfrm>
              <a:off x="3579234" y="2481109"/>
              <a:ext cx="41225" cy="46101"/>
            </a:xfrm>
            <a:custGeom>
              <a:avLst/>
              <a:gdLst/>
              <a:ahLst/>
              <a:cxnLst/>
              <a:rect l="l" t="t" r="r" b="b"/>
              <a:pathLst>
                <a:path w="41225" h="46101" extrusionOk="0">
                  <a:moveTo>
                    <a:pt x="38817" y="27991"/>
                  </a:moveTo>
                  <a:lnTo>
                    <a:pt x="30260" y="23054"/>
                  </a:lnTo>
                  <a:lnTo>
                    <a:pt x="38817" y="18110"/>
                  </a:lnTo>
                  <a:cubicBezTo>
                    <a:pt x="41119" y="16779"/>
                    <a:pt x="41910" y="13835"/>
                    <a:pt x="40579" y="11527"/>
                  </a:cubicBezTo>
                  <a:cubicBezTo>
                    <a:pt x="39248" y="9219"/>
                    <a:pt x="36297" y="8428"/>
                    <a:pt x="33995" y="9759"/>
                  </a:cubicBezTo>
                  <a:lnTo>
                    <a:pt x="25438" y="14703"/>
                  </a:lnTo>
                  <a:lnTo>
                    <a:pt x="25438" y="4822"/>
                  </a:lnTo>
                  <a:cubicBezTo>
                    <a:pt x="25438" y="2160"/>
                    <a:pt x="23277" y="0"/>
                    <a:pt x="20616" y="0"/>
                  </a:cubicBezTo>
                  <a:cubicBezTo>
                    <a:pt x="17947" y="0"/>
                    <a:pt x="15794" y="2160"/>
                    <a:pt x="15794" y="4822"/>
                  </a:cubicBezTo>
                  <a:lnTo>
                    <a:pt x="15794" y="14703"/>
                  </a:lnTo>
                  <a:lnTo>
                    <a:pt x="7236" y="9759"/>
                  </a:lnTo>
                  <a:cubicBezTo>
                    <a:pt x="4928" y="8428"/>
                    <a:pt x="1977" y="9219"/>
                    <a:pt x="646" y="11527"/>
                  </a:cubicBezTo>
                  <a:cubicBezTo>
                    <a:pt x="-685" y="13828"/>
                    <a:pt x="106" y="16779"/>
                    <a:pt x="2414" y="18110"/>
                  </a:cubicBezTo>
                  <a:lnTo>
                    <a:pt x="10972" y="23054"/>
                  </a:lnTo>
                  <a:lnTo>
                    <a:pt x="2414" y="27991"/>
                  </a:lnTo>
                  <a:cubicBezTo>
                    <a:pt x="106" y="29322"/>
                    <a:pt x="-685" y="32273"/>
                    <a:pt x="646" y="34581"/>
                  </a:cubicBezTo>
                  <a:cubicBezTo>
                    <a:pt x="1540" y="36124"/>
                    <a:pt x="3160" y="36991"/>
                    <a:pt x="4825" y="36991"/>
                  </a:cubicBezTo>
                  <a:cubicBezTo>
                    <a:pt x="5648" y="36991"/>
                    <a:pt x="6477" y="36779"/>
                    <a:pt x="7236" y="36342"/>
                  </a:cubicBezTo>
                  <a:lnTo>
                    <a:pt x="15794" y="31405"/>
                  </a:lnTo>
                  <a:lnTo>
                    <a:pt x="15794" y="41279"/>
                  </a:lnTo>
                  <a:cubicBezTo>
                    <a:pt x="15794" y="43947"/>
                    <a:pt x="17947" y="46101"/>
                    <a:pt x="20616" y="46101"/>
                  </a:cubicBezTo>
                  <a:cubicBezTo>
                    <a:pt x="23277" y="46101"/>
                    <a:pt x="25438" y="43947"/>
                    <a:pt x="25438" y="41279"/>
                  </a:cubicBezTo>
                  <a:lnTo>
                    <a:pt x="25438" y="31405"/>
                  </a:lnTo>
                  <a:lnTo>
                    <a:pt x="33995" y="36342"/>
                  </a:lnTo>
                  <a:cubicBezTo>
                    <a:pt x="34754" y="36779"/>
                    <a:pt x="35583" y="36991"/>
                    <a:pt x="36400" y="36991"/>
                  </a:cubicBezTo>
                  <a:cubicBezTo>
                    <a:pt x="38065" y="36991"/>
                    <a:pt x="39685" y="36124"/>
                    <a:pt x="40579" y="34574"/>
                  </a:cubicBezTo>
                  <a:cubicBezTo>
                    <a:pt x="41910" y="32273"/>
                    <a:pt x="41119" y="29322"/>
                    <a:pt x="38817" y="2799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45"/>
            <p:cNvSpPr/>
            <p:nvPr/>
          </p:nvSpPr>
          <p:spPr>
            <a:xfrm>
              <a:off x="3411676" y="2366259"/>
              <a:ext cx="329180" cy="296631"/>
            </a:xfrm>
            <a:custGeom>
              <a:avLst/>
              <a:gdLst/>
              <a:ahLst/>
              <a:cxnLst/>
              <a:rect l="l" t="t" r="r" b="b"/>
              <a:pathLst>
                <a:path w="329180" h="296631" extrusionOk="0">
                  <a:moveTo>
                    <a:pt x="304447" y="0"/>
                  </a:moveTo>
                  <a:lnTo>
                    <a:pt x="294341" y="0"/>
                  </a:lnTo>
                  <a:cubicBezTo>
                    <a:pt x="291672" y="0"/>
                    <a:pt x="289519" y="2160"/>
                    <a:pt x="289519" y="4822"/>
                  </a:cubicBezTo>
                  <a:cubicBezTo>
                    <a:pt x="289519" y="7483"/>
                    <a:pt x="291672" y="9643"/>
                    <a:pt x="294341" y="9643"/>
                  </a:cubicBezTo>
                  <a:lnTo>
                    <a:pt x="304447" y="9643"/>
                  </a:lnTo>
                  <a:cubicBezTo>
                    <a:pt x="312767" y="9643"/>
                    <a:pt x="319537" y="16413"/>
                    <a:pt x="319537" y="24732"/>
                  </a:cubicBezTo>
                  <a:lnTo>
                    <a:pt x="319537" y="54940"/>
                  </a:lnTo>
                  <a:lnTo>
                    <a:pt x="9644" y="54940"/>
                  </a:lnTo>
                  <a:lnTo>
                    <a:pt x="9644" y="24732"/>
                  </a:lnTo>
                  <a:cubicBezTo>
                    <a:pt x="9644" y="16413"/>
                    <a:pt x="16414" y="9643"/>
                    <a:pt x="24734" y="9643"/>
                  </a:cubicBezTo>
                  <a:lnTo>
                    <a:pt x="269845" y="9643"/>
                  </a:lnTo>
                  <a:cubicBezTo>
                    <a:pt x="272506" y="9643"/>
                    <a:pt x="274667" y="7483"/>
                    <a:pt x="274667" y="4822"/>
                  </a:cubicBezTo>
                  <a:cubicBezTo>
                    <a:pt x="274667" y="2160"/>
                    <a:pt x="272506" y="0"/>
                    <a:pt x="269845" y="0"/>
                  </a:cubicBezTo>
                  <a:lnTo>
                    <a:pt x="24734" y="0"/>
                  </a:lnTo>
                  <a:cubicBezTo>
                    <a:pt x="11097" y="0"/>
                    <a:pt x="0" y="11096"/>
                    <a:pt x="0" y="24732"/>
                  </a:cubicBezTo>
                  <a:lnTo>
                    <a:pt x="0" y="226371"/>
                  </a:lnTo>
                  <a:cubicBezTo>
                    <a:pt x="0" y="240006"/>
                    <a:pt x="11097" y="251096"/>
                    <a:pt x="24734" y="251096"/>
                  </a:cubicBezTo>
                  <a:lnTo>
                    <a:pt x="159486" y="251096"/>
                  </a:lnTo>
                  <a:lnTo>
                    <a:pt x="174459" y="291340"/>
                  </a:lnTo>
                  <a:cubicBezTo>
                    <a:pt x="175340" y="293713"/>
                    <a:pt x="177346" y="295448"/>
                    <a:pt x="179815" y="295982"/>
                  </a:cubicBezTo>
                  <a:cubicBezTo>
                    <a:pt x="182290" y="296522"/>
                    <a:pt x="184830" y="295776"/>
                    <a:pt x="186617" y="293989"/>
                  </a:cubicBezTo>
                  <a:lnTo>
                    <a:pt x="202890" y="277711"/>
                  </a:lnTo>
                  <a:lnTo>
                    <a:pt x="219458" y="294278"/>
                  </a:lnTo>
                  <a:cubicBezTo>
                    <a:pt x="221027" y="295847"/>
                    <a:pt x="223084" y="296631"/>
                    <a:pt x="225142" y="296631"/>
                  </a:cubicBezTo>
                  <a:cubicBezTo>
                    <a:pt x="227199" y="296631"/>
                    <a:pt x="229257" y="295847"/>
                    <a:pt x="230825" y="294278"/>
                  </a:cubicBezTo>
                  <a:lnTo>
                    <a:pt x="241074" y="284031"/>
                  </a:lnTo>
                  <a:cubicBezTo>
                    <a:pt x="242591" y="282513"/>
                    <a:pt x="243427" y="280495"/>
                    <a:pt x="243427" y="278354"/>
                  </a:cubicBezTo>
                  <a:cubicBezTo>
                    <a:pt x="243427" y="276207"/>
                    <a:pt x="242591" y="274188"/>
                    <a:pt x="241074" y="272671"/>
                  </a:cubicBezTo>
                  <a:lnTo>
                    <a:pt x="224505" y="256104"/>
                  </a:lnTo>
                  <a:lnTo>
                    <a:pt x="240784" y="239826"/>
                  </a:lnTo>
                  <a:cubicBezTo>
                    <a:pt x="242572" y="238039"/>
                    <a:pt x="243317" y="235500"/>
                    <a:pt x="242777" y="233031"/>
                  </a:cubicBezTo>
                  <a:cubicBezTo>
                    <a:pt x="242237" y="230556"/>
                    <a:pt x="240501" y="228557"/>
                    <a:pt x="238135" y="227669"/>
                  </a:cubicBezTo>
                  <a:lnTo>
                    <a:pt x="153178" y="196059"/>
                  </a:lnTo>
                  <a:cubicBezTo>
                    <a:pt x="150195" y="194947"/>
                    <a:pt x="146942" y="195654"/>
                    <a:pt x="144692" y="197904"/>
                  </a:cubicBezTo>
                  <a:cubicBezTo>
                    <a:pt x="142442" y="200154"/>
                    <a:pt x="141734" y="203407"/>
                    <a:pt x="142840" y="206390"/>
                  </a:cubicBezTo>
                  <a:lnTo>
                    <a:pt x="155892" y="241459"/>
                  </a:lnTo>
                  <a:lnTo>
                    <a:pt x="24734" y="241459"/>
                  </a:lnTo>
                  <a:cubicBezTo>
                    <a:pt x="16414" y="241459"/>
                    <a:pt x="9644" y="234690"/>
                    <a:pt x="9644" y="226371"/>
                  </a:cubicBezTo>
                  <a:lnTo>
                    <a:pt x="9644" y="64584"/>
                  </a:lnTo>
                  <a:lnTo>
                    <a:pt x="319537" y="64584"/>
                  </a:lnTo>
                  <a:lnTo>
                    <a:pt x="319537" y="226371"/>
                  </a:lnTo>
                  <a:cubicBezTo>
                    <a:pt x="319537" y="234690"/>
                    <a:pt x="312767" y="241453"/>
                    <a:pt x="304447" y="241453"/>
                  </a:cubicBezTo>
                  <a:lnTo>
                    <a:pt x="258542" y="241453"/>
                  </a:lnTo>
                  <a:cubicBezTo>
                    <a:pt x="255874" y="241453"/>
                    <a:pt x="253720" y="243613"/>
                    <a:pt x="253720" y="246274"/>
                  </a:cubicBezTo>
                  <a:cubicBezTo>
                    <a:pt x="253720" y="248942"/>
                    <a:pt x="255874" y="251096"/>
                    <a:pt x="258542" y="251096"/>
                  </a:cubicBezTo>
                  <a:lnTo>
                    <a:pt x="304447" y="251096"/>
                  </a:lnTo>
                  <a:cubicBezTo>
                    <a:pt x="318084" y="251096"/>
                    <a:pt x="329181" y="240006"/>
                    <a:pt x="329181" y="226371"/>
                  </a:cubicBezTo>
                  <a:lnTo>
                    <a:pt x="329181" y="24732"/>
                  </a:lnTo>
                  <a:cubicBezTo>
                    <a:pt x="329181" y="11096"/>
                    <a:pt x="318084" y="0"/>
                    <a:pt x="304447" y="0"/>
                  </a:cubicBezTo>
                  <a:close/>
                  <a:moveTo>
                    <a:pt x="231481" y="235487"/>
                  </a:moveTo>
                  <a:lnTo>
                    <a:pt x="214276" y="252690"/>
                  </a:lnTo>
                  <a:cubicBezTo>
                    <a:pt x="212392" y="254574"/>
                    <a:pt x="212392" y="257628"/>
                    <a:pt x="214276" y="259511"/>
                  </a:cubicBezTo>
                  <a:lnTo>
                    <a:pt x="233114" y="278348"/>
                  </a:lnTo>
                  <a:lnTo>
                    <a:pt x="225142" y="286326"/>
                  </a:lnTo>
                  <a:lnTo>
                    <a:pt x="206304" y="267483"/>
                  </a:lnTo>
                  <a:cubicBezTo>
                    <a:pt x="205397" y="266583"/>
                    <a:pt x="204169" y="266069"/>
                    <a:pt x="202890" y="266069"/>
                  </a:cubicBezTo>
                  <a:cubicBezTo>
                    <a:pt x="201611" y="266069"/>
                    <a:pt x="200389" y="266583"/>
                    <a:pt x="199482" y="267483"/>
                  </a:cubicBezTo>
                  <a:lnTo>
                    <a:pt x="182278" y="284693"/>
                  </a:lnTo>
                  <a:lnTo>
                    <a:pt x="153108" y="206319"/>
                  </a:lnTo>
                  <a:lnTo>
                    <a:pt x="231481" y="23548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45" name="Google Shape;445;p45"/>
          <p:cNvCxnSpPr>
            <a:stCxn id="379" idx="3"/>
            <a:endCxn id="368" idx="0"/>
          </p:cNvCxnSpPr>
          <p:nvPr/>
        </p:nvCxnSpPr>
        <p:spPr>
          <a:xfrm>
            <a:off x="1384200" y="1553988"/>
            <a:ext cx="509400" cy="3729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46" name="Google Shape;446;p45"/>
          <p:cNvCxnSpPr>
            <a:cxnSpLocks/>
            <a:endCxn id="374" idx="0"/>
          </p:cNvCxnSpPr>
          <p:nvPr/>
        </p:nvCxnSpPr>
        <p:spPr>
          <a:xfrm>
            <a:off x="1384100" y="3421425"/>
            <a:ext cx="509400" cy="372899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47" name="Google Shape;447;p45"/>
          <p:cNvCxnSpPr>
            <a:cxnSpLocks/>
            <a:endCxn id="372" idx="0"/>
          </p:cNvCxnSpPr>
          <p:nvPr/>
        </p:nvCxnSpPr>
        <p:spPr>
          <a:xfrm>
            <a:off x="4055350" y="1554000"/>
            <a:ext cx="511763" cy="372899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48" name="Google Shape;448;p45"/>
          <p:cNvCxnSpPr>
            <a:cxnSpLocks/>
            <a:endCxn id="378" idx="0"/>
          </p:cNvCxnSpPr>
          <p:nvPr/>
        </p:nvCxnSpPr>
        <p:spPr>
          <a:xfrm>
            <a:off x="4055375" y="3421425"/>
            <a:ext cx="514200" cy="3729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49" name="Google Shape;449;p45"/>
          <p:cNvCxnSpPr>
            <a:stCxn id="384" idx="3"/>
            <a:endCxn id="376" idx="0"/>
          </p:cNvCxnSpPr>
          <p:nvPr/>
        </p:nvCxnSpPr>
        <p:spPr>
          <a:xfrm>
            <a:off x="6726550" y="3421425"/>
            <a:ext cx="519000" cy="3729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50" name="Google Shape;450;p45"/>
          <p:cNvCxnSpPr>
            <a:cxnSpLocks/>
            <a:stCxn id="383" idx="3"/>
            <a:endCxn id="370" idx="0"/>
          </p:cNvCxnSpPr>
          <p:nvPr/>
        </p:nvCxnSpPr>
        <p:spPr>
          <a:xfrm>
            <a:off x="6726550" y="1553988"/>
            <a:ext cx="519038" cy="372912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grpSp>
        <p:nvGrpSpPr>
          <p:cNvPr id="5" name="Google Shape;12993;p89">
            <a:extLst>
              <a:ext uri="{FF2B5EF4-FFF2-40B4-BE49-F238E27FC236}">
                <a16:creationId xmlns:a16="http://schemas.microsoft.com/office/drawing/2014/main" id="{306C55F5-22CF-C228-8D8F-48AD0CCC8048}"/>
              </a:ext>
            </a:extLst>
          </p:cNvPr>
          <p:cNvGrpSpPr/>
          <p:nvPr/>
        </p:nvGrpSpPr>
        <p:grpSpPr>
          <a:xfrm>
            <a:off x="6244565" y="3282885"/>
            <a:ext cx="327085" cy="277080"/>
            <a:chOff x="2770052" y="2009628"/>
            <a:chExt cx="327085" cy="277080"/>
          </a:xfrm>
        </p:grpSpPr>
        <p:sp>
          <p:nvSpPr>
            <p:cNvPr id="6" name="Google Shape;12994;p89">
              <a:extLst>
                <a:ext uri="{FF2B5EF4-FFF2-40B4-BE49-F238E27FC236}">
                  <a16:creationId xmlns:a16="http://schemas.microsoft.com/office/drawing/2014/main" id="{07D9BACD-E554-ACD9-EC24-C47785BAD532}"/>
                </a:ext>
              </a:extLst>
            </p:cNvPr>
            <p:cNvSpPr/>
            <p:nvPr/>
          </p:nvSpPr>
          <p:spPr>
            <a:xfrm>
              <a:off x="2770052" y="2023537"/>
              <a:ext cx="327085" cy="263170"/>
            </a:xfrm>
            <a:custGeom>
              <a:avLst/>
              <a:gdLst/>
              <a:ahLst/>
              <a:cxnLst/>
              <a:rect l="l" t="t" r="r" b="b"/>
              <a:pathLst>
                <a:path w="10276" h="8268" extrusionOk="0">
                  <a:moveTo>
                    <a:pt x="6251" y="2267"/>
                  </a:moveTo>
                  <a:lnTo>
                    <a:pt x="7061" y="2541"/>
                  </a:lnTo>
                  <a:cubicBezTo>
                    <a:pt x="7073" y="2544"/>
                    <a:pt x="7086" y="2545"/>
                    <a:pt x="7098" y="2545"/>
                  </a:cubicBezTo>
                  <a:cubicBezTo>
                    <a:pt x="7136" y="2545"/>
                    <a:pt x="7174" y="2532"/>
                    <a:pt x="7192" y="2505"/>
                  </a:cubicBezTo>
                  <a:lnTo>
                    <a:pt x="7454" y="2314"/>
                  </a:lnTo>
                  <a:lnTo>
                    <a:pt x="9240" y="4660"/>
                  </a:lnTo>
                  <a:lnTo>
                    <a:pt x="8978" y="4874"/>
                  </a:lnTo>
                  <a:cubicBezTo>
                    <a:pt x="8966" y="4862"/>
                    <a:pt x="8942" y="4839"/>
                    <a:pt x="8930" y="4839"/>
                  </a:cubicBezTo>
                  <a:lnTo>
                    <a:pt x="5811" y="3148"/>
                  </a:lnTo>
                  <a:lnTo>
                    <a:pt x="5930" y="2969"/>
                  </a:lnTo>
                  <a:cubicBezTo>
                    <a:pt x="5978" y="2898"/>
                    <a:pt x="5966" y="2803"/>
                    <a:pt x="5894" y="2755"/>
                  </a:cubicBezTo>
                  <a:cubicBezTo>
                    <a:pt x="5864" y="2742"/>
                    <a:pt x="5834" y="2735"/>
                    <a:pt x="5806" y="2735"/>
                  </a:cubicBezTo>
                  <a:cubicBezTo>
                    <a:pt x="5756" y="2735"/>
                    <a:pt x="5710" y="2757"/>
                    <a:pt x="5680" y="2803"/>
                  </a:cubicBezTo>
                  <a:lnTo>
                    <a:pt x="5358" y="3326"/>
                  </a:lnTo>
                  <a:cubicBezTo>
                    <a:pt x="5335" y="3350"/>
                    <a:pt x="5323" y="3374"/>
                    <a:pt x="5323" y="3398"/>
                  </a:cubicBezTo>
                  <a:lnTo>
                    <a:pt x="5323" y="4684"/>
                  </a:lnTo>
                  <a:cubicBezTo>
                    <a:pt x="5323" y="4946"/>
                    <a:pt x="5097" y="5172"/>
                    <a:pt x="4835" y="5172"/>
                  </a:cubicBezTo>
                  <a:cubicBezTo>
                    <a:pt x="4561" y="5172"/>
                    <a:pt x="4346" y="4946"/>
                    <a:pt x="4346" y="4684"/>
                  </a:cubicBezTo>
                  <a:lnTo>
                    <a:pt x="4346" y="3410"/>
                  </a:lnTo>
                  <a:lnTo>
                    <a:pt x="4620" y="2267"/>
                  </a:lnTo>
                  <a:close/>
                  <a:moveTo>
                    <a:pt x="2680" y="1767"/>
                  </a:moveTo>
                  <a:lnTo>
                    <a:pt x="2918" y="1898"/>
                  </a:lnTo>
                  <a:lnTo>
                    <a:pt x="941" y="5303"/>
                  </a:lnTo>
                  <a:lnTo>
                    <a:pt x="703" y="5172"/>
                  </a:lnTo>
                  <a:lnTo>
                    <a:pt x="2680" y="1767"/>
                  </a:lnTo>
                  <a:close/>
                  <a:moveTo>
                    <a:pt x="3180" y="4743"/>
                  </a:moveTo>
                  <a:cubicBezTo>
                    <a:pt x="3287" y="4743"/>
                    <a:pt x="3370" y="4779"/>
                    <a:pt x="3442" y="4874"/>
                  </a:cubicBezTo>
                  <a:cubicBezTo>
                    <a:pt x="3561" y="5017"/>
                    <a:pt x="3525" y="5231"/>
                    <a:pt x="3370" y="5339"/>
                  </a:cubicBezTo>
                  <a:lnTo>
                    <a:pt x="2322" y="6112"/>
                  </a:lnTo>
                  <a:cubicBezTo>
                    <a:pt x="2262" y="6150"/>
                    <a:pt x="2194" y="6169"/>
                    <a:pt x="2127" y="6169"/>
                  </a:cubicBezTo>
                  <a:cubicBezTo>
                    <a:pt x="2023" y="6169"/>
                    <a:pt x="1923" y="6123"/>
                    <a:pt x="1858" y="6029"/>
                  </a:cubicBezTo>
                  <a:cubicBezTo>
                    <a:pt x="1751" y="5886"/>
                    <a:pt x="1787" y="5672"/>
                    <a:pt x="1929" y="5565"/>
                  </a:cubicBezTo>
                  <a:lnTo>
                    <a:pt x="2989" y="4803"/>
                  </a:lnTo>
                  <a:cubicBezTo>
                    <a:pt x="3049" y="4755"/>
                    <a:pt x="3120" y="4743"/>
                    <a:pt x="3180" y="4743"/>
                  </a:cubicBezTo>
                  <a:close/>
                  <a:moveTo>
                    <a:pt x="3775" y="5493"/>
                  </a:moveTo>
                  <a:cubicBezTo>
                    <a:pt x="3870" y="5493"/>
                    <a:pt x="3954" y="5553"/>
                    <a:pt x="4013" y="5636"/>
                  </a:cubicBezTo>
                  <a:cubicBezTo>
                    <a:pt x="4132" y="5779"/>
                    <a:pt x="4085" y="5993"/>
                    <a:pt x="3942" y="6089"/>
                  </a:cubicBezTo>
                  <a:lnTo>
                    <a:pt x="3132" y="6708"/>
                  </a:lnTo>
                  <a:cubicBezTo>
                    <a:pt x="3076" y="6745"/>
                    <a:pt x="3013" y="6764"/>
                    <a:pt x="2949" y="6764"/>
                  </a:cubicBezTo>
                  <a:cubicBezTo>
                    <a:pt x="2851" y="6764"/>
                    <a:pt x="2752" y="6718"/>
                    <a:pt x="2680" y="6624"/>
                  </a:cubicBezTo>
                  <a:cubicBezTo>
                    <a:pt x="2572" y="6482"/>
                    <a:pt x="2596" y="6255"/>
                    <a:pt x="2751" y="6148"/>
                  </a:cubicBezTo>
                  <a:lnTo>
                    <a:pt x="3537" y="5589"/>
                  </a:lnTo>
                  <a:cubicBezTo>
                    <a:pt x="3573" y="5565"/>
                    <a:pt x="3596" y="5541"/>
                    <a:pt x="3620" y="5529"/>
                  </a:cubicBezTo>
                  <a:cubicBezTo>
                    <a:pt x="3668" y="5517"/>
                    <a:pt x="3715" y="5493"/>
                    <a:pt x="3775" y="5493"/>
                  </a:cubicBezTo>
                  <a:close/>
                  <a:moveTo>
                    <a:pt x="4359" y="6281"/>
                  </a:moveTo>
                  <a:cubicBezTo>
                    <a:pt x="4454" y="6281"/>
                    <a:pt x="4550" y="6321"/>
                    <a:pt x="4620" y="6398"/>
                  </a:cubicBezTo>
                  <a:cubicBezTo>
                    <a:pt x="4739" y="6553"/>
                    <a:pt x="4704" y="6755"/>
                    <a:pt x="4549" y="6863"/>
                  </a:cubicBezTo>
                  <a:lnTo>
                    <a:pt x="3954" y="7303"/>
                  </a:lnTo>
                  <a:cubicBezTo>
                    <a:pt x="3898" y="7331"/>
                    <a:pt x="3829" y="7358"/>
                    <a:pt x="3767" y="7358"/>
                  </a:cubicBezTo>
                  <a:cubicBezTo>
                    <a:pt x="3749" y="7358"/>
                    <a:pt x="3732" y="7356"/>
                    <a:pt x="3715" y="7351"/>
                  </a:cubicBezTo>
                  <a:cubicBezTo>
                    <a:pt x="3620" y="7339"/>
                    <a:pt x="3549" y="7303"/>
                    <a:pt x="3513" y="7220"/>
                  </a:cubicBezTo>
                  <a:cubicBezTo>
                    <a:pt x="3406" y="7077"/>
                    <a:pt x="3430" y="6863"/>
                    <a:pt x="3584" y="6755"/>
                  </a:cubicBezTo>
                  <a:lnTo>
                    <a:pt x="4144" y="6363"/>
                  </a:lnTo>
                  <a:lnTo>
                    <a:pt x="4168" y="6339"/>
                  </a:lnTo>
                  <a:cubicBezTo>
                    <a:pt x="4226" y="6300"/>
                    <a:pt x="4292" y="6281"/>
                    <a:pt x="4359" y="6281"/>
                  </a:cubicBezTo>
                  <a:close/>
                  <a:moveTo>
                    <a:pt x="2870" y="2553"/>
                  </a:moveTo>
                  <a:lnTo>
                    <a:pt x="3156" y="2707"/>
                  </a:lnTo>
                  <a:cubicBezTo>
                    <a:pt x="3173" y="2725"/>
                    <a:pt x="3197" y="2736"/>
                    <a:pt x="3218" y="2736"/>
                  </a:cubicBezTo>
                  <a:cubicBezTo>
                    <a:pt x="3226" y="2736"/>
                    <a:pt x="3233" y="2734"/>
                    <a:pt x="3239" y="2731"/>
                  </a:cubicBezTo>
                  <a:lnTo>
                    <a:pt x="3942" y="2636"/>
                  </a:lnTo>
                  <a:lnTo>
                    <a:pt x="4192" y="2743"/>
                  </a:lnTo>
                  <a:lnTo>
                    <a:pt x="4049" y="3338"/>
                  </a:lnTo>
                  <a:lnTo>
                    <a:pt x="4049" y="3362"/>
                  </a:lnTo>
                  <a:lnTo>
                    <a:pt x="4049" y="4648"/>
                  </a:lnTo>
                  <a:cubicBezTo>
                    <a:pt x="4049" y="5077"/>
                    <a:pt x="4406" y="5434"/>
                    <a:pt x="4835" y="5434"/>
                  </a:cubicBezTo>
                  <a:cubicBezTo>
                    <a:pt x="5263" y="5434"/>
                    <a:pt x="5620" y="5077"/>
                    <a:pt x="5620" y="4648"/>
                  </a:cubicBezTo>
                  <a:lnTo>
                    <a:pt x="5620" y="3410"/>
                  </a:lnTo>
                  <a:lnTo>
                    <a:pt x="5656" y="3362"/>
                  </a:lnTo>
                  <a:lnTo>
                    <a:pt x="8776" y="5065"/>
                  </a:lnTo>
                  <a:cubicBezTo>
                    <a:pt x="8942" y="5184"/>
                    <a:pt x="9002" y="5374"/>
                    <a:pt x="8907" y="5541"/>
                  </a:cubicBezTo>
                  <a:cubicBezTo>
                    <a:pt x="8850" y="5654"/>
                    <a:pt x="8745" y="5717"/>
                    <a:pt x="8631" y="5717"/>
                  </a:cubicBezTo>
                  <a:cubicBezTo>
                    <a:pt x="8576" y="5717"/>
                    <a:pt x="8520" y="5703"/>
                    <a:pt x="8466" y="5672"/>
                  </a:cubicBezTo>
                  <a:lnTo>
                    <a:pt x="6740" y="4743"/>
                  </a:lnTo>
                  <a:cubicBezTo>
                    <a:pt x="6711" y="4727"/>
                    <a:pt x="6682" y="4719"/>
                    <a:pt x="6655" y="4719"/>
                  </a:cubicBezTo>
                  <a:cubicBezTo>
                    <a:pt x="6603" y="4719"/>
                    <a:pt x="6557" y="4748"/>
                    <a:pt x="6525" y="4803"/>
                  </a:cubicBezTo>
                  <a:cubicBezTo>
                    <a:pt x="6490" y="4874"/>
                    <a:pt x="6513" y="4958"/>
                    <a:pt x="6585" y="5005"/>
                  </a:cubicBezTo>
                  <a:lnTo>
                    <a:pt x="8037" y="5791"/>
                  </a:lnTo>
                  <a:cubicBezTo>
                    <a:pt x="8192" y="5886"/>
                    <a:pt x="8252" y="6077"/>
                    <a:pt x="8168" y="6243"/>
                  </a:cubicBezTo>
                  <a:cubicBezTo>
                    <a:pt x="8104" y="6356"/>
                    <a:pt x="7996" y="6415"/>
                    <a:pt x="7881" y="6415"/>
                  </a:cubicBezTo>
                  <a:cubicBezTo>
                    <a:pt x="7826" y="6415"/>
                    <a:pt x="7770" y="6401"/>
                    <a:pt x="7716" y="6374"/>
                  </a:cubicBezTo>
                  <a:lnTo>
                    <a:pt x="6251" y="5565"/>
                  </a:lnTo>
                  <a:cubicBezTo>
                    <a:pt x="6226" y="5554"/>
                    <a:pt x="6200" y="5548"/>
                    <a:pt x="6175" y="5548"/>
                  </a:cubicBezTo>
                  <a:cubicBezTo>
                    <a:pt x="6120" y="5548"/>
                    <a:pt x="6070" y="5575"/>
                    <a:pt x="6037" y="5624"/>
                  </a:cubicBezTo>
                  <a:cubicBezTo>
                    <a:pt x="5990" y="5708"/>
                    <a:pt x="6025" y="5791"/>
                    <a:pt x="6097" y="5839"/>
                  </a:cubicBezTo>
                  <a:lnTo>
                    <a:pt x="7287" y="6493"/>
                  </a:lnTo>
                  <a:cubicBezTo>
                    <a:pt x="7454" y="6577"/>
                    <a:pt x="7514" y="6779"/>
                    <a:pt x="7418" y="6934"/>
                  </a:cubicBezTo>
                  <a:cubicBezTo>
                    <a:pt x="7360" y="7050"/>
                    <a:pt x="7250" y="7114"/>
                    <a:pt x="7132" y="7114"/>
                  </a:cubicBezTo>
                  <a:cubicBezTo>
                    <a:pt x="7081" y="7114"/>
                    <a:pt x="7028" y="7102"/>
                    <a:pt x="6978" y="7077"/>
                  </a:cubicBezTo>
                  <a:lnTo>
                    <a:pt x="5728" y="6386"/>
                  </a:lnTo>
                  <a:cubicBezTo>
                    <a:pt x="5705" y="6371"/>
                    <a:pt x="5680" y="6365"/>
                    <a:pt x="5655" y="6365"/>
                  </a:cubicBezTo>
                  <a:cubicBezTo>
                    <a:pt x="5601" y="6365"/>
                    <a:pt x="5546" y="6397"/>
                    <a:pt x="5513" y="6446"/>
                  </a:cubicBezTo>
                  <a:cubicBezTo>
                    <a:pt x="5478" y="6517"/>
                    <a:pt x="5501" y="6613"/>
                    <a:pt x="5573" y="6660"/>
                  </a:cubicBezTo>
                  <a:lnTo>
                    <a:pt x="6549" y="7172"/>
                  </a:lnTo>
                  <a:cubicBezTo>
                    <a:pt x="6704" y="7267"/>
                    <a:pt x="6763" y="7458"/>
                    <a:pt x="6680" y="7625"/>
                  </a:cubicBezTo>
                  <a:cubicBezTo>
                    <a:pt x="6616" y="7737"/>
                    <a:pt x="6508" y="7801"/>
                    <a:pt x="6393" y="7801"/>
                  </a:cubicBezTo>
                  <a:cubicBezTo>
                    <a:pt x="6338" y="7801"/>
                    <a:pt x="6282" y="7786"/>
                    <a:pt x="6228" y="7756"/>
                  </a:cubicBezTo>
                  <a:lnTo>
                    <a:pt x="5549" y="7386"/>
                  </a:lnTo>
                  <a:cubicBezTo>
                    <a:pt x="5549" y="7255"/>
                    <a:pt x="5501" y="7101"/>
                    <a:pt x="5406" y="6994"/>
                  </a:cubicBezTo>
                  <a:cubicBezTo>
                    <a:pt x="5299" y="6851"/>
                    <a:pt x="5132" y="6755"/>
                    <a:pt x="4954" y="6744"/>
                  </a:cubicBezTo>
                  <a:lnTo>
                    <a:pt x="4954" y="6696"/>
                  </a:lnTo>
                  <a:cubicBezTo>
                    <a:pt x="4977" y="6541"/>
                    <a:pt x="4930" y="6363"/>
                    <a:pt x="4835" y="6220"/>
                  </a:cubicBezTo>
                  <a:cubicBezTo>
                    <a:pt x="4716" y="6077"/>
                    <a:pt x="4549" y="5982"/>
                    <a:pt x="4370" y="5970"/>
                  </a:cubicBezTo>
                  <a:lnTo>
                    <a:pt x="4370" y="5922"/>
                  </a:lnTo>
                  <a:cubicBezTo>
                    <a:pt x="4406" y="5767"/>
                    <a:pt x="4358" y="5589"/>
                    <a:pt x="4251" y="5446"/>
                  </a:cubicBezTo>
                  <a:cubicBezTo>
                    <a:pt x="4132" y="5303"/>
                    <a:pt x="3965" y="5208"/>
                    <a:pt x="3787" y="5196"/>
                  </a:cubicBezTo>
                  <a:lnTo>
                    <a:pt x="3787" y="5148"/>
                  </a:lnTo>
                  <a:cubicBezTo>
                    <a:pt x="3823" y="4993"/>
                    <a:pt x="3775" y="4815"/>
                    <a:pt x="3668" y="4672"/>
                  </a:cubicBezTo>
                  <a:cubicBezTo>
                    <a:pt x="3547" y="4516"/>
                    <a:pt x="3359" y="4432"/>
                    <a:pt x="3172" y="4432"/>
                  </a:cubicBezTo>
                  <a:cubicBezTo>
                    <a:pt x="3044" y="4432"/>
                    <a:pt x="2917" y="4471"/>
                    <a:pt x="2811" y="4553"/>
                  </a:cubicBezTo>
                  <a:lnTo>
                    <a:pt x="1763" y="5315"/>
                  </a:lnTo>
                  <a:lnTo>
                    <a:pt x="1394" y="5112"/>
                  </a:lnTo>
                  <a:lnTo>
                    <a:pt x="2870" y="2553"/>
                  </a:lnTo>
                  <a:close/>
                  <a:moveTo>
                    <a:pt x="4936" y="7026"/>
                  </a:moveTo>
                  <a:cubicBezTo>
                    <a:pt x="5036" y="7026"/>
                    <a:pt x="5132" y="7070"/>
                    <a:pt x="5204" y="7148"/>
                  </a:cubicBezTo>
                  <a:cubicBezTo>
                    <a:pt x="5251" y="7244"/>
                    <a:pt x="5275" y="7315"/>
                    <a:pt x="5263" y="7398"/>
                  </a:cubicBezTo>
                  <a:cubicBezTo>
                    <a:pt x="5251" y="7494"/>
                    <a:pt x="5204" y="7565"/>
                    <a:pt x="5132" y="7625"/>
                  </a:cubicBezTo>
                  <a:lnTo>
                    <a:pt x="4787" y="7875"/>
                  </a:lnTo>
                  <a:cubicBezTo>
                    <a:pt x="4729" y="7918"/>
                    <a:pt x="4658" y="7940"/>
                    <a:pt x="4588" y="7940"/>
                  </a:cubicBezTo>
                  <a:cubicBezTo>
                    <a:pt x="4487" y="7940"/>
                    <a:pt x="4386" y="7895"/>
                    <a:pt x="4323" y="7803"/>
                  </a:cubicBezTo>
                  <a:cubicBezTo>
                    <a:pt x="4215" y="7660"/>
                    <a:pt x="4251" y="7446"/>
                    <a:pt x="4406" y="7339"/>
                  </a:cubicBezTo>
                  <a:lnTo>
                    <a:pt x="4727" y="7101"/>
                  </a:lnTo>
                  <a:lnTo>
                    <a:pt x="4739" y="7089"/>
                  </a:lnTo>
                  <a:cubicBezTo>
                    <a:pt x="4802" y="7046"/>
                    <a:pt x="4870" y="7026"/>
                    <a:pt x="4936" y="7026"/>
                  </a:cubicBezTo>
                  <a:close/>
                  <a:moveTo>
                    <a:pt x="180" y="0"/>
                  </a:moveTo>
                  <a:cubicBezTo>
                    <a:pt x="125" y="0"/>
                    <a:pt x="69" y="27"/>
                    <a:pt x="36" y="76"/>
                  </a:cubicBezTo>
                  <a:cubicBezTo>
                    <a:pt x="1" y="159"/>
                    <a:pt x="24" y="243"/>
                    <a:pt x="96" y="290"/>
                  </a:cubicBezTo>
                  <a:lnTo>
                    <a:pt x="2382" y="1600"/>
                  </a:lnTo>
                  <a:lnTo>
                    <a:pt x="405" y="5005"/>
                  </a:lnTo>
                  <a:lnTo>
                    <a:pt x="251" y="4922"/>
                  </a:lnTo>
                  <a:cubicBezTo>
                    <a:pt x="221" y="4905"/>
                    <a:pt x="192" y="4897"/>
                    <a:pt x="164" y="4897"/>
                  </a:cubicBezTo>
                  <a:cubicBezTo>
                    <a:pt x="113" y="4897"/>
                    <a:pt x="67" y="4923"/>
                    <a:pt x="36" y="4969"/>
                  </a:cubicBezTo>
                  <a:cubicBezTo>
                    <a:pt x="1" y="5053"/>
                    <a:pt x="24" y="5136"/>
                    <a:pt x="96" y="5184"/>
                  </a:cubicBezTo>
                  <a:lnTo>
                    <a:pt x="882" y="5648"/>
                  </a:lnTo>
                  <a:cubicBezTo>
                    <a:pt x="908" y="5663"/>
                    <a:pt x="934" y="5670"/>
                    <a:pt x="959" y="5670"/>
                  </a:cubicBezTo>
                  <a:cubicBezTo>
                    <a:pt x="1014" y="5670"/>
                    <a:pt x="1063" y="5638"/>
                    <a:pt x="1096" y="5589"/>
                  </a:cubicBezTo>
                  <a:lnTo>
                    <a:pt x="1215" y="5398"/>
                  </a:lnTo>
                  <a:lnTo>
                    <a:pt x="1537" y="5565"/>
                  </a:lnTo>
                  <a:cubicBezTo>
                    <a:pt x="1441" y="5779"/>
                    <a:pt x="1453" y="6029"/>
                    <a:pt x="1584" y="6220"/>
                  </a:cubicBezTo>
                  <a:cubicBezTo>
                    <a:pt x="1703" y="6386"/>
                    <a:pt x="1894" y="6482"/>
                    <a:pt x="2096" y="6482"/>
                  </a:cubicBezTo>
                  <a:cubicBezTo>
                    <a:pt x="2156" y="6482"/>
                    <a:pt x="2227" y="6458"/>
                    <a:pt x="2287" y="6446"/>
                  </a:cubicBezTo>
                  <a:cubicBezTo>
                    <a:pt x="2287" y="6577"/>
                    <a:pt x="2334" y="6720"/>
                    <a:pt x="2406" y="6815"/>
                  </a:cubicBezTo>
                  <a:cubicBezTo>
                    <a:pt x="2525" y="6982"/>
                    <a:pt x="2715" y="7077"/>
                    <a:pt x="2906" y="7077"/>
                  </a:cubicBezTo>
                  <a:cubicBezTo>
                    <a:pt x="2965" y="7077"/>
                    <a:pt x="3049" y="7053"/>
                    <a:pt x="3108" y="7041"/>
                  </a:cubicBezTo>
                  <a:cubicBezTo>
                    <a:pt x="3108" y="7160"/>
                    <a:pt x="3144" y="7291"/>
                    <a:pt x="3227" y="7398"/>
                  </a:cubicBezTo>
                  <a:cubicBezTo>
                    <a:pt x="3323" y="7529"/>
                    <a:pt x="3465" y="7625"/>
                    <a:pt x="3644" y="7648"/>
                  </a:cubicBezTo>
                  <a:cubicBezTo>
                    <a:pt x="3668" y="7648"/>
                    <a:pt x="3715" y="7672"/>
                    <a:pt x="3739" y="7672"/>
                  </a:cubicBezTo>
                  <a:cubicBezTo>
                    <a:pt x="3799" y="7672"/>
                    <a:pt x="3882" y="7648"/>
                    <a:pt x="3942" y="7636"/>
                  </a:cubicBezTo>
                  <a:cubicBezTo>
                    <a:pt x="3942" y="7767"/>
                    <a:pt x="3977" y="7886"/>
                    <a:pt x="4061" y="7994"/>
                  </a:cubicBezTo>
                  <a:cubicBezTo>
                    <a:pt x="4156" y="8125"/>
                    <a:pt x="4299" y="8220"/>
                    <a:pt x="4477" y="8244"/>
                  </a:cubicBezTo>
                  <a:cubicBezTo>
                    <a:pt x="4501" y="8244"/>
                    <a:pt x="4549" y="8267"/>
                    <a:pt x="4573" y="8267"/>
                  </a:cubicBezTo>
                  <a:cubicBezTo>
                    <a:pt x="4716" y="8267"/>
                    <a:pt x="4835" y="8220"/>
                    <a:pt x="4954" y="8148"/>
                  </a:cubicBezTo>
                  <a:lnTo>
                    <a:pt x="5287" y="7886"/>
                  </a:lnTo>
                  <a:cubicBezTo>
                    <a:pt x="5370" y="7827"/>
                    <a:pt x="5430" y="7767"/>
                    <a:pt x="5466" y="7684"/>
                  </a:cubicBezTo>
                  <a:lnTo>
                    <a:pt x="6085" y="8029"/>
                  </a:lnTo>
                  <a:cubicBezTo>
                    <a:pt x="6168" y="8077"/>
                    <a:pt x="6275" y="8101"/>
                    <a:pt x="6382" y="8101"/>
                  </a:cubicBezTo>
                  <a:cubicBezTo>
                    <a:pt x="6442" y="8101"/>
                    <a:pt x="6501" y="8089"/>
                    <a:pt x="6561" y="8077"/>
                  </a:cubicBezTo>
                  <a:cubicBezTo>
                    <a:pt x="6716" y="8029"/>
                    <a:pt x="6859" y="7922"/>
                    <a:pt x="6930" y="7779"/>
                  </a:cubicBezTo>
                  <a:cubicBezTo>
                    <a:pt x="6990" y="7648"/>
                    <a:pt x="7013" y="7529"/>
                    <a:pt x="7002" y="7398"/>
                  </a:cubicBezTo>
                  <a:cubicBezTo>
                    <a:pt x="7049" y="7398"/>
                    <a:pt x="7073" y="7422"/>
                    <a:pt x="7121" y="7422"/>
                  </a:cubicBezTo>
                  <a:cubicBezTo>
                    <a:pt x="7347" y="7422"/>
                    <a:pt x="7573" y="7303"/>
                    <a:pt x="7668" y="7089"/>
                  </a:cubicBezTo>
                  <a:cubicBezTo>
                    <a:pt x="7728" y="6970"/>
                    <a:pt x="7764" y="6839"/>
                    <a:pt x="7752" y="6720"/>
                  </a:cubicBezTo>
                  <a:cubicBezTo>
                    <a:pt x="7787" y="6720"/>
                    <a:pt x="7823" y="6732"/>
                    <a:pt x="7871" y="6732"/>
                  </a:cubicBezTo>
                  <a:cubicBezTo>
                    <a:pt x="8085" y="6732"/>
                    <a:pt x="8311" y="6613"/>
                    <a:pt x="8418" y="6410"/>
                  </a:cubicBezTo>
                  <a:cubicBezTo>
                    <a:pt x="8478" y="6291"/>
                    <a:pt x="8502" y="6172"/>
                    <a:pt x="8490" y="6029"/>
                  </a:cubicBezTo>
                  <a:cubicBezTo>
                    <a:pt x="8537" y="6029"/>
                    <a:pt x="8561" y="6053"/>
                    <a:pt x="8609" y="6053"/>
                  </a:cubicBezTo>
                  <a:cubicBezTo>
                    <a:pt x="8668" y="6053"/>
                    <a:pt x="8728" y="6029"/>
                    <a:pt x="8787" y="6017"/>
                  </a:cubicBezTo>
                  <a:cubicBezTo>
                    <a:pt x="8954" y="5970"/>
                    <a:pt x="9085" y="5874"/>
                    <a:pt x="9157" y="5720"/>
                  </a:cubicBezTo>
                  <a:cubicBezTo>
                    <a:pt x="9240" y="5577"/>
                    <a:pt x="9264" y="5410"/>
                    <a:pt x="9204" y="5243"/>
                  </a:cubicBezTo>
                  <a:cubicBezTo>
                    <a:pt x="9192" y="5196"/>
                    <a:pt x="9180" y="5172"/>
                    <a:pt x="9157" y="5136"/>
                  </a:cubicBezTo>
                  <a:lnTo>
                    <a:pt x="9430" y="4946"/>
                  </a:lnTo>
                  <a:lnTo>
                    <a:pt x="9561" y="5124"/>
                  </a:lnTo>
                  <a:cubicBezTo>
                    <a:pt x="9591" y="5161"/>
                    <a:pt x="9644" y="5180"/>
                    <a:pt x="9694" y="5180"/>
                  </a:cubicBezTo>
                  <a:cubicBezTo>
                    <a:pt x="9724" y="5180"/>
                    <a:pt x="9753" y="5173"/>
                    <a:pt x="9776" y="5160"/>
                  </a:cubicBezTo>
                  <a:lnTo>
                    <a:pt x="10192" y="4827"/>
                  </a:lnTo>
                  <a:cubicBezTo>
                    <a:pt x="10264" y="4743"/>
                    <a:pt x="10276" y="4648"/>
                    <a:pt x="10240" y="4577"/>
                  </a:cubicBezTo>
                  <a:cubicBezTo>
                    <a:pt x="10210" y="4539"/>
                    <a:pt x="10157" y="4521"/>
                    <a:pt x="10107" y="4521"/>
                  </a:cubicBezTo>
                  <a:cubicBezTo>
                    <a:pt x="10077" y="4521"/>
                    <a:pt x="10048" y="4527"/>
                    <a:pt x="10026" y="4541"/>
                  </a:cubicBezTo>
                  <a:lnTo>
                    <a:pt x="9728" y="4779"/>
                  </a:lnTo>
                  <a:lnTo>
                    <a:pt x="7347" y="1671"/>
                  </a:lnTo>
                  <a:lnTo>
                    <a:pt x="8704" y="790"/>
                  </a:lnTo>
                  <a:cubicBezTo>
                    <a:pt x="8776" y="755"/>
                    <a:pt x="8787" y="659"/>
                    <a:pt x="8752" y="588"/>
                  </a:cubicBezTo>
                  <a:cubicBezTo>
                    <a:pt x="8721" y="542"/>
                    <a:pt x="8670" y="516"/>
                    <a:pt x="8619" y="516"/>
                  </a:cubicBezTo>
                  <a:cubicBezTo>
                    <a:pt x="8591" y="516"/>
                    <a:pt x="8563" y="523"/>
                    <a:pt x="8537" y="540"/>
                  </a:cubicBezTo>
                  <a:lnTo>
                    <a:pt x="7049" y="1493"/>
                  </a:lnTo>
                  <a:cubicBezTo>
                    <a:pt x="6978" y="1540"/>
                    <a:pt x="6966" y="1648"/>
                    <a:pt x="7002" y="1719"/>
                  </a:cubicBezTo>
                  <a:lnTo>
                    <a:pt x="7275" y="2076"/>
                  </a:lnTo>
                  <a:lnTo>
                    <a:pt x="7085" y="2219"/>
                  </a:lnTo>
                  <a:lnTo>
                    <a:pt x="6311" y="1969"/>
                  </a:lnTo>
                  <a:cubicBezTo>
                    <a:pt x="6287" y="1969"/>
                    <a:pt x="6275" y="1957"/>
                    <a:pt x="6263" y="1957"/>
                  </a:cubicBezTo>
                  <a:lnTo>
                    <a:pt x="4501" y="1957"/>
                  </a:lnTo>
                  <a:cubicBezTo>
                    <a:pt x="4430" y="1957"/>
                    <a:pt x="4370" y="2005"/>
                    <a:pt x="4358" y="2076"/>
                  </a:cubicBezTo>
                  <a:lnTo>
                    <a:pt x="4251" y="2481"/>
                  </a:lnTo>
                  <a:lnTo>
                    <a:pt x="4001" y="2374"/>
                  </a:lnTo>
                  <a:cubicBezTo>
                    <a:pt x="3965" y="2362"/>
                    <a:pt x="3954" y="2362"/>
                    <a:pt x="3930" y="2362"/>
                  </a:cubicBezTo>
                  <a:lnTo>
                    <a:pt x="3227" y="2433"/>
                  </a:lnTo>
                  <a:lnTo>
                    <a:pt x="2989" y="2302"/>
                  </a:lnTo>
                  <a:lnTo>
                    <a:pt x="3215" y="1910"/>
                  </a:lnTo>
                  <a:cubicBezTo>
                    <a:pt x="3251" y="1838"/>
                    <a:pt x="3227" y="1743"/>
                    <a:pt x="3156" y="1707"/>
                  </a:cubicBezTo>
                  <a:lnTo>
                    <a:pt x="251" y="16"/>
                  </a:lnTo>
                  <a:cubicBezTo>
                    <a:pt x="229" y="5"/>
                    <a:pt x="204" y="0"/>
                    <a:pt x="18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2995;p89">
              <a:extLst>
                <a:ext uri="{FF2B5EF4-FFF2-40B4-BE49-F238E27FC236}">
                  <a16:creationId xmlns:a16="http://schemas.microsoft.com/office/drawing/2014/main" id="{6A7D9D36-486C-883D-1E50-0F094392BC6F}"/>
                </a:ext>
              </a:extLst>
            </p:cNvPr>
            <p:cNvSpPr/>
            <p:nvPr/>
          </p:nvSpPr>
          <p:spPr>
            <a:xfrm>
              <a:off x="3059960" y="2009628"/>
              <a:ext cx="37177" cy="26960"/>
            </a:xfrm>
            <a:custGeom>
              <a:avLst/>
              <a:gdLst/>
              <a:ahLst/>
              <a:cxnLst/>
              <a:rect l="l" t="t" r="r" b="b"/>
              <a:pathLst>
                <a:path w="1168" h="847" extrusionOk="0">
                  <a:moveTo>
                    <a:pt x="999" y="0"/>
                  </a:moveTo>
                  <a:cubicBezTo>
                    <a:pt x="971" y="0"/>
                    <a:pt x="943" y="8"/>
                    <a:pt x="918" y="25"/>
                  </a:cubicBezTo>
                  <a:lnTo>
                    <a:pt x="84" y="561"/>
                  </a:lnTo>
                  <a:cubicBezTo>
                    <a:pt x="13" y="608"/>
                    <a:pt x="1" y="692"/>
                    <a:pt x="37" y="775"/>
                  </a:cubicBezTo>
                  <a:cubicBezTo>
                    <a:pt x="72" y="811"/>
                    <a:pt x="120" y="846"/>
                    <a:pt x="156" y="846"/>
                  </a:cubicBezTo>
                  <a:cubicBezTo>
                    <a:pt x="191" y="846"/>
                    <a:pt x="215" y="823"/>
                    <a:pt x="239" y="811"/>
                  </a:cubicBezTo>
                  <a:lnTo>
                    <a:pt x="1073" y="275"/>
                  </a:lnTo>
                  <a:cubicBezTo>
                    <a:pt x="1156" y="239"/>
                    <a:pt x="1168" y="144"/>
                    <a:pt x="1132" y="72"/>
                  </a:cubicBezTo>
                  <a:cubicBezTo>
                    <a:pt x="1101" y="26"/>
                    <a:pt x="1051" y="0"/>
                    <a:pt x="99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" name="Google Shape;12773;p89">
            <a:extLst>
              <a:ext uri="{FF2B5EF4-FFF2-40B4-BE49-F238E27FC236}">
                <a16:creationId xmlns:a16="http://schemas.microsoft.com/office/drawing/2014/main" id="{1EB5AE57-72C7-3F50-49E1-71E7956C46D3}"/>
              </a:ext>
            </a:extLst>
          </p:cNvPr>
          <p:cNvGrpSpPr/>
          <p:nvPr/>
        </p:nvGrpSpPr>
        <p:grpSpPr>
          <a:xfrm>
            <a:off x="903581" y="1398605"/>
            <a:ext cx="350576" cy="280454"/>
            <a:chOff x="7500054" y="2934735"/>
            <a:chExt cx="350576" cy="280454"/>
          </a:xfrm>
        </p:grpSpPr>
        <p:sp>
          <p:nvSpPr>
            <p:cNvPr id="9" name="Google Shape;12774;p89">
              <a:extLst>
                <a:ext uri="{FF2B5EF4-FFF2-40B4-BE49-F238E27FC236}">
                  <a16:creationId xmlns:a16="http://schemas.microsoft.com/office/drawing/2014/main" id="{460117ED-B46C-8D96-941C-E92B1BA1FD78}"/>
                </a:ext>
              </a:extLst>
            </p:cNvPr>
            <p:cNvSpPr/>
            <p:nvPr/>
          </p:nvSpPr>
          <p:spPr>
            <a:xfrm>
              <a:off x="7571671" y="2959371"/>
              <a:ext cx="191426" cy="10249"/>
            </a:xfrm>
            <a:custGeom>
              <a:avLst/>
              <a:gdLst/>
              <a:ahLst/>
              <a:cxnLst/>
              <a:rect l="l" t="t" r="r" b="b"/>
              <a:pathLst>
                <a:path w="6014" h="322" extrusionOk="0">
                  <a:moveTo>
                    <a:pt x="156" y="0"/>
                  </a:moveTo>
                  <a:cubicBezTo>
                    <a:pt x="72" y="0"/>
                    <a:pt x="1" y="71"/>
                    <a:pt x="1" y="167"/>
                  </a:cubicBezTo>
                  <a:cubicBezTo>
                    <a:pt x="1" y="250"/>
                    <a:pt x="72" y="322"/>
                    <a:pt x="156" y="322"/>
                  </a:cubicBezTo>
                  <a:lnTo>
                    <a:pt x="5847" y="322"/>
                  </a:lnTo>
                  <a:cubicBezTo>
                    <a:pt x="5930" y="322"/>
                    <a:pt x="6014" y="250"/>
                    <a:pt x="6014" y="167"/>
                  </a:cubicBezTo>
                  <a:cubicBezTo>
                    <a:pt x="6014" y="71"/>
                    <a:pt x="5930" y="0"/>
                    <a:pt x="584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2775;p89">
              <a:extLst>
                <a:ext uri="{FF2B5EF4-FFF2-40B4-BE49-F238E27FC236}">
                  <a16:creationId xmlns:a16="http://schemas.microsoft.com/office/drawing/2014/main" id="{37A97CB3-2E60-893B-7484-DF785B11F919}"/>
                </a:ext>
              </a:extLst>
            </p:cNvPr>
            <p:cNvSpPr/>
            <p:nvPr/>
          </p:nvSpPr>
          <p:spPr>
            <a:xfrm>
              <a:off x="7500054" y="2934735"/>
              <a:ext cx="350576" cy="280454"/>
            </a:xfrm>
            <a:custGeom>
              <a:avLst/>
              <a:gdLst/>
              <a:ahLst/>
              <a:cxnLst/>
              <a:rect l="l" t="t" r="r" b="b"/>
              <a:pathLst>
                <a:path w="11014" h="8811" extrusionOk="0">
                  <a:moveTo>
                    <a:pt x="1501" y="310"/>
                  </a:moveTo>
                  <a:lnTo>
                    <a:pt x="1501" y="1560"/>
                  </a:lnTo>
                  <a:lnTo>
                    <a:pt x="310" y="1560"/>
                  </a:lnTo>
                  <a:lnTo>
                    <a:pt x="310" y="417"/>
                  </a:lnTo>
                  <a:cubicBezTo>
                    <a:pt x="310" y="357"/>
                    <a:pt x="358" y="310"/>
                    <a:pt x="417" y="310"/>
                  </a:cubicBezTo>
                  <a:close/>
                  <a:moveTo>
                    <a:pt x="8990" y="310"/>
                  </a:moveTo>
                  <a:cubicBezTo>
                    <a:pt x="9049" y="310"/>
                    <a:pt x="9097" y="357"/>
                    <a:pt x="9097" y="417"/>
                  </a:cubicBezTo>
                  <a:lnTo>
                    <a:pt x="9097" y="1560"/>
                  </a:lnTo>
                  <a:lnTo>
                    <a:pt x="1834" y="1560"/>
                  </a:lnTo>
                  <a:lnTo>
                    <a:pt x="1834" y="310"/>
                  </a:lnTo>
                  <a:close/>
                  <a:moveTo>
                    <a:pt x="10419" y="3453"/>
                  </a:moveTo>
                  <a:cubicBezTo>
                    <a:pt x="10561" y="3453"/>
                    <a:pt x="10704" y="3572"/>
                    <a:pt x="10704" y="3739"/>
                  </a:cubicBezTo>
                  <a:cubicBezTo>
                    <a:pt x="10704" y="3893"/>
                    <a:pt x="10561" y="4013"/>
                    <a:pt x="10419" y="4013"/>
                  </a:cubicBezTo>
                  <a:cubicBezTo>
                    <a:pt x="10264" y="4013"/>
                    <a:pt x="10133" y="3893"/>
                    <a:pt x="10133" y="3739"/>
                  </a:cubicBezTo>
                  <a:cubicBezTo>
                    <a:pt x="10133" y="3572"/>
                    <a:pt x="10252" y="3453"/>
                    <a:pt x="10419" y="3453"/>
                  </a:cubicBezTo>
                  <a:close/>
                  <a:moveTo>
                    <a:pt x="6537" y="4786"/>
                  </a:moveTo>
                  <a:cubicBezTo>
                    <a:pt x="6680" y="4786"/>
                    <a:pt x="6811" y="4906"/>
                    <a:pt x="6811" y="5072"/>
                  </a:cubicBezTo>
                  <a:cubicBezTo>
                    <a:pt x="6811" y="5239"/>
                    <a:pt x="6680" y="5358"/>
                    <a:pt x="6537" y="5358"/>
                  </a:cubicBezTo>
                  <a:cubicBezTo>
                    <a:pt x="6382" y="5358"/>
                    <a:pt x="6251" y="5239"/>
                    <a:pt x="6251" y="5072"/>
                  </a:cubicBezTo>
                  <a:cubicBezTo>
                    <a:pt x="6251" y="4906"/>
                    <a:pt x="6370" y="4786"/>
                    <a:pt x="6537" y="4786"/>
                  </a:cubicBezTo>
                  <a:close/>
                  <a:moveTo>
                    <a:pt x="8240" y="6156"/>
                  </a:moveTo>
                  <a:cubicBezTo>
                    <a:pt x="8394" y="6156"/>
                    <a:pt x="8525" y="6275"/>
                    <a:pt x="8525" y="6441"/>
                  </a:cubicBezTo>
                  <a:cubicBezTo>
                    <a:pt x="8525" y="6608"/>
                    <a:pt x="8394" y="6727"/>
                    <a:pt x="8240" y="6727"/>
                  </a:cubicBezTo>
                  <a:cubicBezTo>
                    <a:pt x="8097" y="6727"/>
                    <a:pt x="7966" y="6608"/>
                    <a:pt x="7966" y="6441"/>
                  </a:cubicBezTo>
                  <a:cubicBezTo>
                    <a:pt x="7966" y="6299"/>
                    <a:pt x="8073" y="6156"/>
                    <a:pt x="8240" y="6156"/>
                  </a:cubicBezTo>
                  <a:close/>
                  <a:moveTo>
                    <a:pt x="4811" y="6382"/>
                  </a:moveTo>
                  <a:cubicBezTo>
                    <a:pt x="4954" y="6382"/>
                    <a:pt x="5085" y="6501"/>
                    <a:pt x="5085" y="6668"/>
                  </a:cubicBezTo>
                  <a:cubicBezTo>
                    <a:pt x="5085" y="6834"/>
                    <a:pt x="4954" y="6953"/>
                    <a:pt x="4811" y="6953"/>
                  </a:cubicBezTo>
                  <a:cubicBezTo>
                    <a:pt x="4656" y="6953"/>
                    <a:pt x="4525" y="6834"/>
                    <a:pt x="4525" y="6668"/>
                  </a:cubicBezTo>
                  <a:cubicBezTo>
                    <a:pt x="4525" y="6501"/>
                    <a:pt x="4644" y="6382"/>
                    <a:pt x="4811" y="6382"/>
                  </a:cubicBezTo>
                  <a:close/>
                  <a:moveTo>
                    <a:pt x="417" y="0"/>
                  </a:moveTo>
                  <a:cubicBezTo>
                    <a:pt x="179" y="0"/>
                    <a:pt x="1" y="143"/>
                    <a:pt x="1" y="417"/>
                  </a:cubicBezTo>
                  <a:lnTo>
                    <a:pt x="1" y="8382"/>
                  </a:lnTo>
                  <a:cubicBezTo>
                    <a:pt x="1" y="8620"/>
                    <a:pt x="191" y="8787"/>
                    <a:pt x="417" y="8787"/>
                  </a:cubicBezTo>
                  <a:lnTo>
                    <a:pt x="4513" y="8787"/>
                  </a:lnTo>
                  <a:cubicBezTo>
                    <a:pt x="4596" y="8787"/>
                    <a:pt x="4668" y="8715"/>
                    <a:pt x="4668" y="8632"/>
                  </a:cubicBezTo>
                  <a:cubicBezTo>
                    <a:pt x="4668" y="8537"/>
                    <a:pt x="4596" y="8465"/>
                    <a:pt x="4513" y="8465"/>
                  </a:cubicBezTo>
                  <a:lnTo>
                    <a:pt x="417" y="8465"/>
                  </a:lnTo>
                  <a:cubicBezTo>
                    <a:pt x="358" y="8465"/>
                    <a:pt x="310" y="8418"/>
                    <a:pt x="310" y="8358"/>
                  </a:cubicBezTo>
                  <a:lnTo>
                    <a:pt x="310" y="1869"/>
                  </a:lnTo>
                  <a:lnTo>
                    <a:pt x="9073" y="1869"/>
                  </a:lnTo>
                  <a:lnTo>
                    <a:pt x="9073" y="5144"/>
                  </a:lnTo>
                  <a:lnTo>
                    <a:pt x="8502" y="5894"/>
                  </a:lnTo>
                  <a:cubicBezTo>
                    <a:pt x="8418" y="5846"/>
                    <a:pt x="8335" y="5834"/>
                    <a:pt x="8240" y="5834"/>
                  </a:cubicBezTo>
                  <a:cubicBezTo>
                    <a:pt x="8109" y="5834"/>
                    <a:pt x="7978" y="5870"/>
                    <a:pt x="7871" y="5965"/>
                  </a:cubicBezTo>
                  <a:lnTo>
                    <a:pt x="7073" y="5322"/>
                  </a:lnTo>
                  <a:cubicBezTo>
                    <a:pt x="7109" y="5251"/>
                    <a:pt x="7132" y="5156"/>
                    <a:pt x="7132" y="5060"/>
                  </a:cubicBezTo>
                  <a:cubicBezTo>
                    <a:pt x="7132" y="4727"/>
                    <a:pt x="6859" y="4441"/>
                    <a:pt x="6513" y="4441"/>
                  </a:cubicBezTo>
                  <a:cubicBezTo>
                    <a:pt x="6192" y="4441"/>
                    <a:pt x="5906" y="4715"/>
                    <a:pt x="5906" y="5060"/>
                  </a:cubicBezTo>
                  <a:cubicBezTo>
                    <a:pt x="5906" y="5167"/>
                    <a:pt x="5942" y="5263"/>
                    <a:pt x="5978" y="5358"/>
                  </a:cubicBezTo>
                  <a:lnTo>
                    <a:pt x="5108" y="6144"/>
                  </a:lnTo>
                  <a:cubicBezTo>
                    <a:pt x="5013" y="6084"/>
                    <a:pt x="4906" y="6049"/>
                    <a:pt x="4787" y="6049"/>
                  </a:cubicBezTo>
                  <a:cubicBezTo>
                    <a:pt x="4465" y="6049"/>
                    <a:pt x="4180" y="6322"/>
                    <a:pt x="4180" y="6668"/>
                  </a:cubicBezTo>
                  <a:cubicBezTo>
                    <a:pt x="4180" y="6989"/>
                    <a:pt x="4454" y="7275"/>
                    <a:pt x="4787" y="7275"/>
                  </a:cubicBezTo>
                  <a:cubicBezTo>
                    <a:pt x="5132" y="7275"/>
                    <a:pt x="5406" y="7001"/>
                    <a:pt x="5406" y="6668"/>
                  </a:cubicBezTo>
                  <a:cubicBezTo>
                    <a:pt x="5406" y="6560"/>
                    <a:pt x="5370" y="6465"/>
                    <a:pt x="5323" y="6382"/>
                  </a:cubicBezTo>
                  <a:lnTo>
                    <a:pt x="6204" y="5572"/>
                  </a:lnTo>
                  <a:cubicBezTo>
                    <a:pt x="6299" y="5620"/>
                    <a:pt x="6394" y="5656"/>
                    <a:pt x="6501" y="5656"/>
                  </a:cubicBezTo>
                  <a:cubicBezTo>
                    <a:pt x="6620" y="5656"/>
                    <a:pt x="6740" y="5620"/>
                    <a:pt x="6835" y="5548"/>
                  </a:cubicBezTo>
                  <a:lnTo>
                    <a:pt x="7644" y="6203"/>
                  </a:lnTo>
                  <a:cubicBezTo>
                    <a:pt x="7621" y="6263"/>
                    <a:pt x="7609" y="6334"/>
                    <a:pt x="7609" y="6406"/>
                  </a:cubicBezTo>
                  <a:cubicBezTo>
                    <a:pt x="7609" y="6739"/>
                    <a:pt x="7871" y="7025"/>
                    <a:pt x="8216" y="7025"/>
                  </a:cubicBezTo>
                  <a:cubicBezTo>
                    <a:pt x="8561" y="7025"/>
                    <a:pt x="8823" y="6751"/>
                    <a:pt x="8823" y="6406"/>
                  </a:cubicBezTo>
                  <a:cubicBezTo>
                    <a:pt x="8823" y="6287"/>
                    <a:pt x="8799" y="6168"/>
                    <a:pt x="8716" y="6084"/>
                  </a:cubicBezTo>
                  <a:lnTo>
                    <a:pt x="9061" y="5656"/>
                  </a:lnTo>
                  <a:lnTo>
                    <a:pt x="9061" y="8382"/>
                  </a:lnTo>
                  <a:cubicBezTo>
                    <a:pt x="9061" y="8442"/>
                    <a:pt x="9014" y="8477"/>
                    <a:pt x="8954" y="8477"/>
                  </a:cubicBezTo>
                  <a:lnTo>
                    <a:pt x="5227" y="8477"/>
                  </a:lnTo>
                  <a:cubicBezTo>
                    <a:pt x="5132" y="8477"/>
                    <a:pt x="5061" y="8561"/>
                    <a:pt x="5061" y="8644"/>
                  </a:cubicBezTo>
                  <a:cubicBezTo>
                    <a:pt x="5061" y="8739"/>
                    <a:pt x="5132" y="8811"/>
                    <a:pt x="5227" y="8811"/>
                  </a:cubicBezTo>
                  <a:lnTo>
                    <a:pt x="8954" y="8811"/>
                  </a:lnTo>
                  <a:cubicBezTo>
                    <a:pt x="9192" y="8811"/>
                    <a:pt x="9371" y="8620"/>
                    <a:pt x="9371" y="8394"/>
                  </a:cubicBezTo>
                  <a:lnTo>
                    <a:pt x="9371" y="5287"/>
                  </a:lnTo>
                  <a:lnTo>
                    <a:pt x="10145" y="4298"/>
                  </a:lnTo>
                  <a:cubicBezTo>
                    <a:pt x="10228" y="4334"/>
                    <a:pt x="10299" y="4346"/>
                    <a:pt x="10383" y="4346"/>
                  </a:cubicBezTo>
                  <a:cubicBezTo>
                    <a:pt x="10716" y="4346"/>
                    <a:pt x="10990" y="4072"/>
                    <a:pt x="10990" y="3739"/>
                  </a:cubicBezTo>
                  <a:cubicBezTo>
                    <a:pt x="11014" y="3405"/>
                    <a:pt x="10740" y="3131"/>
                    <a:pt x="10419" y="3131"/>
                  </a:cubicBezTo>
                  <a:cubicBezTo>
                    <a:pt x="10085" y="3131"/>
                    <a:pt x="9811" y="3405"/>
                    <a:pt x="9811" y="3751"/>
                  </a:cubicBezTo>
                  <a:cubicBezTo>
                    <a:pt x="9811" y="3882"/>
                    <a:pt x="9847" y="4001"/>
                    <a:pt x="9930" y="4108"/>
                  </a:cubicBezTo>
                  <a:lnTo>
                    <a:pt x="9407" y="4763"/>
                  </a:lnTo>
                  <a:lnTo>
                    <a:pt x="9407" y="381"/>
                  </a:lnTo>
                  <a:cubicBezTo>
                    <a:pt x="9407" y="191"/>
                    <a:pt x="9276" y="0"/>
                    <a:pt x="899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2776;p89">
              <a:extLst>
                <a:ext uri="{FF2B5EF4-FFF2-40B4-BE49-F238E27FC236}">
                  <a16:creationId xmlns:a16="http://schemas.microsoft.com/office/drawing/2014/main" id="{2782DAB9-3681-ABCA-94E1-11CC9BD5A1FD}"/>
                </a:ext>
              </a:extLst>
            </p:cNvPr>
            <p:cNvSpPr/>
            <p:nvPr/>
          </p:nvSpPr>
          <p:spPr>
            <a:xfrm>
              <a:off x="7539459" y="3074564"/>
              <a:ext cx="82663" cy="10249"/>
            </a:xfrm>
            <a:custGeom>
              <a:avLst/>
              <a:gdLst/>
              <a:ahLst/>
              <a:cxnLst/>
              <a:rect l="l" t="t" r="r" b="b"/>
              <a:pathLst>
                <a:path w="2597" h="322" extrusionOk="0">
                  <a:moveTo>
                    <a:pt x="156" y="1"/>
                  </a:moveTo>
                  <a:cubicBezTo>
                    <a:pt x="72" y="1"/>
                    <a:pt x="1" y="72"/>
                    <a:pt x="1" y="155"/>
                  </a:cubicBezTo>
                  <a:cubicBezTo>
                    <a:pt x="1" y="251"/>
                    <a:pt x="72" y="322"/>
                    <a:pt x="156" y="322"/>
                  </a:cubicBezTo>
                  <a:lnTo>
                    <a:pt x="2442" y="322"/>
                  </a:lnTo>
                  <a:cubicBezTo>
                    <a:pt x="2525" y="322"/>
                    <a:pt x="2596" y="251"/>
                    <a:pt x="2596" y="155"/>
                  </a:cubicBezTo>
                  <a:cubicBezTo>
                    <a:pt x="2596" y="72"/>
                    <a:pt x="2525" y="1"/>
                    <a:pt x="244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777;p89">
              <a:extLst>
                <a:ext uri="{FF2B5EF4-FFF2-40B4-BE49-F238E27FC236}">
                  <a16:creationId xmlns:a16="http://schemas.microsoft.com/office/drawing/2014/main" id="{84D35663-3EF3-03D1-BEC0-F040930F3963}"/>
                </a:ext>
              </a:extLst>
            </p:cNvPr>
            <p:cNvSpPr/>
            <p:nvPr/>
          </p:nvSpPr>
          <p:spPr>
            <a:xfrm>
              <a:off x="7539459" y="3099582"/>
              <a:ext cx="82663" cy="10249"/>
            </a:xfrm>
            <a:custGeom>
              <a:avLst/>
              <a:gdLst/>
              <a:ahLst/>
              <a:cxnLst/>
              <a:rect l="l" t="t" r="r" b="b"/>
              <a:pathLst>
                <a:path w="2597" h="322" extrusionOk="0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6" y="322"/>
                  </a:cubicBezTo>
                  <a:lnTo>
                    <a:pt x="2442" y="322"/>
                  </a:lnTo>
                  <a:cubicBezTo>
                    <a:pt x="2525" y="322"/>
                    <a:pt x="2596" y="250"/>
                    <a:pt x="2596" y="167"/>
                  </a:cubicBezTo>
                  <a:cubicBezTo>
                    <a:pt x="2596" y="72"/>
                    <a:pt x="2525" y="0"/>
                    <a:pt x="244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2778;p89">
              <a:extLst>
                <a:ext uri="{FF2B5EF4-FFF2-40B4-BE49-F238E27FC236}">
                  <a16:creationId xmlns:a16="http://schemas.microsoft.com/office/drawing/2014/main" id="{EF3E4707-9E58-9D2A-C03E-1DB76339931C}"/>
                </a:ext>
              </a:extLst>
            </p:cNvPr>
            <p:cNvSpPr/>
            <p:nvPr/>
          </p:nvSpPr>
          <p:spPr>
            <a:xfrm>
              <a:off x="7539459" y="3124601"/>
              <a:ext cx="82663" cy="10631"/>
            </a:xfrm>
            <a:custGeom>
              <a:avLst/>
              <a:gdLst/>
              <a:ahLst/>
              <a:cxnLst/>
              <a:rect l="l" t="t" r="r" b="b"/>
              <a:pathLst>
                <a:path w="2597" h="334" extrusionOk="0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34"/>
                    <a:pt x="156" y="334"/>
                  </a:cubicBezTo>
                  <a:lnTo>
                    <a:pt x="2442" y="334"/>
                  </a:lnTo>
                  <a:cubicBezTo>
                    <a:pt x="2525" y="334"/>
                    <a:pt x="2596" y="250"/>
                    <a:pt x="2596" y="167"/>
                  </a:cubicBezTo>
                  <a:cubicBezTo>
                    <a:pt x="2596" y="72"/>
                    <a:pt x="2525" y="0"/>
                    <a:pt x="244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2779;p89">
              <a:extLst>
                <a:ext uri="{FF2B5EF4-FFF2-40B4-BE49-F238E27FC236}">
                  <a16:creationId xmlns:a16="http://schemas.microsoft.com/office/drawing/2014/main" id="{E29A7980-48A1-9B31-DADE-E4186A0F198F}"/>
                </a:ext>
              </a:extLst>
            </p:cNvPr>
            <p:cNvSpPr/>
            <p:nvPr/>
          </p:nvSpPr>
          <p:spPr>
            <a:xfrm>
              <a:off x="7539459" y="3149587"/>
              <a:ext cx="82663" cy="10663"/>
            </a:xfrm>
            <a:custGeom>
              <a:avLst/>
              <a:gdLst/>
              <a:ahLst/>
              <a:cxnLst/>
              <a:rect l="l" t="t" r="r" b="b"/>
              <a:pathLst>
                <a:path w="2597" h="335" extrusionOk="0">
                  <a:moveTo>
                    <a:pt x="156" y="1"/>
                  </a:moveTo>
                  <a:cubicBezTo>
                    <a:pt x="72" y="1"/>
                    <a:pt x="1" y="84"/>
                    <a:pt x="1" y="168"/>
                  </a:cubicBezTo>
                  <a:cubicBezTo>
                    <a:pt x="1" y="263"/>
                    <a:pt x="72" y="334"/>
                    <a:pt x="156" y="334"/>
                  </a:cubicBezTo>
                  <a:lnTo>
                    <a:pt x="2442" y="334"/>
                  </a:lnTo>
                  <a:cubicBezTo>
                    <a:pt x="2525" y="334"/>
                    <a:pt x="2596" y="263"/>
                    <a:pt x="2596" y="168"/>
                  </a:cubicBezTo>
                  <a:cubicBezTo>
                    <a:pt x="2596" y="84"/>
                    <a:pt x="2525" y="1"/>
                    <a:pt x="244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2780;p89">
              <a:extLst>
                <a:ext uri="{FF2B5EF4-FFF2-40B4-BE49-F238E27FC236}">
                  <a16:creationId xmlns:a16="http://schemas.microsoft.com/office/drawing/2014/main" id="{8C826187-D7C3-3248-2044-7FAFCFB840D7}"/>
                </a:ext>
              </a:extLst>
            </p:cNvPr>
            <p:cNvSpPr/>
            <p:nvPr/>
          </p:nvSpPr>
          <p:spPr>
            <a:xfrm>
              <a:off x="7539459" y="3174988"/>
              <a:ext cx="82663" cy="10281"/>
            </a:xfrm>
            <a:custGeom>
              <a:avLst/>
              <a:gdLst/>
              <a:ahLst/>
              <a:cxnLst/>
              <a:rect l="l" t="t" r="r" b="b"/>
              <a:pathLst>
                <a:path w="2597" h="323" extrusionOk="0">
                  <a:moveTo>
                    <a:pt x="156" y="1"/>
                  </a:moveTo>
                  <a:cubicBezTo>
                    <a:pt x="72" y="1"/>
                    <a:pt x="1" y="72"/>
                    <a:pt x="1" y="155"/>
                  </a:cubicBezTo>
                  <a:cubicBezTo>
                    <a:pt x="1" y="251"/>
                    <a:pt x="72" y="322"/>
                    <a:pt x="156" y="322"/>
                  </a:cubicBezTo>
                  <a:lnTo>
                    <a:pt x="2442" y="322"/>
                  </a:lnTo>
                  <a:cubicBezTo>
                    <a:pt x="2525" y="322"/>
                    <a:pt x="2596" y="251"/>
                    <a:pt x="2596" y="155"/>
                  </a:cubicBezTo>
                  <a:cubicBezTo>
                    <a:pt x="2596" y="72"/>
                    <a:pt x="2525" y="1"/>
                    <a:pt x="244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2781;p89">
              <a:extLst>
                <a:ext uri="{FF2B5EF4-FFF2-40B4-BE49-F238E27FC236}">
                  <a16:creationId xmlns:a16="http://schemas.microsoft.com/office/drawing/2014/main" id="{D6965F1C-3700-AED1-9085-F411773FDB0F}"/>
                </a:ext>
              </a:extLst>
            </p:cNvPr>
            <p:cNvSpPr/>
            <p:nvPr/>
          </p:nvSpPr>
          <p:spPr>
            <a:xfrm>
              <a:off x="7539459" y="3011286"/>
              <a:ext cx="220614" cy="47395"/>
            </a:xfrm>
            <a:custGeom>
              <a:avLst/>
              <a:gdLst/>
              <a:ahLst/>
              <a:cxnLst/>
              <a:rect l="l" t="t" r="r" b="b"/>
              <a:pathLst>
                <a:path w="6931" h="1489" extrusionOk="0">
                  <a:moveTo>
                    <a:pt x="418" y="0"/>
                  </a:moveTo>
                  <a:cubicBezTo>
                    <a:pt x="179" y="0"/>
                    <a:pt x="1" y="191"/>
                    <a:pt x="1" y="417"/>
                  </a:cubicBezTo>
                  <a:lnTo>
                    <a:pt x="1" y="1072"/>
                  </a:lnTo>
                  <a:cubicBezTo>
                    <a:pt x="1" y="1310"/>
                    <a:pt x="191" y="1488"/>
                    <a:pt x="418" y="1488"/>
                  </a:cubicBezTo>
                  <a:lnTo>
                    <a:pt x="3251" y="1488"/>
                  </a:lnTo>
                  <a:cubicBezTo>
                    <a:pt x="3346" y="1488"/>
                    <a:pt x="3418" y="1417"/>
                    <a:pt x="3418" y="1322"/>
                  </a:cubicBezTo>
                  <a:cubicBezTo>
                    <a:pt x="3418" y="1238"/>
                    <a:pt x="3346" y="1167"/>
                    <a:pt x="3251" y="1167"/>
                  </a:cubicBezTo>
                  <a:lnTo>
                    <a:pt x="418" y="1167"/>
                  </a:lnTo>
                  <a:cubicBezTo>
                    <a:pt x="358" y="1167"/>
                    <a:pt x="310" y="1119"/>
                    <a:pt x="310" y="1060"/>
                  </a:cubicBezTo>
                  <a:lnTo>
                    <a:pt x="310" y="405"/>
                  </a:lnTo>
                  <a:cubicBezTo>
                    <a:pt x="310" y="345"/>
                    <a:pt x="358" y="298"/>
                    <a:pt x="418" y="298"/>
                  </a:cubicBezTo>
                  <a:lnTo>
                    <a:pt x="6502" y="298"/>
                  </a:lnTo>
                  <a:cubicBezTo>
                    <a:pt x="6561" y="298"/>
                    <a:pt x="6609" y="345"/>
                    <a:pt x="6609" y="405"/>
                  </a:cubicBezTo>
                  <a:lnTo>
                    <a:pt x="6609" y="1060"/>
                  </a:lnTo>
                  <a:cubicBezTo>
                    <a:pt x="6609" y="1119"/>
                    <a:pt x="6561" y="1167"/>
                    <a:pt x="6502" y="1167"/>
                  </a:cubicBezTo>
                  <a:lnTo>
                    <a:pt x="4013" y="1167"/>
                  </a:lnTo>
                  <a:cubicBezTo>
                    <a:pt x="3930" y="1167"/>
                    <a:pt x="3847" y="1238"/>
                    <a:pt x="3847" y="1322"/>
                  </a:cubicBezTo>
                  <a:cubicBezTo>
                    <a:pt x="3847" y="1417"/>
                    <a:pt x="3930" y="1488"/>
                    <a:pt x="4013" y="1488"/>
                  </a:cubicBezTo>
                  <a:lnTo>
                    <a:pt x="6502" y="1488"/>
                  </a:lnTo>
                  <a:cubicBezTo>
                    <a:pt x="6740" y="1488"/>
                    <a:pt x="6918" y="1298"/>
                    <a:pt x="6918" y="1072"/>
                  </a:cubicBezTo>
                  <a:lnTo>
                    <a:pt x="6918" y="417"/>
                  </a:lnTo>
                  <a:cubicBezTo>
                    <a:pt x="6930" y="203"/>
                    <a:pt x="6740" y="0"/>
                    <a:pt x="650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381;p45">
            <a:extLst>
              <a:ext uri="{FF2B5EF4-FFF2-40B4-BE49-F238E27FC236}">
                <a16:creationId xmlns:a16="http://schemas.microsoft.com/office/drawing/2014/main" id="{91D02143-AF14-165E-F908-909AC71EE90E}"/>
              </a:ext>
            </a:extLst>
          </p:cNvPr>
          <p:cNvSpPr txBox="1"/>
          <p:nvPr/>
        </p:nvSpPr>
        <p:spPr>
          <a:xfrm>
            <a:off x="3393594" y="3124725"/>
            <a:ext cx="664200" cy="593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200025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18" name="Google Shape;10069;p85">
            <a:extLst>
              <a:ext uri="{FF2B5EF4-FFF2-40B4-BE49-F238E27FC236}">
                <a16:creationId xmlns:a16="http://schemas.microsoft.com/office/drawing/2014/main" id="{1229211C-B926-D79C-6CC1-81D25BB946A6}"/>
              </a:ext>
            </a:extLst>
          </p:cNvPr>
          <p:cNvGrpSpPr/>
          <p:nvPr/>
        </p:nvGrpSpPr>
        <p:grpSpPr>
          <a:xfrm>
            <a:off x="888283" y="3248617"/>
            <a:ext cx="318721" cy="345615"/>
            <a:chOff x="2216956" y="1510503"/>
            <a:chExt cx="318721" cy="345615"/>
          </a:xfrm>
        </p:grpSpPr>
        <p:sp>
          <p:nvSpPr>
            <p:cNvPr id="19" name="Google Shape;10070;p85">
              <a:extLst>
                <a:ext uri="{FF2B5EF4-FFF2-40B4-BE49-F238E27FC236}">
                  <a16:creationId xmlns:a16="http://schemas.microsoft.com/office/drawing/2014/main" id="{2C045B20-B6A9-A271-5716-1F1B6C56EFCB}"/>
                </a:ext>
              </a:extLst>
            </p:cNvPr>
            <p:cNvSpPr/>
            <p:nvPr/>
          </p:nvSpPr>
          <p:spPr>
            <a:xfrm>
              <a:off x="2386724" y="1510503"/>
              <a:ext cx="142524" cy="151594"/>
            </a:xfrm>
            <a:custGeom>
              <a:avLst/>
              <a:gdLst/>
              <a:ahLst/>
              <a:cxnLst/>
              <a:rect l="l" t="t" r="r" b="b"/>
              <a:pathLst>
                <a:path w="4478" h="4763" extrusionOk="0">
                  <a:moveTo>
                    <a:pt x="2315" y="1"/>
                  </a:moveTo>
                  <a:cubicBezTo>
                    <a:pt x="2179" y="1"/>
                    <a:pt x="2042" y="13"/>
                    <a:pt x="1906" y="36"/>
                  </a:cubicBezTo>
                  <a:cubicBezTo>
                    <a:pt x="1334" y="155"/>
                    <a:pt x="846" y="488"/>
                    <a:pt x="513" y="964"/>
                  </a:cubicBezTo>
                  <a:cubicBezTo>
                    <a:pt x="1" y="1738"/>
                    <a:pt x="25" y="2727"/>
                    <a:pt x="572" y="3465"/>
                  </a:cubicBezTo>
                  <a:lnTo>
                    <a:pt x="537" y="4596"/>
                  </a:lnTo>
                  <a:cubicBezTo>
                    <a:pt x="537" y="4655"/>
                    <a:pt x="560" y="4703"/>
                    <a:pt x="608" y="4727"/>
                  </a:cubicBezTo>
                  <a:cubicBezTo>
                    <a:pt x="632" y="4739"/>
                    <a:pt x="667" y="4763"/>
                    <a:pt x="691" y="4763"/>
                  </a:cubicBezTo>
                  <a:cubicBezTo>
                    <a:pt x="727" y="4763"/>
                    <a:pt x="739" y="4763"/>
                    <a:pt x="775" y="4739"/>
                  </a:cubicBezTo>
                  <a:lnTo>
                    <a:pt x="1799" y="4263"/>
                  </a:lnTo>
                  <a:cubicBezTo>
                    <a:pt x="1980" y="4308"/>
                    <a:pt x="2163" y="4331"/>
                    <a:pt x="2344" y="4331"/>
                  </a:cubicBezTo>
                  <a:cubicBezTo>
                    <a:pt x="3055" y="4331"/>
                    <a:pt x="3734" y="3986"/>
                    <a:pt x="4132" y="3370"/>
                  </a:cubicBezTo>
                  <a:cubicBezTo>
                    <a:pt x="4323" y="3096"/>
                    <a:pt x="4430" y="2774"/>
                    <a:pt x="4477" y="2453"/>
                  </a:cubicBezTo>
                  <a:cubicBezTo>
                    <a:pt x="4477" y="2358"/>
                    <a:pt x="4418" y="2274"/>
                    <a:pt x="4335" y="2262"/>
                  </a:cubicBezTo>
                  <a:cubicBezTo>
                    <a:pt x="4320" y="2259"/>
                    <a:pt x="4307" y="2257"/>
                    <a:pt x="4294" y="2257"/>
                  </a:cubicBezTo>
                  <a:cubicBezTo>
                    <a:pt x="4219" y="2257"/>
                    <a:pt x="4164" y="2312"/>
                    <a:pt x="4144" y="2393"/>
                  </a:cubicBezTo>
                  <a:cubicBezTo>
                    <a:pt x="4120" y="2667"/>
                    <a:pt x="4013" y="2941"/>
                    <a:pt x="3846" y="3179"/>
                  </a:cubicBezTo>
                  <a:cubicBezTo>
                    <a:pt x="3504" y="3697"/>
                    <a:pt x="2932" y="3992"/>
                    <a:pt x="2326" y="3992"/>
                  </a:cubicBezTo>
                  <a:cubicBezTo>
                    <a:pt x="2151" y="3992"/>
                    <a:pt x="1974" y="3968"/>
                    <a:pt x="1799" y="3917"/>
                  </a:cubicBezTo>
                  <a:cubicBezTo>
                    <a:pt x="1789" y="3914"/>
                    <a:pt x="1779" y="3913"/>
                    <a:pt x="1770" y="3913"/>
                  </a:cubicBezTo>
                  <a:cubicBezTo>
                    <a:pt x="1744" y="3913"/>
                    <a:pt x="1718" y="3924"/>
                    <a:pt x="1691" y="3941"/>
                  </a:cubicBezTo>
                  <a:lnTo>
                    <a:pt x="858" y="4322"/>
                  </a:lnTo>
                  <a:lnTo>
                    <a:pt x="906" y="3405"/>
                  </a:lnTo>
                  <a:cubicBezTo>
                    <a:pt x="906" y="3358"/>
                    <a:pt x="894" y="3334"/>
                    <a:pt x="870" y="3298"/>
                  </a:cubicBezTo>
                  <a:cubicBezTo>
                    <a:pt x="370" y="2679"/>
                    <a:pt x="334" y="1798"/>
                    <a:pt x="787" y="1131"/>
                  </a:cubicBezTo>
                  <a:cubicBezTo>
                    <a:pt x="1048" y="714"/>
                    <a:pt x="1489" y="441"/>
                    <a:pt x="1965" y="333"/>
                  </a:cubicBezTo>
                  <a:cubicBezTo>
                    <a:pt x="2084" y="313"/>
                    <a:pt x="2203" y="303"/>
                    <a:pt x="2321" y="303"/>
                  </a:cubicBezTo>
                  <a:cubicBezTo>
                    <a:pt x="2686" y="303"/>
                    <a:pt x="3040" y="403"/>
                    <a:pt x="3346" y="619"/>
                  </a:cubicBezTo>
                  <a:cubicBezTo>
                    <a:pt x="3763" y="905"/>
                    <a:pt x="4049" y="1322"/>
                    <a:pt x="4132" y="1822"/>
                  </a:cubicBezTo>
                  <a:cubicBezTo>
                    <a:pt x="4143" y="1909"/>
                    <a:pt x="4224" y="1966"/>
                    <a:pt x="4292" y="1966"/>
                  </a:cubicBezTo>
                  <a:cubicBezTo>
                    <a:pt x="4298" y="1966"/>
                    <a:pt x="4305" y="1966"/>
                    <a:pt x="4311" y="1965"/>
                  </a:cubicBezTo>
                  <a:cubicBezTo>
                    <a:pt x="4406" y="1941"/>
                    <a:pt x="4466" y="1857"/>
                    <a:pt x="4442" y="1786"/>
                  </a:cubicBezTo>
                  <a:cubicBezTo>
                    <a:pt x="4347" y="1203"/>
                    <a:pt x="4013" y="714"/>
                    <a:pt x="3525" y="369"/>
                  </a:cubicBezTo>
                  <a:cubicBezTo>
                    <a:pt x="3164" y="117"/>
                    <a:pt x="2742" y="1"/>
                    <a:pt x="231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0071;p85">
              <a:extLst>
                <a:ext uri="{FF2B5EF4-FFF2-40B4-BE49-F238E27FC236}">
                  <a16:creationId xmlns:a16="http://schemas.microsoft.com/office/drawing/2014/main" id="{F45F3307-3F8E-C751-4D9D-684490109823}"/>
                </a:ext>
              </a:extLst>
            </p:cNvPr>
            <p:cNvSpPr/>
            <p:nvPr/>
          </p:nvSpPr>
          <p:spPr>
            <a:xfrm>
              <a:off x="2423102" y="1541185"/>
              <a:ext cx="77723" cy="77723"/>
            </a:xfrm>
            <a:custGeom>
              <a:avLst/>
              <a:gdLst/>
              <a:ahLst/>
              <a:cxnLst/>
              <a:rect l="l" t="t" r="r" b="b"/>
              <a:pathLst>
                <a:path w="2442" h="2442" extrusionOk="0">
                  <a:moveTo>
                    <a:pt x="1084" y="346"/>
                  </a:moveTo>
                  <a:lnTo>
                    <a:pt x="1084" y="1215"/>
                  </a:lnTo>
                  <a:cubicBezTo>
                    <a:pt x="1084" y="1310"/>
                    <a:pt x="1168" y="1382"/>
                    <a:pt x="1251" y="1382"/>
                  </a:cubicBezTo>
                  <a:lnTo>
                    <a:pt x="2132" y="1382"/>
                  </a:lnTo>
                  <a:cubicBezTo>
                    <a:pt x="2037" y="1786"/>
                    <a:pt x="1668" y="2108"/>
                    <a:pt x="1239" y="2108"/>
                  </a:cubicBezTo>
                  <a:cubicBezTo>
                    <a:pt x="751" y="2108"/>
                    <a:pt x="346" y="1715"/>
                    <a:pt x="346" y="1215"/>
                  </a:cubicBezTo>
                  <a:cubicBezTo>
                    <a:pt x="346" y="774"/>
                    <a:pt x="656" y="417"/>
                    <a:pt x="1084" y="346"/>
                  </a:cubicBezTo>
                  <a:close/>
                  <a:moveTo>
                    <a:pt x="1215" y="0"/>
                  </a:moveTo>
                  <a:cubicBezTo>
                    <a:pt x="548" y="0"/>
                    <a:pt x="1" y="548"/>
                    <a:pt x="1" y="1215"/>
                  </a:cubicBezTo>
                  <a:cubicBezTo>
                    <a:pt x="1" y="1894"/>
                    <a:pt x="548" y="2441"/>
                    <a:pt x="1215" y="2441"/>
                  </a:cubicBezTo>
                  <a:cubicBezTo>
                    <a:pt x="1894" y="2441"/>
                    <a:pt x="2442" y="1894"/>
                    <a:pt x="2442" y="1215"/>
                  </a:cubicBezTo>
                  <a:cubicBezTo>
                    <a:pt x="2442" y="1120"/>
                    <a:pt x="2370" y="1060"/>
                    <a:pt x="2275" y="1060"/>
                  </a:cubicBezTo>
                  <a:lnTo>
                    <a:pt x="1382" y="1060"/>
                  </a:lnTo>
                  <a:lnTo>
                    <a:pt x="1382" y="167"/>
                  </a:lnTo>
                  <a:cubicBezTo>
                    <a:pt x="1382" y="72"/>
                    <a:pt x="1310" y="0"/>
                    <a:pt x="121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0072;p85">
              <a:extLst>
                <a:ext uri="{FF2B5EF4-FFF2-40B4-BE49-F238E27FC236}">
                  <a16:creationId xmlns:a16="http://schemas.microsoft.com/office/drawing/2014/main" id="{7EA514EB-AFF8-F90E-E0FE-F8D2B9BDBC8B}"/>
                </a:ext>
              </a:extLst>
            </p:cNvPr>
            <p:cNvSpPr/>
            <p:nvPr/>
          </p:nvSpPr>
          <p:spPr>
            <a:xfrm>
              <a:off x="2216956" y="1538543"/>
              <a:ext cx="318721" cy="317575"/>
            </a:xfrm>
            <a:custGeom>
              <a:avLst/>
              <a:gdLst/>
              <a:ahLst/>
              <a:cxnLst/>
              <a:rect l="l" t="t" r="r" b="b"/>
              <a:pathLst>
                <a:path w="10014" h="9978" extrusionOk="0">
                  <a:moveTo>
                    <a:pt x="3787" y="1191"/>
                  </a:moveTo>
                  <a:lnTo>
                    <a:pt x="4763" y="2179"/>
                  </a:lnTo>
                  <a:cubicBezTo>
                    <a:pt x="5347" y="2762"/>
                    <a:pt x="5466" y="3667"/>
                    <a:pt x="5037" y="4382"/>
                  </a:cubicBezTo>
                  <a:cubicBezTo>
                    <a:pt x="4989" y="4441"/>
                    <a:pt x="5001" y="4525"/>
                    <a:pt x="5061" y="4572"/>
                  </a:cubicBezTo>
                  <a:lnTo>
                    <a:pt x="5394" y="4906"/>
                  </a:lnTo>
                  <a:cubicBezTo>
                    <a:pt x="5423" y="4934"/>
                    <a:pt x="5465" y="4950"/>
                    <a:pt x="5507" y="4950"/>
                  </a:cubicBezTo>
                  <a:cubicBezTo>
                    <a:pt x="5534" y="4950"/>
                    <a:pt x="5561" y="4943"/>
                    <a:pt x="5585" y="4929"/>
                  </a:cubicBezTo>
                  <a:cubicBezTo>
                    <a:pt x="5873" y="4756"/>
                    <a:pt x="6191" y="4673"/>
                    <a:pt x="6506" y="4673"/>
                  </a:cubicBezTo>
                  <a:cubicBezTo>
                    <a:pt x="6972" y="4673"/>
                    <a:pt x="7432" y="4855"/>
                    <a:pt x="7787" y="5203"/>
                  </a:cubicBezTo>
                  <a:lnTo>
                    <a:pt x="8776" y="6179"/>
                  </a:lnTo>
                  <a:lnTo>
                    <a:pt x="6228" y="8727"/>
                  </a:lnTo>
                  <a:lnTo>
                    <a:pt x="5239" y="7751"/>
                  </a:lnTo>
                  <a:cubicBezTo>
                    <a:pt x="5025" y="7525"/>
                    <a:pt x="4870" y="7251"/>
                    <a:pt x="4787" y="6953"/>
                  </a:cubicBezTo>
                  <a:cubicBezTo>
                    <a:pt x="4644" y="6477"/>
                    <a:pt x="4728" y="5965"/>
                    <a:pt x="4978" y="5548"/>
                  </a:cubicBezTo>
                  <a:cubicBezTo>
                    <a:pt x="5025" y="5489"/>
                    <a:pt x="5001" y="5394"/>
                    <a:pt x="4942" y="5346"/>
                  </a:cubicBezTo>
                  <a:lnTo>
                    <a:pt x="4620" y="5025"/>
                  </a:lnTo>
                  <a:cubicBezTo>
                    <a:pt x="4589" y="4993"/>
                    <a:pt x="4541" y="4977"/>
                    <a:pt x="4495" y="4977"/>
                  </a:cubicBezTo>
                  <a:cubicBezTo>
                    <a:pt x="4472" y="4977"/>
                    <a:pt x="4450" y="4981"/>
                    <a:pt x="4430" y="4989"/>
                  </a:cubicBezTo>
                  <a:cubicBezTo>
                    <a:pt x="4137" y="5164"/>
                    <a:pt x="3815" y="5250"/>
                    <a:pt x="3496" y="5250"/>
                  </a:cubicBezTo>
                  <a:cubicBezTo>
                    <a:pt x="3034" y="5250"/>
                    <a:pt x="2579" y="5072"/>
                    <a:pt x="2227" y="4727"/>
                  </a:cubicBezTo>
                  <a:lnTo>
                    <a:pt x="1239" y="3739"/>
                  </a:lnTo>
                  <a:lnTo>
                    <a:pt x="3787" y="1191"/>
                  </a:lnTo>
                  <a:close/>
                  <a:moveTo>
                    <a:pt x="9288" y="6120"/>
                  </a:moveTo>
                  <a:lnTo>
                    <a:pt x="9633" y="6465"/>
                  </a:lnTo>
                  <a:lnTo>
                    <a:pt x="6513" y="9585"/>
                  </a:lnTo>
                  <a:lnTo>
                    <a:pt x="6168" y="9251"/>
                  </a:lnTo>
                  <a:lnTo>
                    <a:pt x="9109" y="6299"/>
                  </a:lnTo>
                  <a:lnTo>
                    <a:pt x="9288" y="6120"/>
                  </a:lnTo>
                  <a:close/>
                  <a:moveTo>
                    <a:pt x="3525" y="0"/>
                  </a:moveTo>
                  <a:cubicBezTo>
                    <a:pt x="3489" y="0"/>
                    <a:pt x="3442" y="24"/>
                    <a:pt x="3406" y="48"/>
                  </a:cubicBezTo>
                  <a:lnTo>
                    <a:pt x="2180" y="1286"/>
                  </a:lnTo>
                  <a:cubicBezTo>
                    <a:pt x="2120" y="1346"/>
                    <a:pt x="2120" y="1453"/>
                    <a:pt x="2180" y="1512"/>
                  </a:cubicBezTo>
                  <a:cubicBezTo>
                    <a:pt x="2209" y="1542"/>
                    <a:pt x="2248" y="1557"/>
                    <a:pt x="2287" y="1557"/>
                  </a:cubicBezTo>
                  <a:cubicBezTo>
                    <a:pt x="2325" y="1557"/>
                    <a:pt x="2364" y="1542"/>
                    <a:pt x="2394" y="1512"/>
                  </a:cubicBezTo>
                  <a:lnTo>
                    <a:pt x="3525" y="381"/>
                  </a:lnTo>
                  <a:lnTo>
                    <a:pt x="3870" y="715"/>
                  </a:lnTo>
                  <a:lnTo>
                    <a:pt x="3692" y="893"/>
                  </a:lnTo>
                  <a:lnTo>
                    <a:pt x="929" y="3667"/>
                  </a:lnTo>
                  <a:lnTo>
                    <a:pt x="751" y="3846"/>
                  </a:lnTo>
                  <a:lnTo>
                    <a:pt x="406" y="3501"/>
                  </a:lnTo>
                  <a:lnTo>
                    <a:pt x="1953" y="1953"/>
                  </a:lnTo>
                  <a:cubicBezTo>
                    <a:pt x="2013" y="1893"/>
                    <a:pt x="2013" y="1786"/>
                    <a:pt x="1953" y="1727"/>
                  </a:cubicBezTo>
                  <a:cubicBezTo>
                    <a:pt x="1924" y="1697"/>
                    <a:pt x="1882" y="1682"/>
                    <a:pt x="1840" y="1682"/>
                  </a:cubicBezTo>
                  <a:cubicBezTo>
                    <a:pt x="1799" y="1682"/>
                    <a:pt x="1757" y="1697"/>
                    <a:pt x="1727" y="1727"/>
                  </a:cubicBezTo>
                  <a:lnTo>
                    <a:pt x="60" y="3393"/>
                  </a:lnTo>
                  <a:cubicBezTo>
                    <a:pt x="1" y="3453"/>
                    <a:pt x="1" y="3560"/>
                    <a:pt x="60" y="3620"/>
                  </a:cubicBezTo>
                  <a:lnTo>
                    <a:pt x="632" y="4191"/>
                  </a:lnTo>
                  <a:cubicBezTo>
                    <a:pt x="656" y="4215"/>
                    <a:pt x="703" y="4227"/>
                    <a:pt x="751" y="4227"/>
                  </a:cubicBezTo>
                  <a:cubicBezTo>
                    <a:pt x="787" y="4227"/>
                    <a:pt x="834" y="4215"/>
                    <a:pt x="870" y="4191"/>
                  </a:cubicBezTo>
                  <a:lnTo>
                    <a:pt x="1048" y="4013"/>
                  </a:lnTo>
                  <a:lnTo>
                    <a:pt x="2025" y="4989"/>
                  </a:lnTo>
                  <a:cubicBezTo>
                    <a:pt x="2430" y="5394"/>
                    <a:pt x="2971" y="5607"/>
                    <a:pt x="3517" y="5607"/>
                  </a:cubicBezTo>
                  <a:cubicBezTo>
                    <a:pt x="3854" y="5607"/>
                    <a:pt x="4192" y="5526"/>
                    <a:pt x="4501" y="5358"/>
                  </a:cubicBezTo>
                  <a:lnTo>
                    <a:pt x="4644" y="5513"/>
                  </a:lnTo>
                  <a:cubicBezTo>
                    <a:pt x="4394" y="5989"/>
                    <a:pt x="4335" y="6537"/>
                    <a:pt x="4477" y="7061"/>
                  </a:cubicBezTo>
                  <a:cubicBezTo>
                    <a:pt x="4573" y="7406"/>
                    <a:pt x="4763" y="7727"/>
                    <a:pt x="5013" y="7977"/>
                  </a:cubicBezTo>
                  <a:lnTo>
                    <a:pt x="6001" y="8966"/>
                  </a:lnTo>
                  <a:lnTo>
                    <a:pt x="5823" y="9144"/>
                  </a:lnTo>
                  <a:cubicBezTo>
                    <a:pt x="5763" y="9204"/>
                    <a:pt x="5763" y="9311"/>
                    <a:pt x="5823" y="9370"/>
                  </a:cubicBezTo>
                  <a:lnTo>
                    <a:pt x="6394" y="9930"/>
                  </a:lnTo>
                  <a:cubicBezTo>
                    <a:pt x="6418" y="9966"/>
                    <a:pt x="6466" y="9978"/>
                    <a:pt x="6513" y="9978"/>
                  </a:cubicBezTo>
                  <a:cubicBezTo>
                    <a:pt x="6549" y="9978"/>
                    <a:pt x="6585" y="9966"/>
                    <a:pt x="6633" y="9930"/>
                  </a:cubicBezTo>
                  <a:lnTo>
                    <a:pt x="9978" y="6584"/>
                  </a:lnTo>
                  <a:cubicBezTo>
                    <a:pt x="10014" y="6525"/>
                    <a:pt x="10014" y="6418"/>
                    <a:pt x="9966" y="6358"/>
                  </a:cubicBezTo>
                  <a:lnTo>
                    <a:pt x="9395" y="5798"/>
                  </a:lnTo>
                  <a:cubicBezTo>
                    <a:pt x="9365" y="5769"/>
                    <a:pt x="9323" y="5754"/>
                    <a:pt x="9282" y="5754"/>
                  </a:cubicBezTo>
                  <a:cubicBezTo>
                    <a:pt x="9240" y="5754"/>
                    <a:pt x="9198" y="5769"/>
                    <a:pt x="9169" y="5798"/>
                  </a:cubicBezTo>
                  <a:lnTo>
                    <a:pt x="8990" y="5977"/>
                  </a:lnTo>
                  <a:lnTo>
                    <a:pt x="8014" y="4989"/>
                  </a:lnTo>
                  <a:cubicBezTo>
                    <a:pt x="7609" y="4585"/>
                    <a:pt x="7069" y="4375"/>
                    <a:pt x="6524" y="4375"/>
                  </a:cubicBezTo>
                  <a:cubicBezTo>
                    <a:pt x="6186" y="4375"/>
                    <a:pt x="5847" y="4456"/>
                    <a:pt x="5537" y="4620"/>
                  </a:cubicBezTo>
                  <a:lnTo>
                    <a:pt x="5394" y="4465"/>
                  </a:lnTo>
                  <a:cubicBezTo>
                    <a:pt x="5823" y="3655"/>
                    <a:pt x="5668" y="2655"/>
                    <a:pt x="5013" y="2000"/>
                  </a:cubicBezTo>
                  <a:lnTo>
                    <a:pt x="4037" y="1012"/>
                  </a:lnTo>
                  <a:lnTo>
                    <a:pt x="4216" y="834"/>
                  </a:lnTo>
                  <a:cubicBezTo>
                    <a:pt x="4275" y="774"/>
                    <a:pt x="4275" y="679"/>
                    <a:pt x="4216" y="619"/>
                  </a:cubicBezTo>
                  <a:lnTo>
                    <a:pt x="3644" y="48"/>
                  </a:lnTo>
                  <a:cubicBezTo>
                    <a:pt x="3620" y="24"/>
                    <a:pt x="3573" y="0"/>
                    <a:pt x="352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0073;p85">
              <a:extLst>
                <a:ext uri="{FF2B5EF4-FFF2-40B4-BE49-F238E27FC236}">
                  <a16:creationId xmlns:a16="http://schemas.microsoft.com/office/drawing/2014/main" id="{B12A2BC7-57A3-ACDF-5880-8BC0B02F68B7}"/>
                </a:ext>
              </a:extLst>
            </p:cNvPr>
            <p:cNvSpPr/>
            <p:nvPr/>
          </p:nvSpPr>
          <p:spPr>
            <a:xfrm>
              <a:off x="2275327" y="1662448"/>
              <a:ext cx="100066" cy="39434"/>
            </a:xfrm>
            <a:custGeom>
              <a:avLst/>
              <a:gdLst/>
              <a:ahLst/>
              <a:cxnLst/>
              <a:rect l="l" t="t" r="r" b="b"/>
              <a:pathLst>
                <a:path w="3144" h="1239" extrusionOk="0">
                  <a:moveTo>
                    <a:pt x="2632" y="310"/>
                  </a:moveTo>
                  <a:lnTo>
                    <a:pt x="2560" y="417"/>
                  </a:lnTo>
                  <a:cubicBezTo>
                    <a:pt x="2298" y="739"/>
                    <a:pt x="1953" y="917"/>
                    <a:pt x="1596" y="929"/>
                  </a:cubicBezTo>
                  <a:cubicBezTo>
                    <a:pt x="1239" y="929"/>
                    <a:pt x="905" y="774"/>
                    <a:pt x="643" y="477"/>
                  </a:cubicBezTo>
                  <a:cubicBezTo>
                    <a:pt x="643" y="477"/>
                    <a:pt x="584" y="393"/>
                    <a:pt x="512" y="310"/>
                  </a:cubicBezTo>
                  <a:close/>
                  <a:moveTo>
                    <a:pt x="179" y="0"/>
                  </a:moveTo>
                  <a:cubicBezTo>
                    <a:pt x="119" y="0"/>
                    <a:pt x="60" y="24"/>
                    <a:pt x="36" y="84"/>
                  </a:cubicBezTo>
                  <a:cubicBezTo>
                    <a:pt x="0" y="143"/>
                    <a:pt x="12" y="203"/>
                    <a:pt x="48" y="251"/>
                  </a:cubicBezTo>
                  <a:cubicBezTo>
                    <a:pt x="155" y="370"/>
                    <a:pt x="369" y="667"/>
                    <a:pt x="393" y="667"/>
                  </a:cubicBezTo>
                  <a:cubicBezTo>
                    <a:pt x="703" y="1036"/>
                    <a:pt x="1119" y="1239"/>
                    <a:pt x="1560" y="1239"/>
                  </a:cubicBezTo>
                  <a:lnTo>
                    <a:pt x="1596" y="1239"/>
                  </a:lnTo>
                  <a:cubicBezTo>
                    <a:pt x="2060" y="1215"/>
                    <a:pt x="2489" y="1001"/>
                    <a:pt x="2810" y="596"/>
                  </a:cubicBezTo>
                  <a:lnTo>
                    <a:pt x="3096" y="239"/>
                  </a:lnTo>
                  <a:cubicBezTo>
                    <a:pt x="3132" y="203"/>
                    <a:pt x="3144" y="143"/>
                    <a:pt x="3108" y="84"/>
                  </a:cubicBezTo>
                  <a:cubicBezTo>
                    <a:pt x="3084" y="24"/>
                    <a:pt x="3024" y="0"/>
                    <a:pt x="296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0074;p85">
              <a:extLst>
                <a:ext uri="{FF2B5EF4-FFF2-40B4-BE49-F238E27FC236}">
                  <a16:creationId xmlns:a16="http://schemas.microsoft.com/office/drawing/2014/main" id="{9E01D959-FB11-B11F-5BC3-1D11B16C682C}"/>
                </a:ext>
              </a:extLst>
            </p:cNvPr>
            <p:cNvSpPr/>
            <p:nvPr/>
          </p:nvSpPr>
          <p:spPr>
            <a:xfrm>
              <a:off x="2371192" y="1745422"/>
              <a:ext cx="101211" cy="60663"/>
            </a:xfrm>
            <a:custGeom>
              <a:avLst/>
              <a:gdLst/>
              <a:ahLst/>
              <a:cxnLst/>
              <a:rect l="l" t="t" r="r" b="b"/>
              <a:pathLst>
                <a:path w="3180" h="1906" extrusionOk="0">
                  <a:moveTo>
                    <a:pt x="155" y="1"/>
                  </a:moveTo>
                  <a:cubicBezTo>
                    <a:pt x="72" y="1"/>
                    <a:pt x="1" y="72"/>
                    <a:pt x="1" y="156"/>
                  </a:cubicBezTo>
                  <a:cubicBezTo>
                    <a:pt x="1" y="513"/>
                    <a:pt x="239" y="787"/>
                    <a:pt x="274" y="834"/>
                  </a:cubicBezTo>
                  <a:lnTo>
                    <a:pt x="1298" y="1858"/>
                  </a:lnTo>
                  <a:cubicBezTo>
                    <a:pt x="1334" y="1882"/>
                    <a:pt x="1382" y="1906"/>
                    <a:pt x="1429" y="1906"/>
                  </a:cubicBezTo>
                  <a:cubicBezTo>
                    <a:pt x="1465" y="1906"/>
                    <a:pt x="1501" y="1882"/>
                    <a:pt x="1548" y="1858"/>
                  </a:cubicBezTo>
                  <a:lnTo>
                    <a:pt x="3120" y="275"/>
                  </a:lnTo>
                  <a:cubicBezTo>
                    <a:pt x="3168" y="215"/>
                    <a:pt x="3180" y="156"/>
                    <a:pt x="3156" y="96"/>
                  </a:cubicBezTo>
                  <a:cubicBezTo>
                    <a:pt x="3120" y="37"/>
                    <a:pt x="3060" y="1"/>
                    <a:pt x="3001" y="1"/>
                  </a:cubicBezTo>
                  <a:lnTo>
                    <a:pt x="1584" y="1"/>
                  </a:lnTo>
                  <a:cubicBezTo>
                    <a:pt x="1501" y="1"/>
                    <a:pt x="1429" y="72"/>
                    <a:pt x="1429" y="156"/>
                  </a:cubicBezTo>
                  <a:cubicBezTo>
                    <a:pt x="1429" y="251"/>
                    <a:pt x="1501" y="322"/>
                    <a:pt x="1584" y="322"/>
                  </a:cubicBezTo>
                  <a:lnTo>
                    <a:pt x="2620" y="322"/>
                  </a:lnTo>
                  <a:lnTo>
                    <a:pt x="1429" y="1513"/>
                  </a:lnTo>
                  <a:lnTo>
                    <a:pt x="513" y="608"/>
                  </a:lnTo>
                  <a:cubicBezTo>
                    <a:pt x="501" y="596"/>
                    <a:pt x="393" y="489"/>
                    <a:pt x="358" y="322"/>
                  </a:cubicBezTo>
                  <a:lnTo>
                    <a:pt x="965" y="322"/>
                  </a:lnTo>
                  <a:cubicBezTo>
                    <a:pt x="1048" y="322"/>
                    <a:pt x="1132" y="251"/>
                    <a:pt x="1132" y="156"/>
                  </a:cubicBezTo>
                  <a:cubicBezTo>
                    <a:pt x="1132" y="72"/>
                    <a:pt x="1048" y="1"/>
                    <a:pt x="96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oogle Shape;10236;p85">
            <a:extLst>
              <a:ext uri="{FF2B5EF4-FFF2-40B4-BE49-F238E27FC236}">
                <a16:creationId xmlns:a16="http://schemas.microsoft.com/office/drawing/2014/main" id="{405F6B40-D221-3300-68C4-529E6E5075A2}"/>
              </a:ext>
            </a:extLst>
          </p:cNvPr>
          <p:cNvGrpSpPr/>
          <p:nvPr/>
        </p:nvGrpSpPr>
        <p:grpSpPr>
          <a:xfrm>
            <a:off x="3549274" y="3219812"/>
            <a:ext cx="361147" cy="360797"/>
            <a:chOff x="7978465" y="1969392"/>
            <a:chExt cx="361147" cy="360797"/>
          </a:xfrm>
        </p:grpSpPr>
        <p:sp>
          <p:nvSpPr>
            <p:cNvPr id="25" name="Google Shape;10237;p85">
              <a:extLst>
                <a:ext uri="{FF2B5EF4-FFF2-40B4-BE49-F238E27FC236}">
                  <a16:creationId xmlns:a16="http://schemas.microsoft.com/office/drawing/2014/main" id="{C297946C-194B-CBE4-CEFD-AB1279F0A661}"/>
                </a:ext>
              </a:extLst>
            </p:cNvPr>
            <p:cNvSpPr/>
            <p:nvPr/>
          </p:nvSpPr>
          <p:spPr>
            <a:xfrm>
              <a:off x="8136871" y="2285821"/>
              <a:ext cx="44368" cy="44368"/>
            </a:xfrm>
            <a:custGeom>
              <a:avLst/>
              <a:gdLst/>
              <a:ahLst/>
              <a:cxnLst/>
              <a:rect l="l" t="t" r="r" b="b"/>
              <a:pathLst>
                <a:path w="1394" h="1394" extrusionOk="0">
                  <a:moveTo>
                    <a:pt x="691" y="322"/>
                  </a:moveTo>
                  <a:cubicBezTo>
                    <a:pt x="905" y="322"/>
                    <a:pt x="1072" y="488"/>
                    <a:pt x="1072" y="703"/>
                  </a:cubicBezTo>
                  <a:cubicBezTo>
                    <a:pt x="1072" y="905"/>
                    <a:pt x="893" y="1072"/>
                    <a:pt x="691" y="1072"/>
                  </a:cubicBezTo>
                  <a:cubicBezTo>
                    <a:pt x="488" y="1072"/>
                    <a:pt x="322" y="905"/>
                    <a:pt x="322" y="703"/>
                  </a:cubicBezTo>
                  <a:cubicBezTo>
                    <a:pt x="322" y="488"/>
                    <a:pt x="488" y="322"/>
                    <a:pt x="691" y="322"/>
                  </a:cubicBezTo>
                  <a:close/>
                  <a:moveTo>
                    <a:pt x="691" y="0"/>
                  </a:moveTo>
                  <a:cubicBezTo>
                    <a:pt x="310" y="0"/>
                    <a:pt x="0" y="310"/>
                    <a:pt x="0" y="703"/>
                  </a:cubicBezTo>
                  <a:cubicBezTo>
                    <a:pt x="0" y="1084"/>
                    <a:pt x="310" y="1393"/>
                    <a:pt x="691" y="1393"/>
                  </a:cubicBezTo>
                  <a:cubicBezTo>
                    <a:pt x="1084" y="1393"/>
                    <a:pt x="1393" y="1084"/>
                    <a:pt x="1393" y="703"/>
                  </a:cubicBezTo>
                  <a:cubicBezTo>
                    <a:pt x="1393" y="310"/>
                    <a:pt x="1084" y="0"/>
                    <a:pt x="69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0238;p85">
              <a:extLst>
                <a:ext uri="{FF2B5EF4-FFF2-40B4-BE49-F238E27FC236}">
                  <a16:creationId xmlns:a16="http://schemas.microsoft.com/office/drawing/2014/main" id="{1DB8490C-9090-B12B-C43E-A5004BF9A8B6}"/>
                </a:ext>
              </a:extLst>
            </p:cNvPr>
            <p:cNvSpPr/>
            <p:nvPr/>
          </p:nvSpPr>
          <p:spPr>
            <a:xfrm>
              <a:off x="8210010" y="2121719"/>
              <a:ext cx="56112" cy="5611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881" y="334"/>
                  </a:moveTo>
                  <a:cubicBezTo>
                    <a:pt x="1191" y="334"/>
                    <a:pt x="1429" y="572"/>
                    <a:pt x="1429" y="882"/>
                  </a:cubicBezTo>
                  <a:cubicBezTo>
                    <a:pt x="1417" y="1180"/>
                    <a:pt x="1179" y="1430"/>
                    <a:pt x="881" y="1430"/>
                  </a:cubicBezTo>
                  <a:cubicBezTo>
                    <a:pt x="583" y="1430"/>
                    <a:pt x="333" y="1191"/>
                    <a:pt x="333" y="882"/>
                  </a:cubicBezTo>
                  <a:cubicBezTo>
                    <a:pt x="333" y="584"/>
                    <a:pt x="572" y="334"/>
                    <a:pt x="881" y="334"/>
                  </a:cubicBezTo>
                  <a:close/>
                  <a:moveTo>
                    <a:pt x="881" y="1"/>
                  </a:moveTo>
                  <a:cubicBezTo>
                    <a:pt x="405" y="1"/>
                    <a:pt x="0" y="394"/>
                    <a:pt x="0" y="882"/>
                  </a:cubicBezTo>
                  <a:cubicBezTo>
                    <a:pt x="0" y="1358"/>
                    <a:pt x="393" y="1763"/>
                    <a:pt x="881" y="1763"/>
                  </a:cubicBezTo>
                  <a:cubicBezTo>
                    <a:pt x="1357" y="1763"/>
                    <a:pt x="1762" y="1370"/>
                    <a:pt x="1762" y="882"/>
                  </a:cubicBezTo>
                  <a:cubicBezTo>
                    <a:pt x="1762" y="406"/>
                    <a:pt x="1357" y="1"/>
                    <a:pt x="88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0239;p85">
              <a:extLst>
                <a:ext uri="{FF2B5EF4-FFF2-40B4-BE49-F238E27FC236}">
                  <a16:creationId xmlns:a16="http://schemas.microsoft.com/office/drawing/2014/main" id="{FD825CE3-C6E6-3647-199B-989C52C20DCC}"/>
                </a:ext>
              </a:extLst>
            </p:cNvPr>
            <p:cNvSpPr/>
            <p:nvPr/>
          </p:nvSpPr>
          <p:spPr>
            <a:xfrm>
              <a:off x="8051987" y="2121719"/>
              <a:ext cx="55730" cy="56112"/>
            </a:xfrm>
            <a:custGeom>
              <a:avLst/>
              <a:gdLst/>
              <a:ahLst/>
              <a:cxnLst/>
              <a:rect l="l" t="t" r="r" b="b"/>
              <a:pathLst>
                <a:path w="1751" h="1763" extrusionOk="0">
                  <a:moveTo>
                    <a:pt x="881" y="334"/>
                  </a:moveTo>
                  <a:cubicBezTo>
                    <a:pt x="1179" y="334"/>
                    <a:pt x="1429" y="572"/>
                    <a:pt x="1429" y="882"/>
                  </a:cubicBezTo>
                  <a:cubicBezTo>
                    <a:pt x="1417" y="1180"/>
                    <a:pt x="1179" y="1430"/>
                    <a:pt x="881" y="1430"/>
                  </a:cubicBezTo>
                  <a:cubicBezTo>
                    <a:pt x="584" y="1430"/>
                    <a:pt x="322" y="1191"/>
                    <a:pt x="322" y="882"/>
                  </a:cubicBezTo>
                  <a:cubicBezTo>
                    <a:pt x="322" y="572"/>
                    <a:pt x="560" y="334"/>
                    <a:pt x="881" y="334"/>
                  </a:cubicBezTo>
                  <a:close/>
                  <a:moveTo>
                    <a:pt x="881" y="1"/>
                  </a:moveTo>
                  <a:cubicBezTo>
                    <a:pt x="405" y="1"/>
                    <a:pt x="0" y="394"/>
                    <a:pt x="0" y="882"/>
                  </a:cubicBezTo>
                  <a:cubicBezTo>
                    <a:pt x="0" y="1358"/>
                    <a:pt x="381" y="1763"/>
                    <a:pt x="881" y="1763"/>
                  </a:cubicBezTo>
                  <a:cubicBezTo>
                    <a:pt x="1357" y="1763"/>
                    <a:pt x="1750" y="1370"/>
                    <a:pt x="1750" y="882"/>
                  </a:cubicBezTo>
                  <a:cubicBezTo>
                    <a:pt x="1750" y="406"/>
                    <a:pt x="1357" y="1"/>
                    <a:pt x="88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0240;p85">
              <a:extLst>
                <a:ext uri="{FF2B5EF4-FFF2-40B4-BE49-F238E27FC236}">
                  <a16:creationId xmlns:a16="http://schemas.microsoft.com/office/drawing/2014/main" id="{F6CC8A2B-C2F5-5B15-E93D-D8AA5BDB82A7}"/>
                </a:ext>
              </a:extLst>
            </p:cNvPr>
            <p:cNvSpPr/>
            <p:nvPr/>
          </p:nvSpPr>
          <p:spPr>
            <a:xfrm>
              <a:off x="7978465" y="2285821"/>
              <a:ext cx="44749" cy="44368"/>
            </a:xfrm>
            <a:custGeom>
              <a:avLst/>
              <a:gdLst/>
              <a:ahLst/>
              <a:cxnLst/>
              <a:rect l="l" t="t" r="r" b="b"/>
              <a:pathLst>
                <a:path w="1406" h="1394" extrusionOk="0">
                  <a:moveTo>
                    <a:pt x="703" y="322"/>
                  </a:moveTo>
                  <a:cubicBezTo>
                    <a:pt x="905" y="322"/>
                    <a:pt x="1072" y="488"/>
                    <a:pt x="1072" y="703"/>
                  </a:cubicBezTo>
                  <a:cubicBezTo>
                    <a:pt x="1072" y="905"/>
                    <a:pt x="893" y="1072"/>
                    <a:pt x="703" y="1072"/>
                  </a:cubicBezTo>
                  <a:cubicBezTo>
                    <a:pt x="489" y="1072"/>
                    <a:pt x="334" y="905"/>
                    <a:pt x="334" y="703"/>
                  </a:cubicBezTo>
                  <a:cubicBezTo>
                    <a:pt x="334" y="488"/>
                    <a:pt x="489" y="322"/>
                    <a:pt x="703" y="322"/>
                  </a:cubicBezTo>
                  <a:close/>
                  <a:moveTo>
                    <a:pt x="703" y="0"/>
                  </a:moveTo>
                  <a:cubicBezTo>
                    <a:pt x="310" y="0"/>
                    <a:pt x="0" y="310"/>
                    <a:pt x="0" y="703"/>
                  </a:cubicBezTo>
                  <a:cubicBezTo>
                    <a:pt x="0" y="1084"/>
                    <a:pt x="310" y="1393"/>
                    <a:pt x="703" y="1393"/>
                  </a:cubicBezTo>
                  <a:cubicBezTo>
                    <a:pt x="1084" y="1393"/>
                    <a:pt x="1405" y="1084"/>
                    <a:pt x="1405" y="703"/>
                  </a:cubicBezTo>
                  <a:cubicBezTo>
                    <a:pt x="1405" y="310"/>
                    <a:pt x="1084" y="0"/>
                    <a:pt x="70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0241;p85">
              <a:extLst>
                <a:ext uri="{FF2B5EF4-FFF2-40B4-BE49-F238E27FC236}">
                  <a16:creationId xmlns:a16="http://schemas.microsoft.com/office/drawing/2014/main" id="{D95B6CC4-01DE-9004-D2F3-16AD8398F230}"/>
                </a:ext>
              </a:extLst>
            </p:cNvPr>
            <p:cNvSpPr/>
            <p:nvPr/>
          </p:nvSpPr>
          <p:spPr>
            <a:xfrm>
              <a:off x="8294894" y="2285821"/>
              <a:ext cx="44718" cy="44368"/>
            </a:xfrm>
            <a:custGeom>
              <a:avLst/>
              <a:gdLst/>
              <a:ahLst/>
              <a:cxnLst/>
              <a:rect l="l" t="t" r="r" b="b"/>
              <a:pathLst>
                <a:path w="1405" h="1394" extrusionOk="0">
                  <a:moveTo>
                    <a:pt x="703" y="322"/>
                  </a:moveTo>
                  <a:cubicBezTo>
                    <a:pt x="905" y="322"/>
                    <a:pt x="1072" y="488"/>
                    <a:pt x="1072" y="703"/>
                  </a:cubicBezTo>
                  <a:cubicBezTo>
                    <a:pt x="1072" y="905"/>
                    <a:pt x="893" y="1072"/>
                    <a:pt x="703" y="1072"/>
                  </a:cubicBezTo>
                  <a:cubicBezTo>
                    <a:pt x="488" y="1072"/>
                    <a:pt x="333" y="905"/>
                    <a:pt x="333" y="703"/>
                  </a:cubicBezTo>
                  <a:cubicBezTo>
                    <a:pt x="333" y="488"/>
                    <a:pt x="488" y="322"/>
                    <a:pt x="703" y="322"/>
                  </a:cubicBezTo>
                  <a:close/>
                  <a:moveTo>
                    <a:pt x="703" y="0"/>
                  </a:moveTo>
                  <a:cubicBezTo>
                    <a:pt x="310" y="0"/>
                    <a:pt x="0" y="310"/>
                    <a:pt x="0" y="703"/>
                  </a:cubicBezTo>
                  <a:cubicBezTo>
                    <a:pt x="0" y="1084"/>
                    <a:pt x="310" y="1393"/>
                    <a:pt x="703" y="1393"/>
                  </a:cubicBezTo>
                  <a:cubicBezTo>
                    <a:pt x="1084" y="1393"/>
                    <a:pt x="1405" y="1084"/>
                    <a:pt x="1405" y="703"/>
                  </a:cubicBezTo>
                  <a:cubicBezTo>
                    <a:pt x="1405" y="310"/>
                    <a:pt x="1084" y="0"/>
                    <a:pt x="70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0242;p85">
              <a:extLst>
                <a:ext uri="{FF2B5EF4-FFF2-40B4-BE49-F238E27FC236}">
                  <a16:creationId xmlns:a16="http://schemas.microsoft.com/office/drawing/2014/main" id="{469E77A7-89D8-915F-CA7C-727E981780A5}"/>
                </a:ext>
              </a:extLst>
            </p:cNvPr>
            <p:cNvSpPr/>
            <p:nvPr/>
          </p:nvSpPr>
          <p:spPr>
            <a:xfrm>
              <a:off x="8119811" y="1969392"/>
              <a:ext cx="78455" cy="78487"/>
            </a:xfrm>
            <a:custGeom>
              <a:avLst/>
              <a:gdLst/>
              <a:ahLst/>
              <a:cxnLst/>
              <a:rect l="l" t="t" r="r" b="b"/>
              <a:pathLst>
                <a:path w="2465" h="2466" extrusionOk="0">
                  <a:moveTo>
                    <a:pt x="1227" y="346"/>
                  </a:moveTo>
                  <a:cubicBezTo>
                    <a:pt x="1727" y="346"/>
                    <a:pt x="2120" y="739"/>
                    <a:pt x="2120" y="1239"/>
                  </a:cubicBezTo>
                  <a:cubicBezTo>
                    <a:pt x="2120" y="1727"/>
                    <a:pt x="1727" y="2132"/>
                    <a:pt x="1227" y="2132"/>
                  </a:cubicBezTo>
                  <a:cubicBezTo>
                    <a:pt x="739" y="2132"/>
                    <a:pt x="334" y="1727"/>
                    <a:pt x="334" y="1239"/>
                  </a:cubicBezTo>
                  <a:cubicBezTo>
                    <a:pt x="334" y="739"/>
                    <a:pt x="739" y="346"/>
                    <a:pt x="1227" y="346"/>
                  </a:cubicBezTo>
                  <a:close/>
                  <a:moveTo>
                    <a:pt x="1227" y="1"/>
                  </a:moveTo>
                  <a:cubicBezTo>
                    <a:pt x="548" y="1"/>
                    <a:pt x="0" y="548"/>
                    <a:pt x="0" y="1239"/>
                  </a:cubicBezTo>
                  <a:cubicBezTo>
                    <a:pt x="0" y="1917"/>
                    <a:pt x="548" y="2465"/>
                    <a:pt x="1227" y="2465"/>
                  </a:cubicBezTo>
                  <a:cubicBezTo>
                    <a:pt x="1917" y="2465"/>
                    <a:pt x="2465" y="1917"/>
                    <a:pt x="2465" y="1239"/>
                  </a:cubicBezTo>
                  <a:cubicBezTo>
                    <a:pt x="2465" y="548"/>
                    <a:pt x="1905" y="1"/>
                    <a:pt x="122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0243;p85">
              <a:extLst>
                <a:ext uri="{FF2B5EF4-FFF2-40B4-BE49-F238E27FC236}">
                  <a16:creationId xmlns:a16="http://schemas.microsoft.com/office/drawing/2014/main" id="{CAFA3275-471E-B1D1-8FF3-E810A4535CCE}"/>
                </a:ext>
              </a:extLst>
            </p:cNvPr>
            <p:cNvSpPr/>
            <p:nvPr/>
          </p:nvSpPr>
          <p:spPr>
            <a:xfrm>
              <a:off x="8012202" y="2189575"/>
              <a:ext cx="134917" cy="89690"/>
            </a:xfrm>
            <a:custGeom>
              <a:avLst/>
              <a:gdLst/>
              <a:ahLst/>
              <a:cxnLst/>
              <a:rect l="l" t="t" r="r" b="b"/>
              <a:pathLst>
                <a:path w="4239" h="2818" extrusionOk="0">
                  <a:moveTo>
                    <a:pt x="2107" y="0"/>
                  </a:moveTo>
                  <a:cubicBezTo>
                    <a:pt x="2024" y="0"/>
                    <a:pt x="1953" y="71"/>
                    <a:pt x="1953" y="167"/>
                  </a:cubicBezTo>
                  <a:lnTo>
                    <a:pt x="1953" y="1417"/>
                  </a:lnTo>
                  <a:lnTo>
                    <a:pt x="1072" y="1417"/>
                  </a:lnTo>
                  <a:cubicBezTo>
                    <a:pt x="822" y="1417"/>
                    <a:pt x="583" y="1560"/>
                    <a:pt x="464" y="1786"/>
                  </a:cubicBezTo>
                  <a:lnTo>
                    <a:pt x="48" y="2560"/>
                  </a:lnTo>
                  <a:cubicBezTo>
                    <a:pt x="0" y="2631"/>
                    <a:pt x="24" y="2738"/>
                    <a:pt x="119" y="2786"/>
                  </a:cubicBezTo>
                  <a:cubicBezTo>
                    <a:pt x="143" y="2798"/>
                    <a:pt x="167" y="2798"/>
                    <a:pt x="191" y="2798"/>
                  </a:cubicBezTo>
                  <a:cubicBezTo>
                    <a:pt x="250" y="2798"/>
                    <a:pt x="310" y="2774"/>
                    <a:pt x="345" y="2715"/>
                  </a:cubicBezTo>
                  <a:lnTo>
                    <a:pt x="762" y="1941"/>
                  </a:lnTo>
                  <a:cubicBezTo>
                    <a:pt x="822" y="1822"/>
                    <a:pt x="953" y="1738"/>
                    <a:pt x="1083" y="1738"/>
                  </a:cubicBezTo>
                  <a:lnTo>
                    <a:pt x="3167" y="1738"/>
                  </a:lnTo>
                  <a:cubicBezTo>
                    <a:pt x="3298" y="1738"/>
                    <a:pt x="3417" y="1822"/>
                    <a:pt x="3500" y="1941"/>
                  </a:cubicBezTo>
                  <a:lnTo>
                    <a:pt x="3917" y="2727"/>
                  </a:lnTo>
                  <a:cubicBezTo>
                    <a:pt x="3943" y="2778"/>
                    <a:pt x="4006" y="2817"/>
                    <a:pt x="4066" y="2817"/>
                  </a:cubicBezTo>
                  <a:cubicBezTo>
                    <a:pt x="4089" y="2817"/>
                    <a:pt x="4112" y="2811"/>
                    <a:pt x="4131" y="2798"/>
                  </a:cubicBezTo>
                  <a:cubicBezTo>
                    <a:pt x="4215" y="2774"/>
                    <a:pt x="4239" y="2667"/>
                    <a:pt x="4191" y="2572"/>
                  </a:cubicBezTo>
                  <a:lnTo>
                    <a:pt x="3774" y="1786"/>
                  </a:lnTo>
                  <a:cubicBezTo>
                    <a:pt x="3655" y="1560"/>
                    <a:pt x="3417" y="1417"/>
                    <a:pt x="3155" y="1417"/>
                  </a:cubicBezTo>
                  <a:lnTo>
                    <a:pt x="2274" y="1417"/>
                  </a:lnTo>
                  <a:lnTo>
                    <a:pt x="2274" y="167"/>
                  </a:lnTo>
                  <a:cubicBezTo>
                    <a:pt x="2274" y="71"/>
                    <a:pt x="2203" y="0"/>
                    <a:pt x="210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0244;p85">
              <a:extLst>
                <a:ext uri="{FF2B5EF4-FFF2-40B4-BE49-F238E27FC236}">
                  <a16:creationId xmlns:a16="http://schemas.microsoft.com/office/drawing/2014/main" id="{5A542D21-50A0-7F75-3890-48EC80A0D232}"/>
                </a:ext>
              </a:extLst>
            </p:cNvPr>
            <p:cNvSpPr/>
            <p:nvPr/>
          </p:nvSpPr>
          <p:spPr>
            <a:xfrm>
              <a:off x="8099346" y="2059973"/>
              <a:ext cx="119385" cy="56016"/>
            </a:xfrm>
            <a:custGeom>
              <a:avLst/>
              <a:gdLst/>
              <a:ahLst/>
              <a:cxnLst/>
              <a:rect l="l" t="t" r="r" b="b"/>
              <a:pathLst>
                <a:path w="3751" h="1760" extrusionOk="0">
                  <a:moveTo>
                    <a:pt x="1870" y="0"/>
                  </a:moveTo>
                  <a:cubicBezTo>
                    <a:pt x="1786" y="0"/>
                    <a:pt x="1715" y="72"/>
                    <a:pt x="1715" y="155"/>
                  </a:cubicBezTo>
                  <a:lnTo>
                    <a:pt x="1715" y="714"/>
                  </a:lnTo>
                  <a:lnTo>
                    <a:pt x="774" y="714"/>
                  </a:lnTo>
                  <a:cubicBezTo>
                    <a:pt x="584" y="714"/>
                    <a:pt x="405" y="810"/>
                    <a:pt x="310" y="988"/>
                  </a:cubicBezTo>
                  <a:lnTo>
                    <a:pt x="48" y="1512"/>
                  </a:lnTo>
                  <a:cubicBezTo>
                    <a:pt x="0" y="1584"/>
                    <a:pt x="24" y="1691"/>
                    <a:pt x="120" y="1738"/>
                  </a:cubicBezTo>
                  <a:cubicBezTo>
                    <a:pt x="141" y="1753"/>
                    <a:pt x="167" y="1760"/>
                    <a:pt x="192" y="1760"/>
                  </a:cubicBezTo>
                  <a:cubicBezTo>
                    <a:pt x="251" y="1760"/>
                    <a:pt x="313" y="1725"/>
                    <a:pt x="346" y="1667"/>
                  </a:cubicBezTo>
                  <a:lnTo>
                    <a:pt x="608" y="1143"/>
                  </a:lnTo>
                  <a:cubicBezTo>
                    <a:pt x="643" y="1084"/>
                    <a:pt x="715" y="1036"/>
                    <a:pt x="774" y="1036"/>
                  </a:cubicBezTo>
                  <a:lnTo>
                    <a:pt x="2977" y="1036"/>
                  </a:lnTo>
                  <a:cubicBezTo>
                    <a:pt x="3048" y="1036"/>
                    <a:pt x="3108" y="1084"/>
                    <a:pt x="3144" y="1143"/>
                  </a:cubicBezTo>
                  <a:lnTo>
                    <a:pt x="3406" y="1667"/>
                  </a:lnTo>
                  <a:cubicBezTo>
                    <a:pt x="3441" y="1727"/>
                    <a:pt x="3501" y="1750"/>
                    <a:pt x="3560" y="1750"/>
                  </a:cubicBezTo>
                  <a:cubicBezTo>
                    <a:pt x="3584" y="1750"/>
                    <a:pt x="3620" y="1750"/>
                    <a:pt x="3632" y="1738"/>
                  </a:cubicBezTo>
                  <a:cubicBezTo>
                    <a:pt x="3715" y="1691"/>
                    <a:pt x="3751" y="1584"/>
                    <a:pt x="3703" y="1512"/>
                  </a:cubicBezTo>
                  <a:lnTo>
                    <a:pt x="3441" y="988"/>
                  </a:lnTo>
                  <a:cubicBezTo>
                    <a:pt x="3346" y="810"/>
                    <a:pt x="3168" y="714"/>
                    <a:pt x="2977" y="714"/>
                  </a:cubicBezTo>
                  <a:lnTo>
                    <a:pt x="2036" y="714"/>
                  </a:lnTo>
                  <a:lnTo>
                    <a:pt x="2036" y="155"/>
                  </a:lnTo>
                  <a:cubicBezTo>
                    <a:pt x="2036" y="72"/>
                    <a:pt x="1965" y="0"/>
                    <a:pt x="187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0245;p85">
              <a:extLst>
                <a:ext uri="{FF2B5EF4-FFF2-40B4-BE49-F238E27FC236}">
                  <a16:creationId xmlns:a16="http://schemas.microsoft.com/office/drawing/2014/main" id="{961945F7-4F2A-F7B5-2DF6-4D7F3BA4FC6E}"/>
                </a:ext>
              </a:extLst>
            </p:cNvPr>
            <p:cNvSpPr/>
            <p:nvPr/>
          </p:nvSpPr>
          <p:spPr>
            <a:xfrm>
              <a:off x="8170194" y="2189925"/>
              <a:ext cx="135331" cy="89849"/>
            </a:xfrm>
            <a:custGeom>
              <a:avLst/>
              <a:gdLst/>
              <a:ahLst/>
              <a:cxnLst/>
              <a:rect l="l" t="t" r="r" b="b"/>
              <a:pathLst>
                <a:path w="4252" h="2823" extrusionOk="0">
                  <a:moveTo>
                    <a:pt x="2132" y="1"/>
                  </a:moveTo>
                  <a:cubicBezTo>
                    <a:pt x="2049" y="1"/>
                    <a:pt x="1965" y="84"/>
                    <a:pt x="1965" y="168"/>
                  </a:cubicBezTo>
                  <a:lnTo>
                    <a:pt x="1965" y="1418"/>
                  </a:lnTo>
                  <a:lnTo>
                    <a:pt x="1096" y="1418"/>
                  </a:lnTo>
                  <a:cubicBezTo>
                    <a:pt x="834" y="1418"/>
                    <a:pt x="596" y="1573"/>
                    <a:pt x="465" y="1787"/>
                  </a:cubicBezTo>
                  <a:lnTo>
                    <a:pt x="49" y="2585"/>
                  </a:lnTo>
                  <a:cubicBezTo>
                    <a:pt x="1" y="2656"/>
                    <a:pt x="37" y="2763"/>
                    <a:pt x="120" y="2799"/>
                  </a:cubicBezTo>
                  <a:cubicBezTo>
                    <a:pt x="148" y="2815"/>
                    <a:pt x="177" y="2823"/>
                    <a:pt x="205" y="2823"/>
                  </a:cubicBezTo>
                  <a:cubicBezTo>
                    <a:pt x="262" y="2823"/>
                    <a:pt x="314" y="2791"/>
                    <a:pt x="346" y="2727"/>
                  </a:cubicBezTo>
                  <a:lnTo>
                    <a:pt x="763" y="1942"/>
                  </a:lnTo>
                  <a:cubicBezTo>
                    <a:pt x="822" y="1823"/>
                    <a:pt x="953" y="1751"/>
                    <a:pt x="1096" y="1751"/>
                  </a:cubicBezTo>
                  <a:lnTo>
                    <a:pt x="3180" y="1751"/>
                  </a:lnTo>
                  <a:cubicBezTo>
                    <a:pt x="3311" y="1751"/>
                    <a:pt x="3430" y="1823"/>
                    <a:pt x="3501" y="1942"/>
                  </a:cubicBezTo>
                  <a:lnTo>
                    <a:pt x="3918" y="2716"/>
                  </a:lnTo>
                  <a:cubicBezTo>
                    <a:pt x="3954" y="2775"/>
                    <a:pt x="4013" y="2799"/>
                    <a:pt x="4073" y="2799"/>
                  </a:cubicBezTo>
                  <a:cubicBezTo>
                    <a:pt x="4097" y="2799"/>
                    <a:pt x="4132" y="2799"/>
                    <a:pt x="4144" y="2787"/>
                  </a:cubicBezTo>
                  <a:cubicBezTo>
                    <a:pt x="4216" y="2763"/>
                    <a:pt x="4251" y="2656"/>
                    <a:pt x="4204" y="2561"/>
                  </a:cubicBezTo>
                  <a:lnTo>
                    <a:pt x="3787" y="1787"/>
                  </a:lnTo>
                  <a:cubicBezTo>
                    <a:pt x="3668" y="1573"/>
                    <a:pt x="3430" y="1418"/>
                    <a:pt x="3180" y="1418"/>
                  </a:cubicBezTo>
                  <a:lnTo>
                    <a:pt x="2299" y="1418"/>
                  </a:lnTo>
                  <a:lnTo>
                    <a:pt x="2299" y="168"/>
                  </a:lnTo>
                  <a:cubicBezTo>
                    <a:pt x="2299" y="84"/>
                    <a:pt x="2227" y="1"/>
                    <a:pt x="213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10438;p85">
            <a:extLst>
              <a:ext uri="{FF2B5EF4-FFF2-40B4-BE49-F238E27FC236}">
                <a16:creationId xmlns:a16="http://schemas.microsoft.com/office/drawing/2014/main" id="{FA38E973-E813-82DB-859F-DF747F681E72}"/>
              </a:ext>
            </a:extLst>
          </p:cNvPr>
          <p:cNvSpPr/>
          <p:nvPr/>
        </p:nvSpPr>
        <p:spPr>
          <a:xfrm>
            <a:off x="3569073" y="1380673"/>
            <a:ext cx="316461" cy="324036"/>
          </a:xfrm>
          <a:custGeom>
            <a:avLst/>
            <a:gdLst/>
            <a:ahLst/>
            <a:cxnLst/>
            <a:rect l="l" t="t" r="r" b="b"/>
            <a:pathLst>
              <a:path w="9943" h="10181" extrusionOk="0">
                <a:moveTo>
                  <a:pt x="7883" y="536"/>
                </a:moveTo>
                <a:lnTo>
                  <a:pt x="9264" y="1918"/>
                </a:lnTo>
                <a:lnTo>
                  <a:pt x="7883" y="1918"/>
                </a:lnTo>
                <a:lnTo>
                  <a:pt x="7883" y="536"/>
                </a:lnTo>
                <a:close/>
                <a:moveTo>
                  <a:pt x="6442" y="1537"/>
                </a:moveTo>
                <a:lnTo>
                  <a:pt x="7823" y="2918"/>
                </a:lnTo>
                <a:lnTo>
                  <a:pt x="6442" y="2918"/>
                </a:lnTo>
                <a:lnTo>
                  <a:pt x="6442" y="1537"/>
                </a:lnTo>
                <a:close/>
                <a:moveTo>
                  <a:pt x="2954" y="5323"/>
                </a:moveTo>
                <a:cubicBezTo>
                  <a:pt x="3489" y="5323"/>
                  <a:pt x="3918" y="5799"/>
                  <a:pt x="3918" y="6394"/>
                </a:cubicBezTo>
                <a:lnTo>
                  <a:pt x="3930" y="6478"/>
                </a:lnTo>
                <a:cubicBezTo>
                  <a:pt x="3906" y="6478"/>
                  <a:pt x="3906" y="6478"/>
                  <a:pt x="3894" y="6490"/>
                </a:cubicBezTo>
                <a:cubicBezTo>
                  <a:pt x="3585" y="6418"/>
                  <a:pt x="3489" y="5966"/>
                  <a:pt x="3489" y="5966"/>
                </a:cubicBezTo>
                <a:cubicBezTo>
                  <a:pt x="3477" y="5906"/>
                  <a:pt x="3430" y="5847"/>
                  <a:pt x="3358" y="5835"/>
                </a:cubicBezTo>
                <a:cubicBezTo>
                  <a:pt x="3348" y="5833"/>
                  <a:pt x="3338" y="5832"/>
                  <a:pt x="3328" y="5832"/>
                </a:cubicBezTo>
                <a:cubicBezTo>
                  <a:pt x="3276" y="5832"/>
                  <a:pt x="3221" y="5857"/>
                  <a:pt x="3192" y="5906"/>
                </a:cubicBezTo>
                <a:cubicBezTo>
                  <a:pt x="2823" y="6478"/>
                  <a:pt x="1989" y="6490"/>
                  <a:pt x="1977" y="6490"/>
                </a:cubicBezTo>
                <a:lnTo>
                  <a:pt x="1930" y="6490"/>
                </a:lnTo>
                <a:cubicBezTo>
                  <a:pt x="1918" y="6490"/>
                  <a:pt x="1894" y="6490"/>
                  <a:pt x="1894" y="6478"/>
                </a:cubicBezTo>
                <a:lnTo>
                  <a:pt x="1894" y="6394"/>
                </a:lnTo>
                <a:cubicBezTo>
                  <a:pt x="1894" y="5799"/>
                  <a:pt x="2334" y="5323"/>
                  <a:pt x="2870" y="5323"/>
                </a:cubicBezTo>
                <a:close/>
                <a:moveTo>
                  <a:pt x="1668" y="6906"/>
                </a:moveTo>
                <a:cubicBezTo>
                  <a:pt x="1680" y="6906"/>
                  <a:pt x="1692" y="6918"/>
                  <a:pt x="1703" y="6918"/>
                </a:cubicBezTo>
                <a:lnTo>
                  <a:pt x="1703" y="7097"/>
                </a:lnTo>
                <a:cubicBezTo>
                  <a:pt x="1727" y="7132"/>
                  <a:pt x="1727" y="7192"/>
                  <a:pt x="1727" y="7228"/>
                </a:cubicBezTo>
                <a:cubicBezTo>
                  <a:pt x="1644" y="7216"/>
                  <a:pt x="1584" y="7144"/>
                  <a:pt x="1584" y="7049"/>
                </a:cubicBezTo>
                <a:cubicBezTo>
                  <a:pt x="1584" y="6990"/>
                  <a:pt x="1620" y="6930"/>
                  <a:pt x="1668" y="6906"/>
                </a:cubicBezTo>
                <a:close/>
                <a:moveTo>
                  <a:pt x="4168" y="6894"/>
                </a:moveTo>
                <a:cubicBezTo>
                  <a:pt x="4204" y="6918"/>
                  <a:pt x="4239" y="6978"/>
                  <a:pt x="4239" y="7037"/>
                </a:cubicBezTo>
                <a:cubicBezTo>
                  <a:pt x="4228" y="7144"/>
                  <a:pt x="4180" y="7216"/>
                  <a:pt x="4109" y="7228"/>
                </a:cubicBezTo>
                <a:cubicBezTo>
                  <a:pt x="4109" y="7192"/>
                  <a:pt x="4120" y="7132"/>
                  <a:pt x="4120" y="7085"/>
                </a:cubicBezTo>
                <a:lnTo>
                  <a:pt x="4120" y="6906"/>
                </a:lnTo>
                <a:cubicBezTo>
                  <a:pt x="4132" y="6906"/>
                  <a:pt x="4144" y="6906"/>
                  <a:pt x="4168" y="6894"/>
                </a:cubicBezTo>
                <a:close/>
                <a:moveTo>
                  <a:pt x="3251" y="6311"/>
                </a:moveTo>
                <a:cubicBezTo>
                  <a:pt x="3347" y="6490"/>
                  <a:pt x="3513" y="6716"/>
                  <a:pt x="3775" y="6787"/>
                </a:cubicBezTo>
                <a:lnTo>
                  <a:pt x="3775" y="7085"/>
                </a:lnTo>
                <a:cubicBezTo>
                  <a:pt x="3775" y="7561"/>
                  <a:pt x="3430" y="7942"/>
                  <a:pt x="3001" y="7942"/>
                </a:cubicBezTo>
                <a:lnTo>
                  <a:pt x="2787" y="7942"/>
                </a:lnTo>
                <a:cubicBezTo>
                  <a:pt x="2358" y="7942"/>
                  <a:pt x="2013" y="7561"/>
                  <a:pt x="2013" y="7085"/>
                </a:cubicBezTo>
                <a:lnTo>
                  <a:pt x="2013" y="6799"/>
                </a:lnTo>
                <a:lnTo>
                  <a:pt x="2037" y="6799"/>
                </a:lnTo>
                <a:cubicBezTo>
                  <a:pt x="2227" y="6787"/>
                  <a:pt x="2835" y="6728"/>
                  <a:pt x="3251" y="6311"/>
                </a:cubicBezTo>
                <a:close/>
                <a:moveTo>
                  <a:pt x="3013" y="8240"/>
                </a:moveTo>
                <a:cubicBezTo>
                  <a:pt x="3061" y="8264"/>
                  <a:pt x="3108" y="8264"/>
                  <a:pt x="3156" y="8264"/>
                </a:cubicBezTo>
                <a:lnTo>
                  <a:pt x="3156" y="8418"/>
                </a:lnTo>
                <a:lnTo>
                  <a:pt x="2918" y="8656"/>
                </a:lnTo>
                <a:lnTo>
                  <a:pt x="2692" y="8442"/>
                </a:lnTo>
                <a:lnTo>
                  <a:pt x="2692" y="8240"/>
                </a:lnTo>
                <a:close/>
                <a:moveTo>
                  <a:pt x="7597" y="334"/>
                </a:moveTo>
                <a:lnTo>
                  <a:pt x="7597" y="2108"/>
                </a:lnTo>
                <a:cubicBezTo>
                  <a:pt x="7597" y="2203"/>
                  <a:pt x="7680" y="2275"/>
                  <a:pt x="7764" y="2275"/>
                </a:cubicBezTo>
                <a:lnTo>
                  <a:pt x="9538" y="2275"/>
                </a:lnTo>
                <a:lnTo>
                  <a:pt x="9538" y="8871"/>
                </a:lnTo>
                <a:lnTo>
                  <a:pt x="8359" y="8871"/>
                </a:lnTo>
                <a:lnTo>
                  <a:pt x="8359" y="3084"/>
                </a:lnTo>
                <a:lnTo>
                  <a:pt x="8359" y="3061"/>
                </a:lnTo>
                <a:lnTo>
                  <a:pt x="8359" y="3049"/>
                </a:lnTo>
                <a:cubicBezTo>
                  <a:pt x="8359" y="3049"/>
                  <a:pt x="8359" y="3037"/>
                  <a:pt x="8347" y="3037"/>
                </a:cubicBezTo>
                <a:cubicBezTo>
                  <a:pt x="8347" y="3037"/>
                  <a:pt x="8347" y="3013"/>
                  <a:pt x="8335" y="3013"/>
                </a:cubicBezTo>
                <a:lnTo>
                  <a:pt x="8311" y="3001"/>
                </a:lnTo>
                <a:lnTo>
                  <a:pt x="6383" y="1072"/>
                </a:lnTo>
                <a:lnTo>
                  <a:pt x="6371" y="1048"/>
                </a:lnTo>
                <a:lnTo>
                  <a:pt x="6347" y="1036"/>
                </a:lnTo>
                <a:cubicBezTo>
                  <a:pt x="6347" y="1036"/>
                  <a:pt x="6335" y="1036"/>
                  <a:pt x="6335" y="1025"/>
                </a:cubicBezTo>
                <a:lnTo>
                  <a:pt x="3882" y="1025"/>
                </a:lnTo>
                <a:lnTo>
                  <a:pt x="3882" y="334"/>
                </a:lnTo>
                <a:close/>
                <a:moveTo>
                  <a:pt x="6085" y="1334"/>
                </a:moveTo>
                <a:lnTo>
                  <a:pt x="6085" y="3108"/>
                </a:lnTo>
                <a:cubicBezTo>
                  <a:pt x="6085" y="3192"/>
                  <a:pt x="6156" y="3275"/>
                  <a:pt x="6240" y="3275"/>
                </a:cubicBezTo>
                <a:lnTo>
                  <a:pt x="8014" y="3275"/>
                </a:lnTo>
                <a:lnTo>
                  <a:pt x="8049" y="9883"/>
                </a:lnTo>
                <a:lnTo>
                  <a:pt x="4311" y="9883"/>
                </a:lnTo>
                <a:cubicBezTo>
                  <a:pt x="5192" y="9407"/>
                  <a:pt x="5811" y="8502"/>
                  <a:pt x="5871" y="7430"/>
                </a:cubicBezTo>
                <a:lnTo>
                  <a:pt x="5871" y="7406"/>
                </a:lnTo>
                <a:lnTo>
                  <a:pt x="5871" y="7347"/>
                </a:lnTo>
                <a:lnTo>
                  <a:pt x="5871" y="7323"/>
                </a:lnTo>
                <a:lnTo>
                  <a:pt x="5871" y="7311"/>
                </a:lnTo>
                <a:lnTo>
                  <a:pt x="5871" y="7263"/>
                </a:lnTo>
                <a:lnTo>
                  <a:pt x="5871" y="7228"/>
                </a:lnTo>
                <a:lnTo>
                  <a:pt x="5871" y="7216"/>
                </a:lnTo>
                <a:lnTo>
                  <a:pt x="5871" y="7168"/>
                </a:lnTo>
                <a:lnTo>
                  <a:pt x="5871" y="7144"/>
                </a:lnTo>
                <a:lnTo>
                  <a:pt x="5871" y="7121"/>
                </a:lnTo>
                <a:lnTo>
                  <a:pt x="5871" y="7085"/>
                </a:lnTo>
                <a:lnTo>
                  <a:pt x="5871" y="7049"/>
                </a:lnTo>
                <a:lnTo>
                  <a:pt x="5871" y="7002"/>
                </a:lnTo>
                <a:lnTo>
                  <a:pt x="5871" y="6978"/>
                </a:lnTo>
                <a:lnTo>
                  <a:pt x="5871" y="6930"/>
                </a:lnTo>
                <a:lnTo>
                  <a:pt x="5871" y="6906"/>
                </a:lnTo>
                <a:lnTo>
                  <a:pt x="5871" y="6859"/>
                </a:lnTo>
                <a:lnTo>
                  <a:pt x="5871" y="6847"/>
                </a:lnTo>
                <a:lnTo>
                  <a:pt x="5871" y="6823"/>
                </a:lnTo>
                <a:lnTo>
                  <a:pt x="5871" y="6787"/>
                </a:lnTo>
                <a:lnTo>
                  <a:pt x="5871" y="6751"/>
                </a:lnTo>
                <a:cubicBezTo>
                  <a:pt x="5871" y="6728"/>
                  <a:pt x="5859" y="6704"/>
                  <a:pt x="5859" y="6680"/>
                </a:cubicBezTo>
                <a:cubicBezTo>
                  <a:pt x="5859" y="6644"/>
                  <a:pt x="5847" y="6632"/>
                  <a:pt x="5847" y="6609"/>
                </a:cubicBezTo>
                <a:lnTo>
                  <a:pt x="5847" y="6573"/>
                </a:lnTo>
                <a:cubicBezTo>
                  <a:pt x="5847" y="6561"/>
                  <a:pt x="5835" y="6549"/>
                  <a:pt x="5835" y="6525"/>
                </a:cubicBezTo>
                <a:lnTo>
                  <a:pt x="5835" y="6513"/>
                </a:lnTo>
                <a:lnTo>
                  <a:pt x="5835" y="6501"/>
                </a:lnTo>
                <a:cubicBezTo>
                  <a:pt x="5835" y="6490"/>
                  <a:pt x="5811" y="6466"/>
                  <a:pt x="5811" y="6454"/>
                </a:cubicBezTo>
                <a:cubicBezTo>
                  <a:pt x="5811" y="6442"/>
                  <a:pt x="5811" y="6442"/>
                  <a:pt x="5799" y="6430"/>
                </a:cubicBezTo>
                <a:cubicBezTo>
                  <a:pt x="5799" y="6406"/>
                  <a:pt x="5787" y="6394"/>
                  <a:pt x="5787" y="6382"/>
                </a:cubicBezTo>
                <a:lnTo>
                  <a:pt x="5775" y="6347"/>
                </a:lnTo>
                <a:cubicBezTo>
                  <a:pt x="5775" y="6335"/>
                  <a:pt x="5752" y="6323"/>
                  <a:pt x="5752" y="6311"/>
                </a:cubicBezTo>
                <a:cubicBezTo>
                  <a:pt x="5752" y="6287"/>
                  <a:pt x="5752" y="6287"/>
                  <a:pt x="5740" y="6275"/>
                </a:cubicBezTo>
                <a:cubicBezTo>
                  <a:pt x="5740" y="6263"/>
                  <a:pt x="5728" y="6251"/>
                  <a:pt x="5728" y="6228"/>
                </a:cubicBezTo>
                <a:lnTo>
                  <a:pt x="5716" y="6204"/>
                </a:lnTo>
                <a:cubicBezTo>
                  <a:pt x="5716" y="6192"/>
                  <a:pt x="5692" y="6168"/>
                  <a:pt x="5692" y="6156"/>
                </a:cubicBezTo>
                <a:lnTo>
                  <a:pt x="5692" y="6144"/>
                </a:lnTo>
                <a:cubicBezTo>
                  <a:pt x="5656" y="6037"/>
                  <a:pt x="5597" y="5930"/>
                  <a:pt x="5549" y="5835"/>
                </a:cubicBezTo>
                <a:cubicBezTo>
                  <a:pt x="5518" y="5780"/>
                  <a:pt x="5461" y="5751"/>
                  <a:pt x="5405" y="5751"/>
                </a:cubicBezTo>
                <a:cubicBezTo>
                  <a:pt x="5376" y="5751"/>
                  <a:pt x="5347" y="5759"/>
                  <a:pt x="5323" y="5775"/>
                </a:cubicBezTo>
                <a:cubicBezTo>
                  <a:pt x="5252" y="5811"/>
                  <a:pt x="5216" y="5918"/>
                  <a:pt x="5263" y="5989"/>
                </a:cubicBezTo>
                <a:cubicBezTo>
                  <a:pt x="5311" y="6085"/>
                  <a:pt x="5371" y="6192"/>
                  <a:pt x="5394" y="6275"/>
                </a:cubicBezTo>
                <a:lnTo>
                  <a:pt x="5394" y="6287"/>
                </a:lnTo>
                <a:cubicBezTo>
                  <a:pt x="5394" y="6311"/>
                  <a:pt x="5418" y="6323"/>
                  <a:pt x="5418" y="6335"/>
                </a:cubicBezTo>
                <a:lnTo>
                  <a:pt x="5430" y="6370"/>
                </a:lnTo>
                <a:cubicBezTo>
                  <a:pt x="5430" y="6382"/>
                  <a:pt x="5442" y="6394"/>
                  <a:pt x="5442" y="6406"/>
                </a:cubicBezTo>
                <a:cubicBezTo>
                  <a:pt x="5442" y="6430"/>
                  <a:pt x="5442" y="6430"/>
                  <a:pt x="5454" y="6442"/>
                </a:cubicBezTo>
                <a:cubicBezTo>
                  <a:pt x="5454" y="6454"/>
                  <a:pt x="5478" y="6466"/>
                  <a:pt x="5478" y="6490"/>
                </a:cubicBezTo>
                <a:lnTo>
                  <a:pt x="5490" y="6513"/>
                </a:lnTo>
                <a:cubicBezTo>
                  <a:pt x="5490" y="6525"/>
                  <a:pt x="5502" y="6549"/>
                  <a:pt x="5502" y="6561"/>
                </a:cubicBezTo>
                <a:lnTo>
                  <a:pt x="5502" y="6585"/>
                </a:lnTo>
                <a:cubicBezTo>
                  <a:pt x="5502" y="6609"/>
                  <a:pt x="5513" y="6621"/>
                  <a:pt x="5513" y="6632"/>
                </a:cubicBezTo>
                <a:lnTo>
                  <a:pt x="5513" y="6668"/>
                </a:lnTo>
                <a:cubicBezTo>
                  <a:pt x="5513" y="6680"/>
                  <a:pt x="5513" y="6692"/>
                  <a:pt x="5537" y="6704"/>
                </a:cubicBezTo>
                <a:lnTo>
                  <a:pt x="5537" y="6740"/>
                </a:lnTo>
                <a:cubicBezTo>
                  <a:pt x="5537" y="6751"/>
                  <a:pt x="5549" y="6787"/>
                  <a:pt x="5549" y="6799"/>
                </a:cubicBezTo>
                <a:cubicBezTo>
                  <a:pt x="5549" y="6811"/>
                  <a:pt x="5561" y="6847"/>
                  <a:pt x="5561" y="6859"/>
                </a:cubicBezTo>
                <a:lnTo>
                  <a:pt x="5561" y="6882"/>
                </a:lnTo>
                <a:lnTo>
                  <a:pt x="5561" y="6930"/>
                </a:lnTo>
                <a:lnTo>
                  <a:pt x="5561" y="6942"/>
                </a:lnTo>
                <a:lnTo>
                  <a:pt x="5561" y="6966"/>
                </a:lnTo>
                <a:lnTo>
                  <a:pt x="5561" y="7002"/>
                </a:lnTo>
                <a:lnTo>
                  <a:pt x="5561" y="7037"/>
                </a:lnTo>
                <a:lnTo>
                  <a:pt x="5561" y="7085"/>
                </a:lnTo>
                <a:lnTo>
                  <a:pt x="5561" y="7109"/>
                </a:lnTo>
                <a:lnTo>
                  <a:pt x="5561" y="7156"/>
                </a:lnTo>
                <a:lnTo>
                  <a:pt x="5561" y="7180"/>
                </a:lnTo>
                <a:lnTo>
                  <a:pt x="5561" y="7216"/>
                </a:lnTo>
                <a:lnTo>
                  <a:pt x="5561" y="7240"/>
                </a:lnTo>
                <a:lnTo>
                  <a:pt x="5561" y="7287"/>
                </a:lnTo>
                <a:lnTo>
                  <a:pt x="5561" y="7299"/>
                </a:lnTo>
                <a:lnTo>
                  <a:pt x="5561" y="7335"/>
                </a:lnTo>
                <a:lnTo>
                  <a:pt x="5561" y="7359"/>
                </a:lnTo>
                <a:lnTo>
                  <a:pt x="5561" y="7383"/>
                </a:lnTo>
                <a:lnTo>
                  <a:pt x="5561" y="7394"/>
                </a:lnTo>
                <a:lnTo>
                  <a:pt x="5561" y="7454"/>
                </a:lnTo>
                <a:lnTo>
                  <a:pt x="5561" y="7466"/>
                </a:lnTo>
                <a:cubicBezTo>
                  <a:pt x="5537" y="8133"/>
                  <a:pt x="5252" y="8728"/>
                  <a:pt x="4823" y="9180"/>
                </a:cubicBezTo>
                <a:cubicBezTo>
                  <a:pt x="4644" y="8835"/>
                  <a:pt x="4323" y="8704"/>
                  <a:pt x="4287" y="8692"/>
                </a:cubicBezTo>
                <a:lnTo>
                  <a:pt x="3513" y="8371"/>
                </a:lnTo>
                <a:lnTo>
                  <a:pt x="3513" y="8228"/>
                </a:lnTo>
                <a:cubicBezTo>
                  <a:pt x="3751" y="8109"/>
                  <a:pt x="3942" y="7894"/>
                  <a:pt x="4049" y="7633"/>
                </a:cubicBezTo>
                <a:lnTo>
                  <a:pt x="4085" y="7633"/>
                </a:lnTo>
                <a:cubicBezTo>
                  <a:pt x="4359" y="7633"/>
                  <a:pt x="4585" y="7406"/>
                  <a:pt x="4585" y="7109"/>
                </a:cubicBezTo>
                <a:cubicBezTo>
                  <a:pt x="4585" y="6906"/>
                  <a:pt x="4466" y="6704"/>
                  <a:pt x="4287" y="6632"/>
                </a:cubicBezTo>
                <a:lnTo>
                  <a:pt x="4287" y="6454"/>
                </a:lnTo>
                <a:cubicBezTo>
                  <a:pt x="4287" y="5680"/>
                  <a:pt x="3704" y="5061"/>
                  <a:pt x="2989" y="5061"/>
                </a:cubicBezTo>
                <a:lnTo>
                  <a:pt x="2894" y="5061"/>
                </a:lnTo>
                <a:cubicBezTo>
                  <a:pt x="2180" y="5061"/>
                  <a:pt x="1608" y="5680"/>
                  <a:pt x="1608" y="6454"/>
                </a:cubicBezTo>
                <a:lnTo>
                  <a:pt x="1608" y="6632"/>
                </a:lnTo>
                <a:cubicBezTo>
                  <a:pt x="1430" y="6704"/>
                  <a:pt x="1311" y="6906"/>
                  <a:pt x="1311" y="7109"/>
                </a:cubicBezTo>
                <a:cubicBezTo>
                  <a:pt x="1311" y="7394"/>
                  <a:pt x="1525" y="7633"/>
                  <a:pt x="1799" y="7633"/>
                </a:cubicBezTo>
                <a:cubicBezTo>
                  <a:pt x="1811" y="7633"/>
                  <a:pt x="1823" y="7633"/>
                  <a:pt x="1846" y="7621"/>
                </a:cubicBezTo>
                <a:cubicBezTo>
                  <a:pt x="1942" y="7883"/>
                  <a:pt x="2156" y="8109"/>
                  <a:pt x="2406" y="8228"/>
                </a:cubicBezTo>
                <a:lnTo>
                  <a:pt x="2406" y="8371"/>
                </a:lnTo>
                <a:lnTo>
                  <a:pt x="1620" y="8692"/>
                </a:lnTo>
                <a:cubicBezTo>
                  <a:pt x="1572" y="8704"/>
                  <a:pt x="1251" y="8835"/>
                  <a:pt x="1084" y="9180"/>
                </a:cubicBezTo>
                <a:cubicBezTo>
                  <a:pt x="596" y="8668"/>
                  <a:pt x="299" y="7978"/>
                  <a:pt x="334" y="7216"/>
                </a:cubicBezTo>
                <a:lnTo>
                  <a:pt x="334" y="7204"/>
                </a:lnTo>
                <a:lnTo>
                  <a:pt x="334" y="7156"/>
                </a:lnTo>
                <a:lnTo>
                  <a:pt x="334" y="7144"/>
                </a:lnTo>
                <a:lnTo>
                  <a:pt x="334" y="7121"/>
                </a:lnTo>
                <a:lnTo>
                  <a:pt x="334" y="7097"/>
                </a:lnTo>
                <a:lnTo>
                  <a:pt x="334" y="7085"/>
                </a:lnTo>
                <a:lnTo>
                  <a:pt x="334" y="7061"/>
                </a:lnTo>
                <a:lnTo>
                  <a:pt x="334" y="7025"/>
                </a:lnTo>
                <a:lnTo>
                  <a:pt x="334" y="7002"/>
                </a:lnTo>
                <a:lnTo>
                  <a:pt x="334" y="6990"/>
                </a:lnTo>
                <a:lnTo>
                  <a:pt x="334" y="6942"/>
                </a:lnTo>
                <a:lnTo>
                  <a:pt x="334" y="6918"/>
                </a:lnTo>
                <a:lnTo>
                  <a:pt x="334" y="6871"/>
                </a:lnTo>
                <a:lnTo>
                  <a:pt x="334" y="6847"/>
                </a:lnTo>
                <a:cubicBezTo>
                  <a:pt x="334" y="6823"/>
                  <a:pt x="334" y="6811"/>
                  <a:pt x="358" y="6799"/>
                </a:cubicBezTo>
                <a:lnTo>
                  <a:pt x="358" y="6763"/>
                </a:lnTo>
                <a:cubicBezTo>
                  <a:pt x="358" y="6751"/>
                  <a:pt x="358" y="6740"/>
                  <a:pt x="370" y="6740"/>
                </a:cubicBezTo>
                <a:lnTo>
                  <a:pt x="370" y="6728"/>
                </a:lnTo>
                <a:lnTo>
                  <a:pt x="370" y="6704"/>
                </a:lnTo>
                <a:cubicBezTo>
                  <a:pt x="370" y="6692"/>
                  <a:pt x="370" y="6680"/>
                  <a:pt x="382" y="6668"/>
                </a:cubicBezTo>
                <a:lnTo>
                  <a:pt x="382" y="6644"/>
                </a:lnTo>
                <a:lnTo>
                  <a:pt x="382" y="6632"/>
                </a:lnTo>
                <a:cubicBezTo>
                  <a:pt x="382" y="6621"/>
                  <a:pt x="394" y="6585"/>
                  <a:pt x="394" y="6573"/>
                </a:cubicBezTo>
                <a:cubicBezTo>
                  <a:pt x="394" y="6561"/>
                  <a:pt x="406" y="6525"/>
                  <a:pt x="406" y="6513"/>
                </a:cubicBezTo>
                <a:lnTo>
                  <a:pt x="406" y="6501"/>
                </a:lnTo>
                <a:cubicBezTo>
                  <a:pt x="406" y="6490"/>
                  <a:pt x="429" y="6466"/>
                  <a:pt x="429" y="6454"/>
                </a:cubicBezTo>
                <a:cubicBezTo>
                  <a:pt x="429" y="6442"/>
                  <a:pt x="429" y="6442"/>
                  <a:pt x="441" y="6430"/>
                </a:cubicBezTo>
                <a:cubicBezTo>
                  <a:pt x="441" y="6406"/>
                  <a:pt x="453" y="6394"/>
                  <a:pt x="453" y="6382"/>
                </a:cubicBezTo>
                <a:cubicBezTo>
                  <a:pt x="453" y="6370"/>
                  <a:pt x="453" y="6370"/>
                  <a:pt x="465" y="6347"/>
                </a:cubicBezTo>
                <a:cubicBezTo>
                  <a:pt x="465" y="6335"/>
                  <a:pt x="489" y="6323"/>
                  <a:pt x="489" y="6311"/>
                </a:cubicBezTo>
                <a:cubicBezTo>
                  <a:pt x="489" y="6311"/>
                  <a:pt x="489" y="6287"/>
                  <a:pt x="501" y="6275"/>
                </a:cubicBezTo>
                <a:cubicBezTo>
                  <a:pt x="501" y="6263"/>
                  <a:pt x="513" y="6251"/>
                  <a:pt x="513" y="6228"/>
                </a:cubicBezTo>
                <a:cubicBezTo>
                  <a:pt x="513" y="6216"/>
                  <a:pt x="513" y="6216"/>
                  <a:pt x="525" y="6204"/>
                </a:cubicBezTo>
                <a:cubicBezTo>
                  <a:pt x="525" y="6192"/>
                  <a:pt x="549" y="6168"/>
                  <a:pt x="549" y="6156"/>
                </a:cubicBezTo>
                <a:lnTo>
                  <a:pt x="560" y="6144"/>
                </a:lnTo>
                <a:cubicBezTo>
                  <a:pt x="560" y="6132"/>
                  <a:pt x="572" y="6109"/>
                  <a:pt x="572" y="6097"/>
                </a:cubicBezTo>
                <a:lnTo>
                  <a:pt x="572" y="6085"/>
                </a:lnTo>
                <a:cubicBezTo>
                  <a:pt x="691" y="5859"/>
                  <a:pt x="858" y="5656"/>
                  <a:pt x="1037" y="5454"/>
                </a:cubicBezTo>
                <a:lnTo>
                  <a:pt x="1049" y="5442"/>
                </a:lnTo>
                <a:lnTo>
                  <a:pt x="1061" y="5430"/>
                </a:lnTo>
                <a:lnTo>
                  <a:pt x="1084" y="5418"/>
                </a:lnTo>
                <a:lnTo>
                  <a:pt x="1096" y="5394"/>
                </a:lnTo>
                <a:lnTo>
                  <a:pt x="1108" y="5382"/>
                </a:lnTo>
                <a:lnTo>
                  <a:pt x="1120" y="5370"/>
                </a:lnTo>
                <a:lnTo>
                  <a:pt x="1144" y="5358"/>
                </a:lnTo>
                <a:cubicBezTo>
                  <a:pt x="1156" y="5358"/>
                  <a:pt x="1156" y="5335"/>
                  <a:pt x="1168" y="5335"/>
                </a:cubicBezTo>
                <a:lnTo>
                  <a:pt x="1180" y="5323"/>
                </a:lnTo>
                <a:cubicBezTo>
                  <a:pt x="1203" y="5323"/>
                  <a:pt x="1203" y="5311"/>
                  <a:pt x="1215" y="5311"/>
                </a:cubicBezTo>
                <a:cubicBezTo>
                  <a:pt x="1227" y="5311"/>
                  <a:pt x="1227" y="5299"/>
                  <a:pt x="1239" y="5299"/>
                </a:cubicBezTo>
                <a:cubicBezTo>
                  <a:pt x="1263" y="5299"/>
                  <a:pt x="1263" y="5275"/>
                  <a:pt x="1275" y="5275"/>
                </a:cubicBezTo>
                <a:cubicBezTo>
                  <a:pt x="1287" y="5275"/>
                  <a:pt x="1287" y="5263"/>
                  <a:pt x="1299" y="5263"/>
                </a:cubicBezTo>
                <a:cubicBezTo>
                  <a:pt x="1322" y="5263"/>
                  <a:pt x="1322" y="5251"/>
                  <a:pt x="1334" y="5251"/>
                </a:cubicBezTo>
                <a:cubicBezTo>
                  <a:pt x="1346" y="5251"/>
                  <a:pt x="1346" y="5239"/>
                  <a:pt x="1358" y="5239"/>
                </a:cubicBezTo>
                <a:cubicBezTo>
                  <a:pt x="1382" y="5239"/>
                  <a:pt x="1382" y="5216"/>
                  <a:pt x="1394" y="5216"/>
                </a:cubicBezTo>
                <a:cubicBezTo>
                  <a:pt x="1406" y="5216"/>
                  <a:pt x="1406" y="5204"/>
                  <a:pt x="1418" y="5204"/>
                </a:cubicBezTo>
                <a:cubicBezTo>
                  <a:pt x="1442" y="5204"/>
                  <a:pt x="1442" y="5192"/>
                  <a:pt x="1453" y="5192"/>
                </a:cubicBezTo>
                <a:cubicBezTo>
                  <a:pt x="1465" y="5192"/>
                  <a:pt x="1465" y="5180"/>
                  <a:pt x="1477" y="5180"/>
                </a:cubicBezTo>
                <a:cubicBezTo>
                  <a:pt x="1501" y="5180"/>
                  <a:pt x="1501" y="5156"/>
                  <a:pt x="1513" y="5156"/>
                </a:cubicBezTo>
                <a:cubicBezTo>
                  <a:pt x="1525" y="5156"/>
                  <a:pt x="1525" y="5144"/>
                  <a:pt x="1537" y="5144"/>
                </a:cubicBezTo>
                <a:cubicBezTo>
                  <a:pt x="1561" y="5144"/>
                  <a:pt x="1561" y="5132"/>
                  <a:pt x="1572" y="5132"/>
                </a:cubicBezTo>
                <a:cubicBezTo>
                  <a:pt x="1584" y="5132"/>
                  <a:pt x="1584" y="5120"/>
                  <a:pt x="1596" y="5120"/>
                </a:cubicBezTo>
                <a:cubicBezTo>
                  <a:pt x="1620" y="5120"/>
                  <a:pt x="1620" y="5097"/>
                  <a:pt x="1632" y="5097"/>
                </a:cubicBezTo>
                <a:cubicBezTo>
                  <a:pt x="1644" y="5097"/>
                  <a:pt x="1644" y="5085"/>
                  <a:pt x="1656" y="5085"/>
                </a:cubicBezTo>
                <a:cubicBezTo>
                  <a:pt x="1680" y="5085"/>
                  <a:pt x="1680" y="5073"/>
                  <a:pt x="1692" y="5073"/>
                </a:cubicBezTo>
                <a:lnTo>
                  <a:pt x="1703" y="5073"/>
                </a:lnTo>
                <a:cubicBezTo>
                  <a:pt x="1715" y="5073"/>
                  <a:pt x="1715" y="5061"/>
                  <a:pt x="1739" y="5061"/>
                </a:cubicBezTo>
                <a:cubicBezTo>
                  <a:pt x="1739" y="5061"/>
                  <a:pt x="1751" y="5061"/>
                  <a:pt x="1751" y="5037"/>
                </a:cubicBezTo>
                <a:lnTo>
                  <a:pt x="1763" y="5025"/>
                </a:lnTo>
                <a:cubicBezTo>
                  <a:pt x="1763" y="5025"/>
                  <a:pt x="1775" y="5025"/>
                  <a:pt x="1775" y="5013"/>
                </a:cubicBezTo>
                <a:cubicBezTo>
                  <a:pt x="1799" y="5013"/>
                  <a:pt x="1799" y="5013"/>
                  <a:pt x="1811" y="5001"/>
                </a:cubicBezTo>
                <a:lnTo>
                  <a:pt x="1823" y="5001"/>
                </a:lnTo>
                <a:cubicBezTo>
                  <a:pt x="1823" y="5001"/>
                  <a:pt x="1834" y="5001"/>
                  <a:pt x="1834" y="4977"/>
                </a:cubicBezTo>
                <a:cubicBezTo>
                  <a:pt x="1858" y="4977"/>
                  <a:pt x="1858" y="4966"/>
                  <a:pt x="1870" y="4966"/>
                </a:cubicBezTo>
                <a:cubicBezTo>
                  <a:pt x="1882" y="4966"/>
                  <a:pt x="1894" y="4954"/>
                  <a:pt x="1918" y="4954"/>
                </a:cubicBezTo>
                <a:cubicBezTo>
                  <a:pt x="1930" y="4954"/>
                  <a:pt x="1942" y="4942"/>
                  <a:pt x="1953" y="4942"/>
                </a:cubicBezTo>
                <a:lnTo>
                  <a:pt x="1977" y="4942"/>
                </a:lnTo>
                <a:lnTo>
                  <a:pt x="1989" y="4918"/>
                </a:lnTo>
                <a:cubicBezTo>
                  <a:pt x="2001" y="4918"/>
                  <a:pt x="2001" y="4918"/>
                  <a:pt x="2013" y="4906"/>
                </a:cubicBezTo>
                <a:cubicBezTo>
                  <a:pt x="2013" y="4906"/>
                  <a:pt x="2037" y="4906"/>
                  <a:pt x="2037" y="4894"/>
                </a:cubicBezTo>
                <a:lnTo>
                  <a:pt x="2049" y="4894"/>
                </a:lnTo>
                <a:cubicBezTo>
                  <a:pt x="2061" y="4894"/>
                  <a:pt x="2061" y="4894"/>
                  <a:pt x="2073" y="4882"/>
                </a:cubicBezTo>
                <a:lnTo>
                  <a:pt x="2108" y="4882"/>
                </a:lnTo>
                <a:cubicBezTo>
                  <a:pt x="2120" y="4882"/>
                  <a:pt x="2120" y="4882"/>
                  <a:pt x="2132" y="4858"/>
                </a:cubicBezTo>
                <a:lnTo>
                  <a:pt x="2168" y="4846"/>
                </a:lnTo>
                <a:cubicBezTo>
                  <a:pt x="2180" y="4858"/>
                  <a:pt x="2215" y="4858"/>
                  <a:pt x="2227" y="4858"/>
                </a:cubicBezTo>
                <a:cubicBezTo>
                  <a:pt x="2275" y="4858"/>
                  <a:pt x="2311" y="4835"/>
                  <a:pt x="2346" y="4799"/>
                </a:cubicBezTo>
                <a:lnTo>
                  <a:pt x="3442" y="4799"/>
                </a:lnTo>
                <a:cubicBezTo>
                  <a:pt x="3466" y="4799"/>
                  <a:pt x="3477" y="4799"/>
                  <a:pt x="3477" y="4823"/>
                </a:cubicBezTo>
                <a:cubicBezTo>
                  <a:pt x="3489" y="4823"/>
                  <a:pt x="3489" y="4823"/>
                  <a:pt x="3501" y="4835"/>
                </a:cubicBezTo>
                <a:cubicBezTo>
                  <a:pt x="3525" y="4835"/>
                  <a:pt x="3537" y="4835"/>
                  <a:pt x="3537" y="4846"/>
                </a:cubicBezTo>
                <a:cubicBezTo>
                  <a:pt x="3549" y="4846"/>
                  <a:pt x="3549" y="4846"/>
                  <a:pt x="3561" y="4858"/>
                </a:cubicBezTo>
                <a:cubicBezTo>
                  <a:pt x="3585" y="4858"/>
                  <a:pt x="3597" y="4858"/>
                  <a:pt x="3597" y="4882"/>
                </a:cubicBezTo>
                <a:cubicBezTo>
                  <a:pt x="3608" y="4882"/>
                  <a:pt x="3608" y="4882"/>
                  <a:pt x="3620" y="4894"/>
                </a:cubicBezTo>
                <a:cubicBezTo>
                  <a:pt x="3644" y="4894"/>
                  <a:pt x="3644" y="4894"/>
                  <a:pt x="3656" y="4906"/>
                </a:cubicBezTo>
                <a:cubicBezTo>
                  <a:pt x="3668" y="4906"/>
                  <a:pt x="3668" y="4906"/>
                  <a:pt x="3680" y="4918"/>
                </a:cubicBezTo>
                <a:cubicBezTo>
                  <a:pt x="3704" y="4918"/>
                  <a:pt x="3704" y="4942"/>
                  <a:pt x="3716" y="4942"/>
                </a:cubicBezTo>
                <a:cubicBezTo>
                  <a:pt x="3728" y="4942"/>
                  <a:pt x="3728" y="4942"/>
                  <a:pt x="3739" y="4954"/>
                </a:cubicBezTo>
                <a:cubicBezTo>
                  <a:pt x="3763" y="4954"/>
                  <a:pt x="3763" y="4966"/>
                  <a:pt x="3775" y="4966"/>
                </a:cubicBezTo>
                <a:lnTo>
                  <a:pt x="3787" y="4966"/>
                </a:lnTo>
                <a:cubicBezTo>
                  <a:pt x="3787" y="4966"/>
                  <a:pt x="3799" y="4966"/>
                  <a:pt x="3799" y="4977"/>
                </a:cubicBezTo>
                <a:cubicBezTo>
                  <a:pt x="3823" y="4977"/>
                  <a:pt x="3823" y="4977"/>
                  <a:pt x="3835" y="5001"/>
                </a:cubicBezTo>
                <a:lnTo>
                  <a:pt x="3847" y="5013"/>
                </a:lnTo>
                <a:cubicBezTo>
                  <a:pt x="3847" y="5013"/>
                  <a:pt x="3858" y="5013"/>
                  <a:pt x="3858" y="5025"/>
                </a:cubicBezTo>
                <a:cubicBezTo>
                  <a:pt x="3882" y="5025"/>
                  <a:pt x="3882" y="5037"/>
                  <a:pt x="3894" y="5037"/>
                </a:cubicBezTo>
                <a:lnTo>
                  <a:pt x="3906" y="5037"/>
                </a:lnTo>
                <a:cubicBezTo>
                  <a:pt x="3906" y="5037"/>
                  <a:pt x="3918" y="5037"/>
                  <a:pt x="3918" y="5061"/>
                </a:cubicBezTo>
                <a:cubicBezTo>
                  <a:pt x="3942" y="5061"/>
                  <a:pt x="3942" y="5073"/>
                  <a:pt x="3954" y="5073"/>
                </a:cubicBezTo>
                <a:lnTo>
                  <a:pt x="3966" y="5085"/>
                </a:lnTo>
                <a:cubicBezTo>
                  <a:pt x="3966" y="5085"/>
                  <a:pt x="3978" y="5085"/>
                  <a:pt x="3978" y="5097"/>
                </a:cubicBezTo>
                <a:cubicBezTo>
                  <a:pt x="4001" y="5097"/>
                  <a:pt x="4001" y="5120"/>
                  <a:pt x="4013" y="5120"/>
                </a:cubicBezTo>
                <a:lnTo>
                  <a:pt x="4025" y="5132"/>
                </a:lnTo>
                <a:cubicBezTo>
                  <a:pt x="4025" y="5132"/>
                  <a:pt x="4037" y="5132"/>
                  <a:pt x="4037" y="5144"/>
                </a:cubicBezTo>
                <a:cubicBezTo>
                  <a:pt x="4061" y="5144"/>
                  <a:pt x="4073" y="5156"/>
                  <a:pt x="4085" y="5156"/>
                </a:cubicBezTo>
                <a:cubicBezTo>
                  <a:pt x="4097" y="5156"/>
                  <a:pt x="4120" y="5180"/>
                  <a:pt x="4132" y="5180"/>
                </a:cubicBezTo>
                <a:cubicBezTo>
                  <a:pt x="4144" y="5180"/>
                  <a:pt x="4144" y="5192"/>
                  <a:pt x="4156" y="5192"/>
                </a:cubicBezTo>
                <a:lnTo>
                  <a:pt x="4180" y="5204"/>
                </a:lnTo>
                <a:lnTo>
                  <a:pt x="4192" y="5216"/>
                </a:lnTo>
                <a:lnTo>
                  <a:pt x="4204" y="5239"/>
                </a:lnTo>
                <a:lnTo>
                  <a:pt x="4216" y="5251"/>
                </a:lnTo>
                <a:lnTo>
                  <a:pt x="4239" y="5263"/>
                </a:lnTo>
                <a:lnTo>
                  <a:pt x="4251" y="5275"/>
                </a:lnTo>
                <a:cubicBezTo>
                  <a:pt x="4263" y="5275"/>
                  <a:pt x="4263" y="5299"/>
                  <a:pt x="4275" y="5299"/>
                </a:cubicBezTo>
                <a:cubicBezTo>
                  <a:pt x="4299" y="5299"/>
                  <a:pt x="4299" y="5311"/>
                  <a:pt x="4311" y="5311"/>
                </a:cubicBezTo>
                <a:cubicBezTo>
                  <a:pt x="4323" y="5311"/>
                  <a:pt x="4323" y="5323"/>
                  <a:pt x="4335" y="5323"/>
                </a:cubicBezTo>
                <a:lnTo>
                  <a:pt x="4359" y="5323"/>
                </a:lnTo>
                <a:lnTo>
                  <a:pt x="4370" y="5335"/>
                </a:lnTo>
                <a:cubicBezTo>
                  <a:pt x="4382" y="5335"/>
                  <a:pt x="4382" y="5358"/>
                  <a:pt x="4394" y="5358"/>
                </a:cubicBezTo>
                <a:cubicBezTo>
                  <a:pt x="4418" y="5358"/>
                  <a:pt x="4418" y="5370"/>
                  <a:pt x="4430" y="5370"/>
                </a:cubicBezTo>
                <a:cubicBezTo>
                  <a:pt x="4442" y="5370"/>
                  <a:pt x="4442" y="5382"/>
                  <a:pt x="4454" y="5382"/>
                </a:cubicBezTo>
                <a:cubicBezTo>
                  <a:pt x="4478" y="5382"/>
                  <a:pt x="4478" y="5394"/>
                  <a:pt x="4490" y="5394"/>
                </a:cubicBezTo>
                <a:cubicBezTo>
                  <a:pt x="4501" y="5394"/>
                  <a:pt x="4501" y="5418"/>
                  <a:pt x="4513" y="5418"/>
                </a:cubicBezTo>
                <a:cubicBezTo>
                  <a:pt x="4537" y="5418"/>
                  <a:pt x="4537" y="5430"/>
                  <a:pt x="4549" y="5430"/>
                </a:cubicBezTo>
                <a:cubicBezTo>
                  <a:pt x="4561" y="5430"/>
                  <a:pt x="4561" y="5442"/>
                  <a:pt x="4573" y="5442"/>
                </a:cubicBezTo>
                <a:cubicBezTo>
                  <a:pt x="4597" y="5442"/>
                  <a:pt x="4597" y="5454"/>
                  <a:pt x="4609" y="5454"/>
                </a:cubicBezTo>
                <a:cubicBezTo>
                  <a:pt x="4620" y="5454"/>
                  <a:pt x="4620" y="5478"/>
                  <a:pt x="4632" y="5478"/>
                </a:cubicBezTo>
                <a:cubicBezTo>
                  <a:pt x="4656" y="5478"/>
                  <a:pt x="4656" y="5489"/>
                  <a:pt x="4668" y="5489"/>
                </a:cubicBezTo>
                <a:lnTo>
                  <a:pt x="4680" y="5501"/>
                </a:lnTo>
                <a:cubicBezTo>
                  <a:pt x="4692" y="5501"/>
                  <a:pt x="4692" y="5513"/>
                  <a:pt x="4716" y="5513"/>
                </a:cubicBezTo>
                <a:lnTo>
                  <a:pt x="4728" y="5537"/>
                </a:lnTo>
                <a:lnTo>
                  <a:pt x="4751" y="5561"/>
                </a:lnTo>
                <a:lnTo>
                  <a:pt x="4787" y="5597"/>
                </a:lnTo>
                <a:lnTo>
                  <a:pt x="4799" y="5608"/>
                </a:lnTo>
                <a:cubicBezTo>
                  <a:pt x="4832" y="5641"/>
                  <a:pt x="4879" y="5660"/>
                  <a:pt x="4925" y="5660"/>
                </a:cubicBezTo>
                <a:cubicBezTo>
                  <a:pt x="4962" y="5660"/>
                  <a:pt x="4998" y="5647"/>
                  <a:pt x="5025" y="5620"/>
                </a:cubicBezTo>
                <a:cubicBezTo>
                  <a:pt x="5085" y="5561"/>
                  <a:pt x="5097" y="5454"/>
                  <a:pt x="5037" y="5394"/>
                </a:cubicBezTo>
                <a:lnTo>
                  <a:pt x="5025" y="5382"/>
                </a:lnTo>
                <a:lnTo>
                  <a:pt x="4990" y="5358"/>
                </a:lnTo>
                <a:lnTo>
                  <a:pt x="4966" y="5323"/>
                </a:lnTo>
                <a:lnTo>
                  <a:pt x="4954" y="5311"/>
                </a:lnTo>
                <a:lnTo>
                  <a:pt x="4918" y="5275"/>
                </a:lnTo>
                <a:lnTo>
                  <a:pt x="4894" y="5251"/>
                </a:lnTo>
                <a:lnTo>
                  <a:pt x="4859" y="5216"/>
                </a:lnTo>
                <a:lnTo>
                  <a:pt x="4835" y="5192"/>
                </a:lnTo>
                <a:lnTo>
                  <a:pt x="4799" y="5156"/>
                </a:lnTo>
                <a:lnTo>
                  <a:pt x="4775" y="5132"/>
                </a:lnTo>
                <a:lnTo>
                  <a:pt x="4740" y="5097"/>
                </a:lnTo>
                <a:lnTo>
                  <a:pt x="4716" y="5073"/>
                </a:lnTo>
                <a:lnTo>
                  <a:pt x="4680" y="5037"/>
                </a:lnTo>
                <a:lnTo>
                  <a:pt x="4656" y="5013"/>
                </a:lnTo>
                <a:cubicBezTo>
                  <a:pt x="4632" y="5013"/>
                  <a:pt x="4632" y="5001"/>
                  <a:pt x="4620" y="5001"/>
                </a:cubicBezTo>
                <a:cubicBezTo>
                  <a:pt x="4609" y="5001"/>
                  <a:pt x="4609" y="4977"/>
                  <a:pt x="4597" y="4977"/>
                </a:cubicBezTo>
                <a:cubicBezTo>
                  <a:pt x="4573" y="4977"/>
                  <a:pt x="4573" y="4966"/>
                  <a:pt x="4561" y="4966"/>
                </a:cubicBezTo>
                <a:lnTo>
                  <a:pt x="4549" y="4966"/>
                </a:lnTo>
                <a:cubicBezTo>
                  <a:pt x="4537" y="4966"/>
                  <a:pt x="4537" y="4954"/>
                  <a:pt x="4513" y="4954"/>
                </a:cubicBezTo>
                <a:cubicBezTo>
                  <a:pt x="4501" y="4954"/>
                  <a:pt x="4501" y="4942"/>
                  <a:pt x="4490" y="4942"/>
                </a:cubicBezTo>
                <a:cubicBezTo>
                  <a:pt x="4478" y="4942"/>
                  <a:pt x="4478" y="4918"/>
                  <a:pt x="4454" y="4918"/>
                </a:cubicBezTo>
                <a:cubicBezTo>
                  <a:pt x="4442" y="4918"/>
                  <a:pt x="4442" y="4906"/>
                  <a:pt x="4430" y="4906"/>
                </a:cubicBezTo>
                <a:lnTo>
                  <a:pt x="4418" y="4894"/>
                </a:lnTo>
                <a:cubicBezTo>
                  <a:pt x="4394" y="4894"/>
                  <a:pt x="4394" y="4882"/>
                  <a:pt x="4382" y="4882"/>
                </a:cubicBezTo>
                <a:cubicBezTo>
                  <a:pt x="4370" y="4882"/>
                  <a:pt x="4370" y="4858"/>
                  <a:pt x="4359" y="4858"/>
                </a:cubicBezTo>
                <a:lnTo>
                  <a:pt x="4335" y="4846"/>
                </a:lnTo>
                <a:cubicBezTo>
                  <a:pt x="4323" y="4846"/>
                  <a:pt x="4323" y="4835"/>
                  <a:pt x="4311" y="4835"/>
                </a:cubicBezTo>
                <a:cubicBezTo>
                  <a:pt x="4299" y="4835"/>
                  <a:pt x="4299" y="4823"/>
                  <a:pt x="4275" y="4823"/>
                </a:cubicBezTo>
                <a:cubicBezTo>
                  <a:pt x="4263" y="4799"/>
                  <a:pt x="4251" y="4799"/>
                  <a:pt x="4239" y="4787"/>
                </a:cubicBezTo>
                <a:cubicBezTo>
                  <a:pt x="4216" y="4775"/>
                  <a:pt x="4204" y="4775"/>
                  <a:pt x="4192" y="4763"/>
                </a:cubicBezTo>
                <a:cubicBezTo>
                  <a:pt x="4192" y="4763"/>
                  <a:pt x="4180" y="4763"/>
                  <a:pt x="4180" y="4739"/>
                </a:cubicBezTo>
                <a:lnTo>
                  <a:pt x="4156" y="4727"/>
                </a:lnTo>
                <a:cubicBezTo>
                  <a:pt x="4144" y="4727"/>
                  <a:pt x="4144" y="4716"/>
                  <a:pt x="4132" y="4716"/>
                </a:cubicBezTo>
                <a:cubicBezTo>
                  <a:pt x="4132" y="4716"/>
                  <a:pt x="4120" y="4716"/>
                  <a:pt x="4120" y="4704"/>
                </a:cubicBezTo>
                <a:lnTo>
                  <a:pt x="4097" y="4680"/>
                </a:lnTo>
                <a:cubicBezTo>
                  <a:pt x="4085" y="4680"/>
                  <a:pt x="4085" y="4668"/>
                  <a:pt x="4073" y="4668"/>
                </a:cubicBezTo>
                <a:cubicBezTo>
                  <a:pt x="4061" y="4668"/>
                  <a:pt x="4061" y="4668"/>
                  <a:pt x="4037" y="4656"/>
                </a:cubicBezTo>
                <a:lnTo>
                  <a:pt x="4025" y="4656"/>
                </a:lnTo>
                <a:cubicBezTo>
                  <a:pt x="4013" y="4656"/>
                  <a:pt x="4013" y="4644"/>
                  <a:pt x="4001" y="4644"/>
                </a:cubicBezTo>
                <a:cubicBezTo>
                  <a:pt x="3978" y="4644"/>
                  <a:pt x="3978" y="4644"/>
                  <a:pt x="3966" y="4620"/>
                </a:cubicBezTo>
                <a:lnTo>
                  <a:pt x="3954" y="4608"/>
                </a:lnTo>
                <a:cubicBezTo>
                  <a:pt x="3942" y="4608"/>
                  <a:pt x="3942" y="4608"/>
                  <a:pt x="3918" y="4596"/>
                </a:cubicBezTo>
                <a:cubicBezTo>
                  <a:pt x="3906" y="4596"/>
                  <a:pt x="3906" y="4596"/>
                  <a:pt x="3894" y="4585"/>
                </a:cubicBezTo>
                <a:lnTo>
                  <a:pt x="3882" y="4585"/>
                </a:lnTo>
                <a:cubicBezTo>
                  <a:pt x="3858" y="4585"/>
                  <a:pt x="3847" y="4561"/>
                  <a:pt x="3847" y="4561"/>
                </a:cubicBezTo>
                <a:cubicBezTo>
                  <a:pt x="3835" y="4561"/>
                  <a:pt x="3823" y="4549"/>
                  <a:pt x="3823" y="4549"/>
                </a:cubicBezTo>
                <a:cubicBezTo>
                  <a:pt x="3799" y="4549"/>
                  <a:pt x="3787" y="4537"/>
                  <a:pt x="3787" y="4537"/>
                </a:cubicBezTo>
                <a:cubicBezTo>
                  <a:pt x="3775" y="4537"/>
                  <a:pt x="3763" y="4537"/>
                  <a:pt x="3763" y="4525"/>
                </a:cubicBezTo>
                <a:cubicBezTo>
                  <a:pt x="3739" y="4525"/>
                  <a:pt x="3728" y="4501"/>
                  <a:pt x="3716" y="4501"/>
                </a:cubicBezTo>
                <a:cubicBezTo>
                  <a:pt x="3704" y="4501"/>
                  <a:pt x="3680" y="4501"/>
                  <a:pt x="3680" y="4489"/>
                </a:cubicBezTo>
                <a:cubicBezTo>
                  <a:pt x="3668" y="4489"/>
                  <a:pt x="3656" y="4489"/>
                  <a:pt x="3644" y="4477"/>
                </a:cubicBezTo>
                <a:cubicBezTo>
                  <a:pt x="3620" y="4477"/>
                  <a:pt x="3608" y="4477"/>
                  <a:pt x="3608" y="4465"/>
                </a:cubicBezTo>
                <a:cubicBezTo>
                  <a:pt x="3597" y="4465"/>
                  <a:pt x="3585" y="4465"/>
                  <a:pt x="3561" y="4442"/>
                </a:cubicBezTo>
                <a:cubicBezTo>
                  <a:pt x="3549" y="4442"/>
                  <a:pt x="3549" y="4442"/>
                  <a:pt x="3537" y="4430"/>
                </a:cubicBezTo>
                <a:cubicBezTo>
                  <a:pt x="3525" y="4430"/>
                  <a:pt x="3501" y="4430"/>
                  <a:pt x="3489" y="4418"/>
                </a:cubicBezTo>
                <a:cubicBezTo>
                  <a:pt x="3477" y="4418"/>
                  <a:pt x="3466" y="4418"/>
                  <a:pt x="3466" y="4406"/>
                </a:cubicBezTo>
                <a:cubicBezTo>
                  <a:pt x="3442" y="4406"/>
                  <a:pt x="3430" y="4406"/>
                  <a:pt x="3418" y="4382"/>
                </a:cubicBezTo>
                <a:lnTo>
                  <a:pt x="2358" y="4382"/>
                </a:lnTo>
                <a:lnTo>
                  <a:pt x="2358" y="1334"/>
                </a:lnTo>
                <a:close/>
                <a:moveTo>
                  <a:pt x="3418" y="8621"/>
                </a:moveTo>
                <a:lnTo>
                  <a:pt x="4144" y="8918"/>
                </a:lnTo>
                <a:lnTo>
                  <a:pt x="4168" y="8918"/>
                </a:lnTo>
                <a:cubicBezTo>
                  <a:pt x="4180" y="8918"/>
                  <a:pt x="4442" y="9014"/>
                  <a:pt x="4561" y="9335"/>
                </a:cubicBezTo>
                <a:cubicBezTo>
                  <a:pt x="4180" y="9609"/>
                  <a:pt x="3751" y="9811"/>
                  <a:pt x="3275" y="9883"/>
                </a:cubicBezTo>
                <a:lnTo>
                  <a:pt x="2811" y="9883"/>
                </a:lnTo>
                <a:cubicBezTo>
                  <a:pt x="2775" y="9883"/>
                  <a:pt x="2751" y="9883"/>
                  <a:pt x="2739" y="9895"/>
                </a:cubicBezTo>
                <a:cubicBezTo>
                  <a:pt x="2180" y="9871"/>
                  <a:pt x="1680" y="9657"/>
                  <a:pt x="1275" y="9335"/>
                </a:cubicBezTo>
                <a:cubicBezTo>
                  <a:pt x="1275" y="9311"/>
                  <a:pt x="1287" y="9311"/>
                  <a:pt x="1287" y="9299"/>
                </a:cubicBezTo>
                <a:cubicBezTo>
                  <a:pt x="1406" y="9002"/>
                  <a:pt x="1668" y="8918"/>
                  <a:pt x="1680" y="8918"/>
                </a:cubicBezTo>
                <a:lnTo>
                  <a:pt x="1692" y="8918"/>
                </a:lnTo>
                <a:lnTo>
                  <a:pt x="2418" y="8633"/>
                </a:lnTo>
                <a:lnTo>
                  <a:pt x="2811" y="9002"/>
                </a:lnTo>
                <a:cubicBezTo>
                  <a:pt x="2835" y="9037"/>
                  <a:pt x="2882" y="9049"/>
                  <a:pt x="2930" y="9049"/>
                </a:cubicBezTo>
                <a:cubicBezTo>
                  <a:pt x="2977" y="9049"/>
                  <a:pt x="3013" y="9037"/>
                  <a:pt x="3049" y="9002"/>
                </a:cubicBezTo>
                <a:lnTo>
                  <a:pt x="3418" y="8621"/>
                </a:lnTo>
                <a:close/>
                <a:moveTo>
                  <a:pt x="3728" y="1"/>
                </a:moveTo>
                <a:cubicBezTo>
                  <a:pt x="3692" y="1"/>
                  <a:pt x="3644" y="13"/>
                  <a:pt x="3608" y="36"/>
                </a:cubicBezTo>
                <a:cubicBezTo>
                  <a:pt x="3585" y="72"/>
                  <a:pt x="3573" y="120"/>
                  <a:pt x="3573" y="155"/>
                </a:cubicBezTo>
                <a:lnTo>
                  <a:pt x="3573" y="1013"/>
                </a:lnTo>
                <a:lnTo>
                  <a:pt x="2275" y="1013"/>
                </a:lnTo>
                <a:cubicBezTo>
                  <a:pt x="2227" y="1013"/>
                  <a:pt x="2180" y="1025"/>
                  <a:pt x="2156" y="1048"/>
                </a:cubicBezTo>
                <a:cubicBezTo>
                  <a:pt x="2120" y="1084"/>
                  <a:pt x="2108" y="1132"/>
                  <a:pt x="2108" y="1167"/>
                </a:cubicBezTo>
                <a:lnTo>
                  <a:pt x="2120" y="4465"/>
                </a:lnTo>
                <a:lnTo>
                  <a:pt x="2084" y="4465"/>
                </a:lnTo>
                <a:cubicBezTo>
                  <a:pt x="2061" y="4465"/>
                  <a:pt x="2061" y="4465"/>
                  <a:pt x="2049" y="4477"/>
                </a:cubicBezTo>
                <a:lnTo>
                  <a:pt x="2001" y="4477"/>
                </a:lnTo>
                <a:cubicBezTo>
                  <a:pt x="1989" y="4477"/>
                  <a:pt x="1989" y="4477"/>
                  <a:pt x="1977" y="4489"/>
                </a:cubicBezTo>
                <a:lnTo>
                  <a:pt x="1965" y="4489"/>
                </a:lnTo>
                <a:cubicBezTo>
                  <a:pt x="1942" y="4489"/>
                  <a:pt x="1942" y="4489"/>
                  <a:pt x="1930" y="4513"/>
                </a:cubicBezTo>
                <a:cubicBezTo>
                  <a:pt x="1918" y="4513"/>
                  <a:pt x="1918" y="4513"/>
                  <a:pt x="1906" y="4525"/>
                </a:cubicBezTo>
                <a:lnTo>
                  <a:pt x="1882" y="4537"/>
                </a:lnTo>
                <a:cubicBezTo>
                  <a:pt x="1882" y="4537"/>
                  <a:pt x="1870" y="4537"/>
                  <a:pt x="1870" y="4549"/>
                </a:cubicBezTo>
                <a:cubicBezTo>
                  <a:pt x="1858" y="4549"/>
                  <a:pt x="1846" y="4573"/>
                  <a:pt x="1823" y="4573"/>
                </a:cubicBezTo>
                <a:cubicBezTo>
                  <a:pt x="1811" y="4573"/>
                  <a:pt x="1799" y="4585"/>
                  <a:pt x="1787" y="4585"/>
                </a:cubicBezTo>
                <a:cubicBezTo>
                  <a:pt x="1763" y="4585"/>
                  <a:pt x="1751" y="4596"/>
                  <a:pt x="1751" y="4596"/>
                </a:cubicBezTo>
                <a:cubicBezTo>
                  <a:pt x="1739" y="4596"/>
                  <a:pt x="1739" y="4608"/>
                  <a:pt x="1727" y="4608"/>
                </a:cubicBezTo>
                <a:lnTo>
                  <a:pt x="1703" y="4608"/>
                </a:lnTo>
                <a:cubicBezTo>
                  <a:pt x="1692" y="4608"/>
                  <a:pt x="1692" y="4632"/>
                  <a:pt x="1680" y="4632"/>
                </a:cubicBezTo>
                <a:cubicBezTo>
                  <a:pt x="1668" y="4632"/>
                  <a:pt x="1668" y="4644"/>
                  <a:pt x="1644" y="4644"/>
                </a:cubicBezTo>
                <a:lnTo>
                  <a:pt x="1632" y="4656"/>
                </a:lnTo>
                <a:cubicBezTo>
                  <a:pt x="1620" y="4656"/>
                  <a:pt x="1620" y="4668"/>
                  <a:pt x="1608" y="4668"/>
                </a:cubicBezTo>
                <a:cubicBezTo>
                  <a:pt x="1584" y="4668"/>
                  <a:pt x="1584" y="4692"/>
                  <a:pt x="1572" y="4692"/>
                </a:cubicBezTo>
                <a:cubicBezTo>
                  <a:pt x="1561" y="4692"/>
                  <a:pt x="1561" y="4704"/>
                  <a:pt x="1549" y="4704"/>
                </a:cubicBezTo>
                <a:cubicBezTo>
                  <a:pt x="1525" y="4704"/>
                  <a:pt x="1525" y="4716"/>
                  <a:pt x="1513" y="4716"/>
                </a:cubicBezTo>
                <a:cubicBezTo>
                  <a:pt x="1501" y="4716"/>
                  <a:pt x="1501" y="4727"/>
                  <a:pt x="1489" y="4727"/>
                </a:cubicBezTo>
                <a:cubicBezTo>
                  <a:pt x="1465" y="4727"/>
                  <a:pt x="1465" y="4751"/>
                  <a:pt x="1453" y="4751"/>
                </a:cubicBezTo>
                <a:cubicBezTo>
                  <a:pt x="1442" y="4751"/>
                  <a:pt x="1442" y="4763"/>
                  <a:pt x="1430" y="4763"/>
                </a:cubicBezTo>
                <a:cubicBezTo>
                  <a:pt x="1406" y="4763"/>
                  <a:pt x="1406" y="4775"/>
                  <a:pt x="1394" y="4775"/>
                </a:cubicBezTo>
                <a:cubicBezTo>
                  <a:pt x="1382" y="4775"/>
                  <a:pt x="1382" y="4787"/>
                  <a:pt x="1370" y="4787"/>
                </a:cubicBezTo>
                <a:cubicBezTo>
                  <a:pt x="1346" y="4787"/>
                  <a:pt x="1346" y="4811"/>
                  <a:pt x="1334" y="4811"/>
                </a:cubicBezTo>
                <a:cubicBezTo>
                  <a:pt x="1322" y="4811"/>
                  <a:pt x="1322" y="4823"/>
                  <a:pt x="1311" y="4823"/>
                </a:cubicBezTo>
                <a:cubicBezTo>
                  <a:pt x="1287" y="4823"/>
                  <a:pt x="1287" y="4835"/>
                  <a:pt x="1275" y="4835"/>
                </a:cubicBezTo>
                <a:cubicBezTo>
                  <a:pt x="1263" y="4835"/>
                  <a:pt x="1263" y="4846"/>
                  <a:pt x="1251" y="4846"/>
                </a:cubicBezTo>
                <a:cubicBezTo>
                  <a:pt x="1227" y="4846"/>
                  <a:pt x="1227" y="4870"/>
                  <a:pt x="1215" y="4870"/>
                </a:cubicBezTo>
                <a:cubicBezTo>
                  <a:pt x="1203" y="4870"/>
                  <a:pt x="1203" y="4882"/>
                  <a:pt x="1191" y="4882"/>
                </a:cubicBezTo>
                <a:cubicBezTo>
                  <a:pt x="1168" y="4882"/>
                  <a:pt x="1168" y="4894"/>
                  <a:pt x="1156" y="4894"/>
                </a:cubicBezTo>
                <a:lnTo>
                  <a:pt x="1132" y="4930"/>
                </a:lnTo>
                <a:lnTo>
                  <a:pt x="1096" y="4954"/>
                </a:lnTo>
                <a:lnTo>
                  <a:pt x="1072" y="4989"/>
                </a:lnTo>
                <a:lnTo>
                  <a:pt x="1049" y="5001"/>
                </a:lnTo>
                <a:lnTo>
                  <a:pt x="1025" y="5025"/>
                </a:lnTo>
                <a:lnTo>
                  <a:pt x="1013" y="5049"/>
                </a:lnTo>
                <a:cubicBezTo>
                  <a:pt x="989" y="5049"/>
                  <a:pt x="989" y="5061"/>
                  <a:pt x="977" y="5061"/>
                </a:cubicBezTo>
                <a:lnTo>
                  <a:pt x="965" y="5073"/>
                </a:lnTo>
                <a:lnTo>
                  <a:pt x="953" y="5085"/>
                </a:lnTo>
                <a:lnTo>
                  <a:pt x="918" y="5120"/>
                </a:lnTo>
                <a:lnTo>
                  <a:pt x="906" y="5132"/>
                </a:lnTo>
                <a:cubicBezTo>
                  <a:pt x="691" y="5347"/>
                  <a:pt x="513" y="5561"/>
                  <a:pt x="382" y="5823"/>
                </a:cubicBezTo>
                <a:lnTo>
                  <a:pt x="382" y="5835"/>
                </a:lnTo>
                <a:cubicBezTo>
                  <a:pt x="370" y="5847"/>
                  <a:pt x="370" y="5859"/>
                  <a:pt x="358" y="5882"/>
                </a:cubicBezTo>
                <a:lnTo>
                  <a:pt x="334" y="5906"/>
                </a:lnTo>
                <a:cubicBezTo>
                  <a:pt x="334" y="5918"/>
                  <a:pt x="322" y="5942"/>
                  <a:pt x="322" y="5954"/>
                </a:cubicBezTo>
                <a:cubicBezTo>
                  <a:pt x="322" y="5966"/>
                  <a:pt x="310" y="5966"/>
                  <a:pt x="310" y="5978"/>
                </a:cubicBezTo>
                <a:cubicBezTo>
                  <a:pt x="310" y="6001"/>
                  <a:pt x="299" y="6013"/>
                  <a:pt x="299" y="6025"/>
                </a:cubicBezTo>
                <a:cubicBezTo>
                  <a:pt x="299" y="6037"/>
                  <a:pt x="275" y="6037"/>
                  <a:pt x="275" y="6061"/>
                </a:cubicBezTo>
                <a:cubicBezTo>
                  <a:pt x="275" y="6073"/>
                  <a:pt x="263" y="6085"/>
                  <a:pt x="263" y="6097"/>
                </a:cubicBezTo>
                <a:cubicBezTo>
                  <a:pt x="263" y="6120"/>
                  <a:pt x="251" y="6120"/>
                  <a:pt x="251" y="6132"/>
                </a:cubicBezTo>
                <a:cubicBezTo>
                  <a:pt x="251" y="6144"/>
                  <a:pt x="239" y="6156"/>
                  <a:pt x="239" y="6180"/>
                </a:cubicBezTo>
                <a:cubicBezTo>
                  <a:pt x="239" y="6192"/>
                  <a:pt x="239" y="6192"/>
                  <a:pt x="215" y="6204"/>
                </a:cubicBezTo>
                <a:cubicBezTo>
                  <a:pt x="215" y="6216"/>
                  <a:pt x="203" y="6240"/>
                  <a:pt x="203" y="6251"/>
                </a:cubicBezTo>
                <a:lnTo>
                  <a:pt x="191" y="6275"/>
                </a:lnTo>
                <a:cubicBezTo>
                  <a:pt x="179" y="6311"/>
                  <a:pt x="179" y="6323"/>
                  <a:pt x="156" y="6359"/>
                </a:cubicBezTo>
                <a:cubicBezTo>
                  <a:pt x="156" y="6382"/>
                  <a:pt x="144" y="6394"/>
                  <a:pt x="144" y="6430"/>
                </a:cubicBezTo>
                <a:lnTo>
                  <a:pt x="144" y="6442"/>
                </a:lnTo>
                <a:lnTo>
                  <a:pt x="144" y="6454"/>
                </a:lnTo>
                <a:cubicBezTo>
                  <a:pt x="144" y="6478"/>
                  <a:pt x="132" y="6490"/>
                  <a:pt x="132" y="6501"/>
                </a:cubicBezTo>
                <a:lnTo>
                  <a:pt x="132" y="6513"/>
                </a:lnTo>
                <a:lnTo>
                  <a:pt x="132" y="6537"/>
                </a:lnTo>
                <a:cubicBezTo>
                  <a:pt x="132" y="6549"/>
                  <a:pt x="132" y="6561"/>
                  <a:pt x="120" y="6573"/>
                </a:cubicBezTo>
                <a:lnTo>
                  <a:pt x="120" y="6609"/>
                </a:lnTo>
                <a:cubicBezTo>
                  <a:pt x="120" y="6621"/>
                  <a:pt x="120" y="6632"/>
                  <a:pt x="96" y="6656"/>
                </a:cubicBezTo>
                <a:lnTo>
                  <a:pt x="96" y="6680"/>
                </a:lnTo>
                <a:cubicBezTo>
                  <a:pt x="96" y="6692"/>
                  <a:pt x="96" y="6716"/>
                  <a:pt x="84" y="6728"/>
                </a:cubicBezTo>
                <a:lnTo>
                  <a:pt x="84" y="6751"/>
                </a:lnTo>
                <a:lnTo>
                  <a:pt x="84" y="6799"/>
                </a:lnTo>
                <a:lnTo>
                  <a:pt x="84" y="6811"/>
                </a:lnTo>
                <a:lnTo>
                  <a:pt x="84" y="6847"/>
                </a:lnTo>
                <a:lnTo>
                  <a:pt x="84" y="6894"/>
                </a:lnTo>
                <a:lnTo>
                  <a:pt x="84" y="6906"/>
                </a:lnTo>
                <a:lnTo>
                  <a:pt x="84" y="6930"/>
                </a:lnTo>
                <a:lnTo>
                  <a:pt x="84" y="6966"/>
                </a:lnTo>
                <a:lnTo>
                  <a:pt x="84" y="6978"/>
                </a:lnTo>
                <a:lnTo>
                  <a:pt x="84" y="6990"/>
                </a:lnTo>
                <a:lnTo>
                  <a:pt x="84" y="7049"/>
                </a:lnTo>
                <a:lnTo>
                  <a:pt x="84" y="7073"/>
                </a:lnTo>
                <a:lnTo>
                  <a:pt x="84" y="7085"/>
                </a:lnTo>
                <a:cubicBezTo>
                  <a:pt x="1" y="8704"/>
                  <a:pt x="1263" y="10109"/>
                  <a:pt x="2882" y="10180"/>
                </a:cubicBezTo>
                <a:lnTo>
                  <a:pt x="3037" y="10180"/>
                </a:lnTo>
                <a:cubicBezTo>
                  <a:pt x="3168" y="10180"/>
                  <a:pt x="3287" y="10169"/>
                  <a:pt x="3418" y="10145"/>
                </a:cubicBezTo>
                <a:lnTo>
                  <a:pt x="8335" y="10145"/>
                </a:lnTo>
                <a:cubicBezTo>
                  <a:pt x="8419" y="10145"/>
                  <a:pt x="8490" y="10073"/>
                  <a:pt x="8490" y="9990"/>
                </a:cubicBezTo>
                <a:lnTo>
                  <a:pt x="8490" y="9133"/>
                </a:lnTo>
                <a:lnTo>
                  <a:pt x="9776" y="9133"/>
                </a:lnTo>
                <a:cubicBezTo>
                  <a:pt x="9859" y="9133"/>
                  <a:pt x="9943" y="9061"/>
                  <a:pt x="9943" y="8978"/>
                </a:cubicBezTo>
                <a:lnTo>
                  <a:pt x="9824" y="2072"/>
                </a:lnTo>
                <a:lnTo>
                  <a:pt x="9824" y="2037"/>
                </a:lnTo>
                <a:lnTo>
                  <a:pt x="9824" y="2025"/>
                </a:lnTo>
                <a:cubicBezTo>
                  <a:pt x="9824" y="2025"/>
                  <a:pt x="9824" y="2013"/>
                  <a:pt x="9800" y="2013"/>
                </a:cubicBezTo>
                <a:cubicBezTo>
                  <a:pt x="9800" y="2013"/>
                  <a:pt x="9800" y="1989"/>
                  <a:pt x="9788" y="1989"/>
                </a:cubicBezTo>
                <a:lnTo>
                  <a:pt x="9776" y="1977"/>
                </a:lnTo>
                <a:lnTo>
                  <a:pt x="7835" y="36"/>
                </a:lnTo>
                <a:lnTo>
                  <a:pt x="7823" y="24"/>
                </a:lnTo>
                <a:lnTo>
                  <a:pt x="7811" y="13"/>
                </a:lnTo>
                <a:cubicBezTo>
                  <a:pt x="7811" y="13"/>
                  <a:pt x="7799" y="13"/>
                  <a:pt x="7799" y="1"/>
                </a:cubicBezTo>
                <a:close/>
              </a:path>
            </a:pathLst>
          </a:custGeom>
          <a:solidFill>
            <a:srgbClr val="657E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" grpId="0" animBg="1"/>
      <p:bldP spid="383" grpId="0" animBg="1"/>
      <p:bldP spid="368" grpId="0" build="p"/>
      <p:bldP spid="370" grpId="0" build="p"/>
      <p:bldP spid="372" grpId="0" build="p"/>
      <p:bldP spid="374" grpId="0" build="p"/>
      <p:bldP spid="376" grpId="0" build="p"/>
      <p:bldP spid="378" grpId="0" build="p"/>
      <p:bldP spid="379" grpId="0" animBg="1"/>
      <p:bldP spid="381" grpId="0" animBg="1"/>
      <p:bldP spid="384" grpId="0" animBg="1"/>
      <p:bldP spid="17" grpId="0" animBg="1"/>
      <p:bldP spid="3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766400" cy="10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Key DAX Measures</a:t>
            </a:r>
            <a:endParaRPr dirty="0"/>
          </a:p>
        </p:txBody>
      </p:sp>
      <p:sp>
        <p:nvSpPr>
          <p:cNvPr id="309" name="Google Shape;309;p41"/>
          <p:cNvSpPr txBox="1">
            <a:spLocks noGrp="1"/>
          </p:cNvSpPr>
          <p:nvPr>
            <p:ph type="body" idx="1"/>
          </p:nvPr>
        </p:nvSpPr>
        <p:spPr>
          <a:xfrm>
            <a:off x="720000" y="1553800"/>
            <a:ext cx="32136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1000"/>
              </a:spcBef>
            </a:pPr>
            <a:r>
              <a:rPr lang="en-US" sz="1800" dirty="0"/>
              <a:t>Y</a:t>
            </a:r>
            <a:r>
              <a:rPr lang="en-US" sz="1800" dirty="0">
                <a:solidFill>
                  <a:schemeClr val="dk1"/>
                </a:solidFill>
              </a:rPr>
              <a:t>oY change</a:t>
            </a:r>
          </a:p>
          <a:p>
            <a:pPr>
              <a:spcBef>
                <a:spcPts val="1000"/>
              </a:spcBef>
            </a:pPr>
            <a:r>
              <a:rPr lang="en-US" sz="1800" dirty="0"/>
              <a:t>MoM change</a:t>
            </a:r>
          </a:p>
          <a:p>
            <a:pPr>
              <a:spcBef>
                <a:spcPts val="1000"/>
              </a:spcBef>
            </a:pPr>
            <a:r>
              <a:rPr lang="en-US" sz="1800" dirty="0"/>
              <a:t>Average order value</a:t>
            </a:r>
          </a:p>
          <a:p>
            <a:pPr>
              <a:spcBef>
                <a:spcPts val="1000"/>
              </a:spcBef>
            </a:pPr>
            <a:r>
              <a:rPr lang="en-US" sz="1800" kern="100" dirty="0">
                <a:effectLst/>
                <a:latin typeface="Segoe UI" panose="020B0502040204020203" pitchFamily="34" charset="0"/>
                <a:ea typeface="Aptos" panose="020B0004020202020204" pitchFamily="34" charset="0"/>
                <a:cs typeface="Arial" panose="020B0604020202020204" pitchFamily="34" charset="0"/>
              </a:rPr>
              <a:t>Total</a:t>
            </a:r>
            <a:r>
              <a:rPr lang="en-US" sz="1800" kern="100" dirty="0">
                <a:latin typeface="Segoe UI" panose="020B0502040204020203" pitchFamily="34" charset="0"/>
                <a:ea typeface="Aptos" panose="020B0004020202020204" pitchFamily="34" charset="0"/>
                <a:cs typeface="Arial" panose="020B0604020202020204" pitchFamily="34" charset="0"/>
              </a:rPr>
              <a:t> R</a:t>
            </a:r>
            <a:r>
              <a:rPr lang="en-US" sz="1800" kern="100" dirty="0">
                <a:effectLst/>
                <a:latin typeface="Segoe UI" panose="020B0502040204020203" pitchFamily="34" charset="0"/>
                <a:ea typeface="Aptos" panose="020B0004020202020204" pitchFamily="34" charset="0"/>
                <a:cs typeface="Arial" panose="020B0604020202020204" pitchFamily="34" charset="0"/>
              </a:rPr>
              <a:t>evenue</a:t>
            </a:r>
          </a:p>
          <a:p>
            <a:pPr>
              <a:spcBef>
                <a:spcPts val="1000"/>
              </a:spcBef>
            </a:pPr>
            <a:r>
              <a:rPr lang="en-US" sz="1800" kern="100" dirty="0">
                <a:latin typeface="Segoe UI" panose="020B0502040204020203" pitchFamily="34" charset="0"/>
                <a:ea typeface="Aptos" panose="020B0004020202020204" pitchFamily="34" charset="0"/>
                <a:cs typeface="Arial" panose="020B0604020202020204" pitchFamily="34" charset="0"/>
              </a:rPr>
              <a:t>Total Cost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1000"/>
              </a:spcBef>
            </a:pPr>
            <a:endParaRPr lang="en-US" sz="1800" dirty="0"/>
          </a:p>
        </p:txBody>
      </p:sp>
      <p:sp>
        <p:nvSpPr>
          <p:cNvPr id="4" name="Google Shape;309;p41">
            <a:extLst>
              <a:ext uri="{FF2B5EF4-FFF2-40B4-BE49-F238E27FC236}">
                <a16:creationId xmlns:a16="http://schemas.microsoft.com/office/drawing/2014/main" id="{2CEA0881-6169-94D3-BFEE-F24568DC5C3D}"/>
              </a:ext>
            </a:extLst>
          </p:cNvPr>
          <p:cNvSpPr txBox="1">
            <a:spLocks/>
          </p:cNvSpPr>
          <p:nvPr/>
        </p:nvSpPr>
        <p:spPr>
          <a:xfrm>
            <a:off x="4572000" y="1553800"/>
            <a:ext cx="3213600" cy="29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┌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>
              <a:spcBef>
                <a:spcPts val="1000"/>
              </a:spcBef>
            </a:pPr>
            <a:r>
              <a:rPr lang="en-US" sz="1800" dirty="0"/>
              <a:t>Total Profit</a:t>
            </a:r>
          </a:p>
          <a:p>
            <a:pPr>
              <a:spcBef>
                <a:spcPts val="1000"/>
              </a:spcBef>
            </a:pPr>
            <a:r>
              <a:rPr lang="en-US" sz="1800" dirty="0"/>
              <a:t>Total Quantity</a:t>
            </a:r>
          </a:p>
          <a:p>
            <a:pPr>
              <a:spcBef>
                <a:spcPts val="1000"/>
              </a:spcBef>
            </a:pPr>
            <a:r>
              <a:rPr lang="en-US" sz="1800" dirty="0"/>
              <a:t>Return Rate</a:t>
            </a:r>
          </a:p>
          <a:p>
            <a:pPr>
              <a:spcBef>
                <a:spcPts val="1000"/>
              </a:spcBef>
            </a:pPr>
            <a:r>
              <a:rPr lang="en-US" sz="1800" dirty="0"/>
              <a:t>Loyal Customer Count</a:t>
            </a:r>
          </a:p>
          <a:p>
            <a:pPr>
              <a:spcBef>
                <a:spcPts val="1000"/>
              </a:spcBef>
            </a:pPr>
            <a:r>
              <a:rPr lang="en-US" sz="1800" dirty="0"/>
              <a:t>Top stores/products/…</a:t>
            </a:r>
          </a:p>
        </p:txBody>
      </p:sp>
    </p:spTree>
    <p:extLst>
      <p:ext uri="{BB962C8B-B14F-4D97-AF65-F5344CB8AC3E}">
        <p14:creationId xmlns:p14="http://schemas.microsoft.com/office/powerpoint/2010/main" val="34047851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6" name="Google Shape;606;p53"/>
          <p:cNvGrpSpPr/>
          <p:nvPr/>
        </p:nvGrpSpPr>
        <p:grpSpPr>
          <a:xfrm>
            <a:off x="624468" y="371706"/>
            <a:ext cx="7957010" cy="4771794"/>
            <a:chOff x="376617" y="414152"/>
            <a:chExt cx="6858392" cy="5424274"/>
          </a:xfrm>
        </p:grpSpPr>
        <p:sp>
          <p:nvSpPr>
            <p:cNvPr id="607" name="Google Shape;607;p53"/>
            <p:cNvSpPr/>
            <p:nvPr/>
          </p:nvSpPr>
          <p:spPr>
            <a:xfrm>
              <a:off x="2948754" y="5129726"/>
              <a:ext cx="1660725" cy="708700"/>
            </a:xfrm>
            <a:custGeom>
              <a:avLst/>
              <a:gdLst/>
              <a:ahLst/>
              <a:cxnLst/>
              <a:rect l="l" t="t" r="r" b="b"/>
              <a:pathLst>
                <a:path w="66429" h="28348" extrusionOk="0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53"/>
            <p:cNvSpPr/>
            <p:nvPr/>
          </p:nvSpPr>
          <p:spPr>
            <a:xfrm>
              <a:off x="376617" y="414152"/>
              <a:ext cx="6858392" cy="4985895"/>
            </a:xfrm>
            <a:custGeom>
              <a:avLst/>
              <a:gdLst/>
              <a:ahLst/>
              <a:cxnLst/>
              <a:rect l="l" t="t" r="r" b="b"/>
              <a:pathLst>
                <a:path w="248162" h="181204" extrusionOk="0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53"/>
            <p:cNvSpPr/>
            <p:nvPr/>
          </p:nvSpPr>
          <p:spPr>
            <a:xfrm>
              <a:off x="511179" y="600322"/>
              <a:ext cx="6508280" cy="4606652"/>
            </a:xfrm>
            <a:custGeom>
              <a:avLst/>
              <a:gdLst/>
              <a:ahLst/>
              <a:cxnLst/>
              <a:rect l="l" t="t" r="r" b="b"/>
              <a:pathLst>
                <a:path w="232665" h="165707" extrusionOk="0">
                  <a:moveTo>
                    <a:pt x="1" y="1"/>
                  </a:moveTo>
                  <a:lnTo>
                    <a:pt x="1" y="24307"/>
                  </a:lnTo>
                  <a:lnTo>
                    <a:pt x="1" y="165707"/>
                  </a:lnTo>
                  <a:lnTo>
                    <a:pt x="232665" y="165707"/>
                  </a:lnTo>
                  <a:lnTo>
                    <a:pt x="232665" y="121532"/>
                  </a:lnTo>
                  <a:lnTo>
                    <a:pt x="23266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847A6AC-A47C-36B0-D484-52AF3CA9E0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1986" y="555495"/>
            <a:ext cx="6620027" cy="405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5910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6" name="Google Shape;606;p53"/>
          <p:cNvGrpSpPr/>
          <p:nvPr/>
        </p:nvGrpSpPr>
        <p:grpSpPr>
          <a:xfrm>
            <a:off x="624468" y="371706"/>
            <a:ext cx="7957010" cy="4771794"/>
            <a:chOff x="376617" y="414152"/>
            <a:chExt cx="6858392" cy="5424274"/>
          </a:xfrm>
        </p:grpSpPr>
        <p:sp>
          <p:nvSpPr>
            <p:cNvPr id="607" name="Google Shape;607;p53"/>
            <p:cNvSpPr/>
            <p:nvPr/>
          </p:nvSpPr>
          <p:spPr>
            <a:xfrm>
              <a:off x="2948754" y="5129726"/>
              <a:ext cx="1660725" cy="708700"/>
            </a:xfrm>
            <a:custGeom>
              <a:avLst/>
              <a:gdLst/>
              <a:ahLst/>
              <a:cxnLst/>
              <a:rect l="l" t="t" r="r" b="b"/>
              <a:pathLst>
                <a:path w="66429" h="28348" extrusionOk="0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53"/>
            <p:cNvSpPr/>
            <p:nvPr/>
          </p:nvSpPr>
          <p:spPr>
            <a:xfrm>
              <a:off x="376617" y="414152"/>
              <a:ext cx="6858392" cy="4985895"/>
            </a:xfrm>
            <a:custGeom>
              <a:avLst/>
              <a:gdLst/>
              <a:ahLst/>
              <a:cxnLst/>
              <a:rect l="l" t="t" r="r" b="b"/>
              <a:pathLst>
                <a:path w="248162" h="181204" extrusionOk="0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53"/>
            <p:cNvSpPr/>
            <p:nvPr/>
          </p:nvSpPr>
          <p:spPr>
            <a:xfrm>
              <a:off x="511179" y="600322"/>
              <a:ext cx="6508280" cy="4606652"/>
            </a:xfrm>
            <a:custGeom>
              <a:avLst/>
              <a:gdLst/>
              <a:ahLst/>
              <a:cxnLst/>
              <a:rect l="l" t="t" r="r" b="b"/>
              <a:pathLst>
                <a:path w="232665" h="165707" extrusionOk="0">
                  <a:moveTo>
                    <a:pt x="1" y="1"/>
                  </a:moveTo>
                  <a:lnTo>
                    <a:pt x="1" y="24307"/>
                  </a:lnTo>
                  <a:lnTo>
                    <a:pt x="1" y="165707"/>
                  </a:lnTo>
                  <a:lnTo>
                    <a:pt x="232665" y="165707"/>
                  </a:lnTo>
                  <a:lnTo>
                    <a:pt x="232665" y="121532"/>
                  </a:lnTo>
                  <a:lnTo>
                    <a:pt x="23266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847A6AC-A47C-36B0-D484-52AF3CA9E0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28945" y="555495"/>
            <a:ext cx="6686110" cy="405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7261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6" name="Google Shape;606;p53"/>
          <p:cNvGrpSpPr/>
          <p:nvPr/>
        </p:nvGrpSpPr>
        <p:grpSpPr>
          <a:xfrm>
            <a:off x="624468" y="371706"/>
            <a:ext cx="7957010" cy="4771794"/>
            <a:chOff x="376617" y="414152"/>
            <a:chExt cx="6858392" cy="5424274"/>
          </a:xfrm>
        </p:grpSpPr>
        <p:sp>
          <p:nvSpPr>
            <p:cNvPr id="607" name="Google Shape;607;p53"/>
            <p:cNvSpPr/>
            <p:nvPr/>
          </p:nvSpPr>
          <p:spPr>
            <a:xfrm>
              <a:off x="2948754" y="5129726"/>
              <a:ext cx="1660725" cy="708700"/>
            </a:xfrm>
            <a:custGeom>
              <a:avLst/>
              <a:gdLst/>
              <a:ahLst/>
              <a:cxnLst/>
              <a:rect l="l" t="t" r="r" b="b"/>
              <a:pathLst>
                <a:path w="66429" h="28348" extrusionOk="0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53"/>
            <p:cNvSpPr/>
            <p:nvPr/>
          </p:nvSpPr>
          <p:spPr>
            <a:xfrm>
              <a:off x="376617" y="414152"/>
              <a:ext cx="6858392" cy="4985895"/>
            </a:xfrm>
            <a:custGeom>
              <a:avLst/>
              <a:gdLst/>
              <a:ahLst/>
              <a:cxnLst/>
              <a:rect l="l" t="t" r="r" b="b"/>
              <a:pathLst>
                <a:path w="248162" h="181204" extrusionOk="0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53"/>
            <p:cNvSpPr/>
            <p:nvPr/>
          </p:nvSpPr>
          <p:spPr>
            <a:xfrm>
              <a:off x="511179" y="600322"/>
              <a:ext cx="6508280" cy="4606652"/>
            </a:xfrm>
            <a:custGeom>
              <a:avLst/>
              <a:gdLst/>
              <a:ahLst/>
              <a:cxnLst/>
              <a:rect l="l" t="t" r="r" b="b"/>
              <a:pathLst>
                <a:path w="232665" h="165707" extrusionOk="0">
                  <a:moveTo>
                    <a:pt x="1" y="1"/>
                  </a:moveTo>
                  <a:lnTo>
                    <a:pt x="1" y="24307"/>
                  </a:lnTo>
                  <a:lnTo>
                    <a:pt x="1" y="165707"/>
                  </a:lnTo>
                  <a:lnTo>
                    <a:pt x="232665" y="165707"/>
                  </a:lnTo>
                  <a:lnTo>
                    <a:pt x="232665" y="121532"/>
                  </a:lnTo>
                  <a:lnTo>
                    <a:pt x="23266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34A1BDB9-915F-6CA6-4911-B28DC91F5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985" y="687882"/>
            <a:ext cx="7550815" cy="405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972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6" name="Google Shape;606;p53"/>
          <p:cNvGrpSpPr/>
          <p:nvPr/>
        </p:nvGrpSpPr>
        <p:grpSpPr>
          <a:xfrm>
            <a:off x="624468" y="371706"/>
            <a:ext cx="7957010" cy="4771794"/>
            <a:chOff x="376617" y="414152"/>
            <a:chExt cx="6858392" cy="5424274"/>
          </a:xfrm>
        </p:grpSpPr>
        <p:sp>
          <p:nvSpPr>
            <p:cNvPr id="607" name="Google Shape;607;p53"/>
            <p:cNvSpPr/>
            <p:nvPr/>
          </p:nvSpPr>
          <p:spPr>
            <a:xfrm>
              <a:off x="2948754" y="5129726"/>
              <a:ext cx="1660725" cy="708700"/>
            </a:xfrm>
            <a:custGeom>
              <a:avLst/>
              <a:gdLst/>
              <a:ahLst/>
              <a:cxnLst/>
              <a:rect l="l" t="t" r="r" b="b"/>
              <a:pathLst>
                <a:path w="66429" h="28348" extrusionOk="0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53"/>
            <p:cNvSpPr/>
            <p:nvPr/>
          </p:nvSpPr>
          <p:spPr>
            <a:xfrm>
              <a:off x="376617" y="414152"/>
              <a:ext cx="6858392" cy="4985895"/>
            </a:xfrm>
            <a:custGeom>
              <a:avLst/>
              <a:gdLst/>
              <a:ahLst/>
              <a:cxnLst/>
              <a:rect l="l" t="t" r="r" b="b"/>
              <a:pathLst>
                <a:path w="248162" h="181204" extrusionOk="0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53"/>
            <p:cNvSpPr/>
            <p:nvPr/>
          </p:nvSpPr>
          <p:spPr>
            <a:xfrm>
              <a:off x="511179" y="600322"/>
              <a:ext cx="6508280" cy="4606652"/>
            </a:xfrm>
            <a:custGeom>
              <a:avLst/>
              <a:gdLst/>
              <a:ahLst/>
              <a:cxnLst/>
              <a:rect l="l" t="t" r="r" b="b"/>
              <a:pathLst>
                <a:path w="232665" h="165707" extrusionOk="0">
                  <a:moveTo>
                    <a:pt x="1" y="1"/>
                  </a:moveTo>
                  <a:lnTo>
                    <a:pt x="1" y="24307"/>
                  </a:lnTo>
                  <a:lnTo>
                    <a:pt x="1" y="165707"/>
                  </a:lnTo>
                  <a:lnTo>
                    <a:pt x="232665" y="165707"/>
                  </a:lnTo>
                  <a:lnTo>
                    <a:pt x="232665" y="121532"/>
                  </a:lnTo>
                  <a:lnTo>
                    <a:pt x="23266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B68EC6C-E456-1525-3F32-34F8DAF4B8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600" y="590376"/>
            <a:ext cx="7465126" cy="4017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6195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6" name="Google Shape;606;p53"/>
          <p:cNvGrpSpPr/>
          <p:nvPr/>
        </p:nvGrpSpPr>
        <p:grpSpPr>
          <a:xfrm>
            <a:off x="624468" y="371706"/>
            <a:ext cx="7957010" cy="4771794"/>
            <a:chOff x="376617" y="414152"/>
            <a:chExt cx="6858392" cy="5424274"/>
          </a:xfrm>
        </p:grpSpPr>
        <p:sp>
          <p:nvSpPr>
            <p:cNvPr id="607" name="Google Shape;607;p53"/>
            <p:cNvSpPr/>
            <p:nvPr/>
          </p:nvSpPr>
          <p:spPr>
            <a:xfrm>
              <a:off x="2948754" y="5129726"/>
              <a:ext cx="1660725" cy="708700"/>
            </a:xfrm>
            <a:custGeom>
              <a:avLst/>
              <a:gdLst/>
              <a:ahLst/>
              <a:cxnLst/>
              <a:rect l="l" t="t" r="r" b="b"/>
              <a:pathLst>
                <a:path w="66429" h="28348" extrusionOk="0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53"/>
            <p:cNvSpPr/>
            <p:nvPr/>
          </p:nvSpPr>
          <p:spPr>
            <a:xfrm>
              <a:off x="376617" y="414152"/>
              <a:ext cx="6858392" cy="4985895"/>
            </a:xfrm>
            <a:custGeom>
              <a:avLst/>
              <a:gdLst/>
              <a:ahLst/>
              <a:cxnLst/>
              <a:rect l="l" t="t" r="r" b="b"/>
              <a:pathLst>
                <a:path w="248162" h="181204" extrusionOk="0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53"/>
            <p:cNvSpPr/>
            <p:nvPr/>
          </p:nvSpPr>
          <p:spPr>
            <a:xfrm>
              <a:off x="511179" y="600322"/>
              <a:ext cx="6508280" cy="4606652"/>
            </a:xfrm>
            <a:custGeom>
              <a:avLst/>
              <a:gdLst/>
              <a:ahLst/>
              <a:cxnLst/>
              <a:rect l="l" t="t" r="r" b="b"/>
              <a:pathLst>
                <a:path w="232665" h="165707" extrusionOk="0">
                  <a:moveTo>
                    <a:pt x="1" y="1"/>
                  </a:moveTo>
                  <a:lnTo>
                    <a:pt x="1" y="24307"/>
                  </a:lnTo>
                  <a:lnTo>
                    <a:pt x="1" y="165707"/>
                  </a:lnTo>
                  <a:lnTo>
                    <a:pt x="232665" y="165707"/>
                  </a:lnTo>
                  <a:lnTo>
                    <a:pt x="232665" y="121532"/>
                  </a:lnTo>
                  <a:lnTo>
                    <a:pt x="23266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4847A6AC-A47C-36B0-D484-52AF3CA9E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017" y="555495"/>
            <a:ext cx="6765099" cy="405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1919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6" name="Google Shape;606;p53"/>
          <p:cNvGrpSpPr/>
          <p:nvPr/>
        </p:nvGrpSpPr>
        <p:grpSpPr>
          <a:xfrm>
            <a:off x="624468" y="371706"/>
            <a:ext cx="7957010" cy="4771794"/>
            <a:chOff x="376617" y="414152"/>
            <a:chExt cx="6858392" cy="5424274"/>
          </a:xfrm>
        </p:grpSpPr>
        <p:sp>
          <p:nvSpPr>
            <p:cNvPr id="607" name="Google Shape;607;p53"/>
            <p:cNvSpPr/>
            <p:nvPr/>
          </p:nvSpPr>
          <p:spPr>
            <a:xfrm>
              <a:off x="2948754" y="5129726"/>
              <a:ext cx="1660725" cy="708700"/>
            </a:xfrm>
            <a:custGeom>
              <a:avLst/>
              <a:gdLst/>
              <a:ahLst/>
              <a:cxnLst/>
              <a:rect l="l" t="t" r="r" b="b"/>
              <a:pathLst>
                <a:path w="66429" h="28348" extrusionOk="0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53"/>
            <p:cNvSpPr/>
            <p:nvPr/>
          </p:nvSpPr>
          <p:spPr>
            <a:xfrm>
              <a:off x="376617" y="414152"/>
              <a:ext cx="6858392" cy="4985895"/>
            </a:xfrm>
            <a:custGeom>
              <a:avLst/>
              <a:gdLst/>
              <a:ahLst/>
              <a:cxnLst/>
              <a:rect l="l" t="t" r="r" b="b"/>
              <a:pathLst>
                <a:path w="248162" h="181204" extrusionOk="0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53"/>
            <p:cNvSpPr/>
            <p:nvPr/>
          </p:nvSpPr>
          <p:spPr>
            <a:xfrm>
              <a:off x="511179" y="600322"/>
              <a:ext cx="6508280" cy="4606652"/>
            </a:xfrm>
            <a:custGeom>
              <a:avLst/>
              <a:gdLst/>
              <a:ahLst/>
              <a:cxnLst/>
              <a:rect l="l" t="t" r="r" b="b"/>
              <a:pathLst>
                <a:path w="232665" h="165707" extrusionOk="0">
                  <a:moveTo>
                    <a:pt x="1" y="1"/>
                  </a:moveTo>
                  <a:lnTo>
                    <a:pt x="1" y="24307"/>
                  </a:lnTo>
                  <a:lnTo>
                    <a:pt x="1" y="165707"/>
                  </a:lnTo>
                  <a:lnTo>
                    <a:pt x="232665" y="165707"/>
                  </a:lnTo>
                  <a:lnTo>
                    <a:pt x="232665" y="121532"/>
                  </a:lnTo>
                  <a:lnTo>
                    <a:pt x="23266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DF2F16F-330E-6F28-F614-99BA861CD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600" y="555494"/>
            <a:ext cx="7518800" cy="405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1911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0"/>
          <p:cNvSpPr txBox="1">
            <a:spLocks noGrp="1"/>
          </p:cNvSpPr>
          <p:nvPr>
            <p:ph type="subTitle" idx="1"/>
          </p:nvPr>
        </p:nvSpPr>
        <p:spPr>
          <a:xfrm>
            <a:off x="1129937" y="1443100"/>
            <a:ext cx="6661047" cy="29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Revenue growth: </a:t>
            </a:r>
            <a:r>
              <a:rPr lang="en-US" sz="1600" i="1" u="sng" dirty="0"/>
              <a:t>208%</a:t>
            </a:r>
            <a:r>
              <a:rPr lang="en-US" sz="1600" i="1" dirty="0"/>
              <a:t> </a:t>
            </a:r>
            <a:r>
              <a:rPr lang="en-US" sz="1600" dirty="0"/>
              <a:t>year-over-year from 1997 to 1998.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Highest-performing brand: </a:t>
            </a:r>
            <a:r>
              <a:rPr lang="en-US" sz="1600" u="sng" dirty="0"/>
              <a:t>Hermanos</a:t>
            </a:r>
            <a:r>
              <a:rPr lang="en-US" sz="1600" dirty="0"/>
              <a:t>, approximately $170K in revenue.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Top-performing country: </a:t>
            </a:r>
            <a:r>
              <a:rPr lang="en-US" sz="1600" dirty="0"/>
              <a:t>USA, approximately </a:t>
            </a:r>
            <a:r>
              <a:rPr lang="en-US" sz="1600" i="1" u="sng" dirty="0"/>
              <a:t>$3.5M</a:t>
            </a:r>
            <a:r>
              <a:rPr lang="en-US" sz="1600" dirty="0"/>
              <a:t> in revenue with a 0.98% return rate.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Highest return concern: </a:t>
            </a:r>
            <a:r>
              <a:rPr lang="en-US" sz="1600" dirty="0"/>
              <a:t>Canada, approximately </a:t>
            </a:r>
            <a:r>
              <a:rPr lang="en-US" sz="1600" i="1" u="sng" dirty="0"/>
              <a:t>$300K</a:t>
            </a:r>
            <a:r>
              <a:rPr lang="en-US" sz="1600" dirty="0"/>
              <a:t> in revenue with a 1.08% return rate.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Returns trend: </a:t>
            </a:r>
            <a:r>
              <a:rPr lang="en-US" sz="1600" dirty="0"/>
              <a:t>Product returns increased alongside sales growth. (natural correlation )</a:t>
            </a:r>
            <a:endParaRPr sz="1600" dirty="0"/>
          </a:p>
        </p:txBody>
      </p:sp>
      <p:sp>
        <p:nvSpPr>
          <p:cNvPr id="301" name="Google Shape;301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Sales Insights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0"/>
          <p:cNvSpPr txBox="1">
            <a:spLocks noGrp="1"/>
          </p:cNvSpPr>
          <p:nvPr>
            <p:ph type="subTitle" idx="1"/>
          </p:nvPr>
        </p:nvSpPr>
        <p:spPr>
          <a:xfrm>
            <a:off x="1129937" y="1443100"/>
            <a:ext cx="6661047" cy="29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Lowest-contributing categories:</a:t>
            </a:r>
            <a:r>
              <a:rPr lang="en-US" sz="1600" dirty="0"/>
              <a:t> Many Categories had only 1 product, including King.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Highest unit cost product: </a:t>
            </a:r>
            <a:r>
              <a:rPr lang="en-US" sz="1600" u="sng" dirty="0"/>
              <a:t>Carlson Head Cheese</a:t>
            </a:r>
            <a:r>
              <a:rPr lang="en-US" sz="1600" dirty="0"/>
              <a:t>, approximately </a:t>
            </a:r>
            <a:r>
              <a:rPr lang="en-US" sz="1600" i="1" u="sng" dirty="0"/>
              <a:t>$1.91</a:t>
            </a:r>
            <a:r>
              <a:rPr lang="en-US" sz="1600" dirty="0"/>
              <a:t> cost and </a:t>
            </a:r>
            <a:r>
              <a:rPr lang="en-US" sz="1600" i="1" u="sng" dirty="0"/>
              <a:t>$2.06</a:t>
            </a:r>
            <a:r>
              <a:rPr lang="en-US" sz="1600" dirty="0"/>
              <a:t> profit per unit.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Most efficient product: </a:t>
            </a:r>
            <a:r>
              <a:rPr lang="en-US" sz="1600" u="sng" dirty="0"/>
              <a:t>Carmorant Copper Pot Scrubber</a:t>
            </a:r>
            <a:r>
              <a:rPr lang="en-US" sz="1600" dirty="0"/>
              <a:t>, approximately </a:t>
            </a:r>
            <a:r>
              <a:rPr lang="en-US" sz="1600" i="1" u="sng" dirty="0"/>
              <a:t>$1.22</a:t>
            </a:r>
            <a:r>
              <a:rPr lang="en-US" sz="1600" dirty="0"/>
              <a:t> cost and </a:t>
            </a:r>
            <a:r>
              <a:rPr lang="en-US" sz="1600" i="1" u="sng" dirty="0"/>
              <a:t>$2.73</a:t>
            </a:r>
            <a:r>
              <a:rPr lang="en-US" sz="1600" dirty="0"/>
              <a:t> profit per unit.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Regular products: </a:t>
            </a:r>
            <a:r>
              <a:rPr lang="en-US" sz="1600" dirty="0"/>
              <a:t>represent </a:t>
            </a:r>
            <a:r>
              <a:rPr lang="en-US" sz="1600" i="1" u="sng" dirty="0"/>
              <a:t>64.5%</a:t>
            </a:r>
            <a:r>
              <a:rPr lang="en-US" sz="1600" dirty="0"/>
              <a:t> of the portfolio.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Low-fat products: </a:t>
            </a:r>
            <a:r>
              <a:rPr lang="en-US" sz="1600" dirty="0"/>
              <a:t>represent </a:t>
            </a:r>
            <a:r>
              <a:rPr lang="en-US" sz="1600" i="1" u="sng" dirty="0"/>
              <a:t>35.5%</a:t>
            </a:r>
            <a:r>
              <a:rPr lang="en-US" sz="1600" dirty="0"/>
              <a:t> of the portfolio.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301" name="Google Shape;301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Products Insights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29505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0"/>
          <p:cNvSpPr txBox="1">
            <a:spLocks noGrp="1"/>
          </p:cNvSpPr>
          <p:nvPr>
            <p:ph type="subTitle" idx="1"/>
          </p:nvPr>
        </p:nvSpPr>
        <p:spPr>
          <a:xfrm>
            <a:off x="1129937" y="1443100"/>
            <a:ext cx="6661047" cy="29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Customer engagement: </a:t>
            </a:r>
            <a:r>
              <a:rPr lang="en-US" sz="1600" dirty="0"/>
              <a:t>Approximately </a:t>
            </a:r>
            <a:r>
              <a:rPr lang="en-US" sz="1600" i="1" u="sng" dirty="0"/>
              <a:t>85%</a:t>
            </a:r>
            <a:r>
              <a:rPr lang="en-US" sz="1600" dirty="0"/>
              <a:t> of registered customers completed purchases.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Largest purchasing segment: </a:t>
            </a:r>
            <a:r>
              <a:rPr lang="en-US" sz="1600" dirty="0"/>
              <a:t>Senior customers, contributing approximately </a:t>
            </a:r>
            <a:r>
              <a:rPr lang="en-US" sz="1600" i="1" u="sng" dirty="0"/>
              <a:t>32%</a:t>
            </a:r>
            <a:r>
              <a:rPr lang="en-US" sz="1600" dirty="0"/>
              <a:t> of purchases.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Most active income group: </a:t>
            </a:r>
            <a:r>
              <a:rPr lang="en-US" sz="1600" dirty="0"/>
              <a:t>Customers earning between </a:t>
            </a:r>
            <a:r>
              <a:rPr lang="en-US" sz="1600" i="1" u="sng" dirty="0"/>
              <a:t>$30K–$50K</a:t>
            </a:r>
            <a:r>
              <a:rPr lang="en-US" sz="1600" dirty="0"/>
              <a:t> annually.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Most preferred membership: </a:t>
            </a:r>
            <a:r>
              <a:rPr lang="en-US" sz="1600" dirty="0"/>
              <a:t>Bronze card, used by approximately </a:t>
            </a:r>
            <a:r>
              <a:rPr lang="en-US" sz="1600" i="1" u="sng" dirty="0"/>
              <a:t>56%</a:t>
            </a:r>
            <a:r>
              <a:rPr lang="en-US" sz="1600" dirty="0"/>
              <a:t> of customers.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301" name="Google Shape;301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Customers Insights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78670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0"/>
          <p:cNvSpPr txBox="1">
            <a:spLocks noGrp="1"/>
          </p:cNvSpPr>
          <p:nvPr>
            <p:ph type="subTitle" idx="1"/>
          </p:nvPr>
        </p:nvSpPr>
        <p:spPr>
          <a:xfrm>
            <a:off x="1129937" y="1443100"/>
            <a:ext cx="6661047" cy="29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Dominant education segment: </a:t>
            </a:r>
            <a:r>
              <a:rPr lang="en-US" sz="1600" dirty="0"/>
              <a:t>Customers with Partial High School or High School Degree education, representing approximately </a:t>
            </a:r>
            <a:r>
              <a:rPr lang="en-US" sz="1600" i="1" u="sng" dirty="0"/>
              <a:t>59.5%</a:t>
            </a:r>
            <a:r>
              <a:rPr lang="en-US" sz="1600" dirty="0"/>
              <a:t> of purchasing customers.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Highest customer share: </a:t>
            </a:r>
            <a:r>
              <a:rPr lang="en-US" sz="1600" u="sng" dirty="0"/>
              <a:t>California</a:t>
            </a:r>
            <a:r>
              <a:rPr lang="en-US" sz="1600" dirty="0"/>
              <a:t>, representing approximately </a:t>
            </a:r>
            <a:r>
              <a:rPr lang="en-US" sz="1600" i="1" u="sng" dirty="0"/>
              <a:t>37%</a:t>
            </a:r>
            <a:r>
              <a:rPr lang="en-US" sz="1600" dirty="0"/>
              <a:t> of customers but only </a:t>
            </a:r>
            <a:r>
              <a:rPr lang="en-US" sz="1600" i="1" u="sng" dirty="0"/>
              <a:t>18.7%</a:t>
            </a:r>
            <a:r>
              <a:rPr lang="en-US" sz="1600" dirty="0"/>
              <a:t> of revenue.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Most efficient state: </a:t>
            </a:r>
            <a:r>
              <a:rPr lang="en-US" sz="1600" u="sng" dirty="0"/>
              <a:t>Washington</a:t>
            </a:r>
            <a:r>
              <a:rPr lang="en-US" sz="1600" dirty="0"/>
              <a:t>, generating nearly </a:t>
            </a:r>
            <a:r>
              <a:rPr lang="en-US" sz="1600" i="1" u="sng" dirty="0"/>
              <a:t>32%</a:t>
            </a:r>
            <a:r>
              <a:rPr lang="en-US" sz="1600" dirty="0"/>
              <a:t> of revenue with only </a:t>
            </a:r>
            <a:r>
              <a:rPr lang="en-US" sz="1600" i="1" u="sng" dirty="0"/>
              <a:t>23%</a:t>
            </a:r>
            <a:r>
              <a:rPr lang="en-US" sz="1600" dirty="0"/>
              <a:t> of customers.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Store distribution impact: </a:t>
            </a:r>
            <a:r>
              <a:rPr lang="en-US" sz="1600" dirty="0"/>
              <a:t>Washington outperformed California partly due to operating </a:t>
            </a:r>
            <a:r>
              <a:rPr lang="en-US" sz="1600" i="1" dirty="0"/>
              <a:t>7</a:t>
            </a:r>
            <a:r>
              <a:rPr lang="en-US" sz="1600" dirty="0"/>
              <a:t> stores versus </a:t>
            </a:r>
            <a:r>
              <a:rPr lang="en-US" sz="1600" i="1" dirty="0"/>
              <a:t>4</a:t>
            </a:r>
            <a:r>
              <a:rPr lang="en-US" sz="1600" dirty="0"/>
              <a:t> stores.</a:t>
            </a:r>
          </a:p>
        </p:txBody>
      </p:sp>
      <p:sp>
        <p:nvSpPr>
          <p:cNvPr id="301" name="Google Shape;301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Customers Insights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06408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0"/>
          <p:cNvSpPr txBox="1">
            <a:spLocks noGrp="1"/>
          </p:cNvSpPr>
          <p:nvPr>
            <p:ph type="subTitle" idx="1"/>
          </p:nvPr>
        </p:nvSpPr>
        <p:spPr>
          <a:xfrm>
            <a:off x="1129937" y="1443100"/>
            <a:ext cx="6661047" cy="29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Strongest sales efficiency: </a:t>
            </a:r>
            <a:r>
              <a:rPr lang="en-US" sz="1600" dirty="0"/>
              <a:t>Oregon, contributing approximately </a:t>
            </a:r>
            <a:r>
              <a:rPr lang="en-US" sz="1600" i="1" u="sng" dirty="0"/>
              <a:t>16.5%</a:t>
            </a:r>
            <a:r>
              <a:rPr lang="en-US" sz="1600" dirty="0"/>
              <a:t> of revenue with only </a:t>
            </a:r>
            <a:r>
              <a:rPr lang="en-US" sz="1600" i="1" u="sng" dirty="0"/>
              <a:t>12%</a:t>
            </a:r>
            <a:r>
              <a:rPr lang="en-US" sz="1600" dirty="0"/>
              <a:t> of customers.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Weakest regional efficiency: </a:t>
            </a:r>
            <a:r>
              <a:rPr lang="en-US" sz="1600" dirty="0"/>
              <a:t>British Columbia, contributing only </a:t>
            </a:r>
            <a:r>
              <a:rPr lang="en-US" sz="1600" i="1" u="sng" dirty="0"/>
              <a:t>6%</a:t>
            </a:r>
            <a:r>
              <a:rPr lang="en-US" sz="1600" dirty="0"/>
              <a:t> of revenue despite representing </a:t>
            </a:r>
            <a:r>
              <a:rPr lang="en-US" sz="1600" i="1" u="sng" dirty="0"/>
              <a:t>15.5%</a:t>
            </a:r>
            <a:r>
              <a:rPr lang="en-US" sz="1600" dirty="0"/>
              <a:t> of customers.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Customer retention challenge: </a:t>
            </a:r>
            <a:r>
              <a:rPr lang="en-US" sz="1600" dirty="0"/>
              <a:t>Approximately </a:t>
            </a:r>
            <a:r>
              <a:rPr lang="en-US" sz="1600" i="1" u="sng" dirty="0"/>
              <a:t>33%</a:t>
            </a:r>
            <a:r>
              <a:rPr lang="en-US" sz="1600" dirty="0"/>
              <a:t> of customers are inactive, while </a:t>
            </a:r>
            <a:r>
              <a:rPr lang="en-US" sz="1600" i="1" u="sng" dirty="0"/>
              <a:t>14%</a:t>
            </a:r>
            <a:r>
              <a:rPr lang="en-US" sz="1600" dirty="0"/>
              <a:t> are at risk.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Highest inactive customer rate: </a:t>
            </a:r>
            <a:r>
              <a:rPr lang="en-US" sz="1600" dirty="0"/>
              <a:t>Canada at approximately </a:t>
            </a:r>
            <a:r>
              <a:rPr lang="en-US" sz="1600" i="1" u="sng" dirty="0"/>
              <a:t>55%</a:t>
            </a:r>
            <a:r>
              <a:rPr lang="en-US" sz="1600" dirty="0"/>
              <a:t>, compared to </a:t>
            </a:r>
            <a:r>
              <a:rPr lang="en-US" sz="1600" i="1" u="sng" dirty="0"/>
              <a:t>33%</a:t>
            </a:r>
            <a:r>
              <a:rPr lang="en-US" sz="1600" dirty="0"/>
              <a:t> in the USA and </a:t>
            </a:r>
            <a:r>
              <a:rPr lang="en-US" sz="1600" i="1" u="sng" dirty="0"/>
              <a:t>6%</a:t>
            </a:r>
            <a:r>
              <a:rPr lang="en-US" sz="1600" dirty="0"/>
              <a:t> in Mexico.</a:t>
            </a:r>
          </a:p>
        </p:txBody>
      </p:sp>
      <p:sp>
        <p:nvSpPr>
          <p:cNvPr id="301" name="Google Shape;301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Customers Insights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61683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0"/>
          <p:cNvSpPr txBox="1">
            <a:spLocks noGrp="1"/>
          </p:cNvSpPr>
          <p:nvPr>
            <p:ph type="subTitle" idx="1"/>
          </p:nvPr>
        </p:nvSpPr>
        <p:spPr>
          <a:xfrm>
            <a:off x="1129937" y="1443100"/>
            <a:ext cx="6661047" cy="29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Returned products: </a:t>
            </a:r>
            <a:r>
              <a:rPr lang="en-US" sz="1600" dirty="0"/>
              <a:t>approximately </a:t>
            </a:r>
            <a:r>
              <a:rPr lang="en-US" sz="1600" i="1" u="sng" dirty="0"/>
              <a:t>1%</a:t>
            </a:r>
            <a:r>
              <a:rPr lang="en-US" sz="1600" dirty="0"/>
              <a:t> of total sold quantity.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Highest return country: </a:t>
            </a:r>
            <a:r>
              <a:rPr lang="en-US" sz="1600" u="sng" dirty="0"/>
              <a:t>USA</a:t>
            </a:r>
            <a:r>
              <a:rPr lang="en-US" sz="1600" dirty="0"/>
              <a:t>, contributing approximately </a:t>
            </a:r>
            <a:r>
              <a:rPr lang="en-US" sz="1600" i="1" u="sng" dirty="0"/>
              <a:t>66.5%</a:t>
            </a:r>
            <a:r>
              <a:rPr lang="en-US" sz="1600" dirty="0"/>
              <a:t> of total returns.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Highest return store: </a:t>
            </a:r>
            <a:r>
              <a:rPr lang="en-US" sz="1600" u="sng" dirty="0"/>
              <a:t>Store 17 </a:t>
            </a:r>
            <a:r>
              <a:rPr lang="en-US" sz="1600" dirty="0"/>
              <a:t>recorded the largest number of product returns.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Highest return store type: </a:t>
            </a:r>
            <a:r>
              <a:rPr lang="en-US" sz="1600" u="sng" dirty="0"/>
              <a:t>Mid-Size</a:t>
            </a:r>
            <a:r>
              <a:rPr lang="en-US" sz="1600" dirty="0"/>
              <a:t> Grocery stores, with an approximately </a:t>
            </a:r>
            <a:r>
              <a:rPr lang="en-US" sz="1600" i="1" u="sng" dirty="0"/>
              <a:t>1.07%</a:t>
            </a:r>
            <a:r>
              <a:rPr lang="en-US" sz="1600" dirty="0"/>
              <a:t> return rate.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Peak return season: </a:t>
            </a:r>
            <a:r>
              <a:rPr lang="en-US" sz="1600" u="sng" dirty="0"/>
              <a:t>December</a:t>
            </a:r>
            <a:r>
              <a:rPr lang="en-US" sz="1600" dirty="0"/>
              <a:t> recorded the highest return activity.</a:t>
            </a:r>
          </a:p>
        </p:txBody>
      </p:sp>
      <p:sp>
        <p:nvSpPr>
          <p:cNvPr id="301" name="Google Shape;301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Returns Insights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48677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0"/>
          <p:cNvSpPr txBox="1">
            <a:spLocks noGrp="1"/>
          </p:cNvSpPr>
          <p:nvPr>
            <p:ph type="subTitle" idx="1"/>
          </p:nvPr>
        </p:nvSpPr>
        <p:spPr>
          <a:xfrm>
            <a:off x="1129937" y="1443100"/>
            <a:ext cx="6661047" cy="29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Strongest sales region: </a:t>
            </a:r>
            <a:r>
              <a:rPr lang="en-US" sz="1600" u="sng" dirty="0"/>
              <a:t>North West</a:t>
            </a:r>
            <a:r>
              <a:rPr lang="en-US" sz="1600" dirty="0"/>
              <a:t>, supported by the largest total store area.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Highest regional efficiency: </a:t>
            </a:r>
            <a:r>
              <a:rPr lang="en-US" sz="1600" u="sng" dirty="0"/>
              <a:t>South West</a:t>
            </a:r>
            <a:r>
              <a:rPr lang="en-US" sz="1600" dirty="0"/>
              <a:t>, it matched Mexico Central’s revenue with operating with only 47K sqft compared to 143K sqft in Mexico central.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Best-performing store:</a:t>
            </a:r>
            <a:r>
              <a:rPr lang="en-US" sz="1600" dirty="0"/>
              <a:t> </a:t>
            </a:r>
            <a:r>
              <a:rPr lang="en-US" sz="1600" u="sng" dirty="0"/>
              <a:t>Store 13</a:t>
            </a:r>
            <a:r>
              <a:rPr lang="en-US" sz="1600" dirty="0"/>
              <a:t>, contributing approximately </a:t>
            </a:r>
            <a:r>
              <a:rPr lang="en-US" sz="1600" i="1" u="sng" dirty="0"/>
              <a:t>9.5%</a:t>
            </a:r>
            <a:r>
              <a:rPr lang="en-US" sz="1600" dirty="0"/>
              <a:t> of total revenue and </a:t>
            </a:r>
            <a:r>
              <a:rPr lang="en-US" sz="1600" i="1" u="sng" dirty="0"/>
              <a:t>67.5%</a:t>
            </a:r>
            <a:r>
              <a:rPr lang="en-US" sz="1800" b="1" dirty="0">
                <a:effectLst/>
                <a:latin typeface="Segoe UI" panose="020B0502040204020203" pitchFamily="34" charset="0"/>
                <a:ea typeface="Aptos" panose="020B0004020202020204" pitchFamily="34" charset="0"/>
              </a:rPr>
              <a:t> </a:t>
            </a:r>
            <a:r>
              <a:rPr lang="en-US" sz="1600" dirty="0"/>
              <a:t>display area.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Second-best store: </a:t>
            </a:r>
            <a:r>
              <a:rPr lang="en-US" sz="1600" u="sng" dirty="0"/>
              <a:t>Store 17</a:t>
            </a:r>
            <a:r>
              <a:rPr lang="en-US" sz="1600" dirty="0"/>
              <a:t>, contributing nearly </a:t>
            </a:r>
            <a:r>
              <a:rPr lang="en-US" sz="1600" i="1" u="sng" dirty="0"/>
              <a:t>9%</a:t>
            </a:r>
            <a:r>
              <a:rPr lang="en-US" sz="1600" dirty="0"/>
              <a:t> of total revenue and </a:t>
            </a:r>
            <a:r>
              <a:rPr lang="en-US" sz="1600" i="1" u="sng" dirty="0"/>
              <a:t>65.5%</a:t>
            </a:r>
            <a:r>
              <a:rPr lang="en-US" sz="1800" b="1" dirty="0">
                <a:effectLst/>
                <a:latin typeface="Segoe UI" panose="020B0502040204020203" pitchFamily="34" charset="0"/>
                <a:ea typeface="Aptos" panose="020B0004020202020204" pitchFamily="34" charset="0"/>
              </a:rPr>
              <a:t> </a:t>
            </a:r>
            <a:r>
              <a:rPr lang="en-US" sz="1600" dirty="0"/>
              <a:t>display area.</a:t>
            </a:r>
          </a:p>
        </p:txBody>
      </p:sp>
      <p:sp>
        <p:nvSpPr>
          <p:cNvPr id="301" name="Google Shape;301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Stores Insights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4194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0"/>
          <p:cNvSpPr txBox="1">
            <a:spLocks noGrp="1"/>
          </p:cNvSpPr>
          <p:nvPr>
            <p:ph type="subTitle" idx="1"/>
          </p:nvPr>
        </p:nvSpPr>
        <p:spPr>
          <a:xfrm>
            <a:off x="1129937" y="1443100"/>
            <a:ext cx="6661047" cy="29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Lowest space efficiency: </a:t>
            </a:r>
            <a:r>
              <a:rPr lang="en-US" sz="1600" u="sng" dirty="0"/>
              <a:t>Stores 2, 18, and 20</a:t>
            </a:r>
            <a:r>
              <a:rPr lang="en-US" sz="1600" dirty="0"/>
              <a:t> generated weak revenue despite high display area percentages nearing 79%.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Most efficient store type: </a:t>
            </a:r>
            <a:r>
              <a:rPr lang="en-US" sz="1600" u="sng" dirty="0"/>
              <a:t>Deluxe Supermarkets</a:t>
            </a:r>
            <a:r>
              <a:rPr lang="en-US" sz="1600" dirty="0"/>
              <a:t> outperformed traditional supermarkets in sales efficiency, w</a:t>
            </a:r>
            <a:r>
              <a:rPr lang="en-US" sz="1800" kern="100" dirty="0">
                <a:latin typeface="Segoe UI" panose="020B0502040204020203" pitchFamily="34" charset="0"/>
                <a:cs typeface="Arial" panose="020B0604020202020204" pitchFamily="34" charset="0"/>
              </a:rPr>
              <a:t>ith </a:t>
            </a:r>
            <a:r>
              <a:rPr lang="en-US" sz="1800" kern="100" dirty="0">
                <a:effectLst/>
                <a:latin typeface="Segoe UI" panose="020B0502040204020203" pitchFamily="34" charset="0"/>
                <a:ea typeface="Aptos" panose="020B0004020202020204" pitchFamily="34" charset="0"/>
                <a:cs typeface="Arial" panose="020B0604020202020204" pitchFamily="34" charset="0"/>
              </a:rPr>
              <a:t>Store 13 achieving the strongest overall performance.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301" name="Google Shape;301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Stores Insights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77120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0"/>
          <p:cNvSpPr txBox="1">
            <a:spLocks noGrp="1"/>
          </p:cNvSpPr>
          <p:nvPr>
            <p:ph type="subTitle" idx="1"/>
          </p:nvPr>
        </p:nvSpPr>
        <p:spPr>
          <a:xfrm>
            <a:off x="1129937" y="1443100"/>
            <a:ext cx="6661047" cy="29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Remodel underperforming and outdated stores, as remodeled stores have demonstrated higher sales performance and improved customer engagement.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Expand the number of stores in California to better serve its large customer base, especially since Washington currently operates more stores despite having fewer customers.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Focus marketing and product strategies on senior customers by offering age-appropriate products, improving in-store accessibility, and enhancing customer convenience.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Analyze Store 13 as a benchmark model, since its performance exceeds that of multiple stores combined, and apply its successful operational and sales strategies across other locations.</a:t>
            </a:r>
          </a:p>
        </p:txBody>
      </p:sp>
      <p:sp>
        <p:nvSpPr>
          <p:cNvPr id="301" name="Google Shape;301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Recommendations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81905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3" name="Google Shape;593;p53"/>
          <p:cNvGrpSpPr/>
          <p:nvPr/>
        </p:nvGrpSpPr>
        <p:grpSpPr>
          <a:xfrm>
            <a:off x="720000" y="3703500"/>
            <a:ext cx="2619100" cy="181938"/>
            <a:chOff x="5684150" y="2914825"/>
            <a:chExt cx="2619100" cy="181938"/>
          </a:xfrm>
        </p:grpSpPr>
        <p:cxnSp>
          <p:nvCxnSpPr>
            <p:cNvPr id="594" name="Google Shape;594;p53"/>
            <p:cNvCxnSpPr>
              <a:stCxn id="595" idx="2"/>
              <a:endCxn id="596" idx="2"/>
            </p:cNvCxnSpPr>
            <p:nvPr/>
          </p:nvCxnSpPr>
          <p:spPr>
            <a:xfrm>
              <a:off x="6233175" y="3006613"/>
              <a:ext cx="502800" cy="76200"/>
            </a:xfrm>
            <a:prstGeom prst="straightConnector1">
              <a:avLst/>
            </a:pr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97" name="Google Shape;597;p53"/>
            <p:cNvGrpSpPr/>
            <p:nvPr/>
          </p:nvGrpSpPr>
          <p:grpSpPr>
            <a:xfrm>
              <a:off x="5684150" y="2914825"/>
              <a:ext cx="2619100" cy="181938"/>
              <a:chOff x="5684150" y="2914825"/>
              <a:chExt cx="2619100" cy="181938"/>
            </a:xfrm>
          </p:grpSpPr>
          <p:sp>
            <p:nvSpPr>
              <p:cNvPr id="598" name="Google Shape;598;p53"/>
              <p:cNvSpPr/>
              <p:nvPr/>
            </p:nvSpPr>
            <p:spPr>
              <a:xfrm>
                <a:off x="5684150" y="3067225"/>
                <a:ext cx="27900" cy="27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95" name="Google Shape;595;p53"/>
              <p:cNvSpPr/>
              <p:nvPr/>
            </p:nvSpPr>
            <p:spPr>
              <a:xfrm>
                <a:off x="6233175" y="2992663"/>
                <a:ext cx="27900" cy="27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96" name="Google Shape;596;p53"/>
              <p:cNvSpPr/>
              <p:nvPr/>
            </p:nvSpPr>
            <p:spPr>
              <a:xfrm>
                <a:off x="6735900" y="3068850"/>
                <a:ext cx="27900" cy="27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99" name="Google Shape;599;p53"/>
              <p:cNvSpPr/>
              <p:nvPr/>
            </p:nvSpPr>
            <p:spPr>
              <a:xfrm>
                <a:off x="7249350" y="2914825"/>
                <a:ext cx="27900" cy="27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600" name="Google Shape;600;p53"/>
              <p:cNvSpPr/>
              <p:nvPr/>
            </p:nvSpPr>
            <p:spPr>
              <a:xfrm>
                <a:off x="7791750" y="3068863"/>
                <a:ext cx="27900" cy="27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cxnSp>
            <p:nvCxnSpPr>
              <p:cNvPr id="601" name="Google Shape;601;p53"/>
              <p:cNvCxnSpPr>
                <a:stCxn id="598" idx="6"/>
                <a:endCxn id="595" idx="2"/>
              </p:cNvCxnSpPr>
              <p:nvPr/>
            </p:nvCxnSpPr>
            <p:spPr>
              <a:xfrm rot="10800000" flipH="1">
                <a:off x="5712050" y="3006475"/>
                <a:ext cx="521100" cy="747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2" name="Google Shape;602;p53"/>
              <p:cNvCxnSpPr>
                <a:stCxn id="596" idx="6"/>
                <a:endCxn id="599" idx="2"/>
              </p:cNvCxnSpPr>
              <p:nvPr/>
            </p:nvCxnSpPr>
            <p:spPr>
              <a:xfrm rot="10800000" flipH="1">
                <a:off x="6763800" y="2928900"/>
                <a:ext cx="485700" cy="1539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3" name="Google Shape;603;p53"/>
              <p:cNvCxnSpPr>
                <a:stCxn id="599" idx="6"/>
                <a:endCxn id="600" idx="2"/>
              </p:cNvCxnSpPr>
              <p:nvPr/>
            </p:nvCxnSpPr>
            <p:spPr>
              <a:xfrm>
                <a:off x="7277250" y="2928775"/>
                <a:ext cx="514500" cy="1539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4" name="Google Shape;604;p53"/>
              <p:cNvCxnSpPr>
                <a:stCxn id="600" idx="6"/>
              </p:cNvCxnSpPr>
              <p:nvPr/>
            </p:nvCxnSpPr>
            <p:spPr>
              <a:xfrm rot="10800000" flipH="1">
                <a:off x="7819650" y="3005113"/>
                <a:ext cx="483600" cy="777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</p:grpSp>
      <p:sp>
        <p:nvSpPr>
          <p:cNvPr id="605" name="Google Shape;605;p53"/>
          <p:cNvSpPr txBox="1">
            <a:spLocks noGrp="1"/>
          </p:cNvSpPr>
          <p:nvPr>
            <p:ph type="title"/>
          </p:nvPr>
        </p:nvSpPr>
        <p:spPr>
          <a:xfrm>
            <a:off x="720000" y="1258063"/>
            <a:ext cx="2589600" cy="109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Any Questions?</a:t>
            </a:r>
            <a:endParaRPr dirty="0"/>
          </a:p>
        </p:txBody>
      </p:sp>
      <p:grpSp>
        <p:nvGrpSpPr>
          <p:cNvPr id="606" name="Google Shape;606;p53"/>
          <p:cNvGrpSpPr/>
          <p:nvPr/>
        </p:nvGrpSpPr>
        <p:grpSpPr>
          <a:xfrm>
            <a:off x="4287659" y="1099925"/>
            <a:ext cx="4293819" cy="3122251"/>
            <a:chOff x="331763" y="414153"/>
            <a:chExt cx="6903246" cy="5019697"/>
          </a:xfrm>
        </p:grpSpPr>
        <p:sp>
          <p:nvSpPr>
            <p:cNvPr id="607" name="Google Shape;607;p53"/>
            <p:cNvSpPr/>
            <p:nvPr/>
          </p:nvSpPr>
          <p:spPr>
            <a:xfrm>
              <a:off x="2953125" y="4725150"/>
              <a:ext cx="1660725" cy="708700"/>
            </a:xfrm>
            <a:custGeom>
              <a:avLst/>
              <a:gdLst/>
              <a:ahLst/>
              <a:cxnLst/>
              <a:rect l="l" t="t" r="r" b="b"/>
              <a:pathLst>
                <a:path w="66429" h="28348" extrusionOk="0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53"/>
            <p:cNvSpPr/>
            <p:nvPr/>
          </p:nvSpPr>
          <p:spPr>
            <a:xfrm>
              <a:off x="331763" y="414153"/>
              <a:ext cx="6903246" cy="4353879"/>
            </a:xfrm>
            <a:custGeom>
              <a:avLst/>
              <a:gdLst/>
              <a:ahLst/>
              <a:cxnLst/>
              <a:rect l="l" t="t" r="r" b="b"/>
              <a:pathLst>
                <a:path w="248162" h="181204" extrusionOk="0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53"/>
            <p:cNvSpPr/>
            <p:nvPr/>
          </p:nvSpPr>
          <p:spPr>
            <a:xfrm>
              <a:off x="547300" y="600323"/>
              <a:ext cx="6472159" cy="3981525"/>
            </a:xfrm>
            <a:custGeom>
              <a:avLst/>
              <a:gdLst/>
              <a:ahLst/>
              <a:cxnLst/>
              <a:rect l="l" t="t" r="r" b="b"/>
              <a:pathLst>
                <a:path w="232665" h="165707" extrusionOk="0">
                  <a:moveTo>
                    <a:pt x="1" y="1"/>
                  </a:moveTo>
                  <a:lnTo>
                    <a:pt x="1" y="24307"/>
                  </a:lnTo>
                  <a:lnTo>
                    <a:pt x="1" y="165707"/>
                  </a:lnTo>
                  <a:lnTo>
                    <a:pt x="232665" y="165707"/>
                  </a:lnTo>
                  <a:lnTo>
                    <a:pt x="232665" y="121532"/>
                  </a:lnTo>
                  <a:lnTo>
                    <a:pt x="23266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53"/>
            <p:cNvSpPr/>
            <p:nvPr/>
          </p:nvSpPr>
          <p:spPr>
            <a:xfrm>
              <a:off x="2772650" y="5206975"/>
              <a:ext cx="2020025" cy="226875"/>
            </a:xfrm>
            <a:custGeom>
              <a:avLst/>
              <a:gdLst/>
              <a:ahLst/>
              <a:cxnLst/>
              <a:rect l="l" t="t" r="r" b="b"/>
              <a:pathLst>
                <a:path w="80801" h="9075" extrusionOk="0">
                  <a:moveTo>
                    <a:pt x="4571" y="1"/>
                  </a:moveTo>
                  <a:cubicBezTo>
                    <a:pt x="2054" y="1"/>
                    <a:pt x="1" y="2054"/>
                    <a:pt x="1" y="4570"/>
                  </a:cubicBezTo>
                  <a:cubicBezTo>
                    <a:pt x="1" y="7021"/>
                    <a:pt x="2054" y="9074"/>
                    <a:pt x="4571" y="9074"/>
                  </a:cubicBezTo>
                  <a:lnTo>
                    <a:pt x="76297" y="9074"/>
                  </a:lnTo>
                  <a:cubicBezTo>
                    <a:pt x="78814" y="9074"/>
                    <a:pt x="80801" y="7021"/>
                    <a:pt x="80801" y="4570"/>
                  </a:cubicBezTo>
                  <a:cubicBezTo>
                    <a:pt x="80801" y="2054"/>
                    <a:pt x="78814" y="1"/>
                    <a:pt x="76297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605;p53">
            <a:extLst>
              <a:ext uri="{FF2B5EF4-FFF2-40B4-BE49-F238E27FC236}">
                <a16:creationId xmlns:a16="http://schemas.microsoft.com/office/drawing/2014/main" id="{CC8F345B-58B5-A3FC-1073-E4A92F733EB1}"/>
              </a:ext>
            </a:extLst>
          </p:cNvPr>
          <p:cNvSpPr txBox="1">
            <a:spLocks/>
          </p:cNvSpPr>
          <p:nvPr/>
        </p:nvSpPr>
        <p:spPr>
          <a:xfrm>
            <a:off x="4421724" y="1803463"/>
            <a:ext cx="4002276" cy="1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"/>
              <a:buNone/>
              <a:defRPr sz="3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pen Sans"/>
              <a:buNone/>
              <a:defRPr sz="3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pen Sans"/>
              <a:buNone/>
              <a:defRPr sz="3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pen Sans"/>
              <a:buNone/>
              <a:defRPr sz="3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pen Sans"/>
              <a:buNone/>
              <a:defRPr sz="3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pen Sans"/>
              <a:buNone/>
              <a:defRPr sz="3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pen Sans"/>
              <a:buNone/>
              <a:defRPr sz="3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pen Sans"/>
              <a:buNone/>
              <a:defRPr sz="3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pen Sans"/>
              <a:buNone/>
              <a:defRPr sz="3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algn="ctr"/>
            <a:r>
              <a:rPr lang="en-US" sz="3600" dirty="0">
                <a:latin typeface="OCR A Extended" panose="02010509020102010303" pitchFamily="50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80282304"/>
      </p:ext>
    </p:extLst>
  </p:cSld>
  <p:clrMapOvr>
    <a:masterClrMapping/>
  </p:clrMapOvr>
</p:sld>
</file>

<file path=ppt/theme/theme1.xml><?xml version="1.0" encoding="utf-8"?>
<a:theme xmlns:a="http://schemas.openxmlformats.org/drawingml/2006/main" name="Cyberspace by Slidesgo">
  <a:themeElements>
    <a:clrScheme name="Simple Light">
      <a:dk1>
        <a:srgbClr val="B7D6FC"/>
      </a:dk1>
      <a:lt1>
        <a:srgbClr val="0D1621"/>
      </a:lt1>
      <a:dk2>
        <a:srgbClr val="5061A5"/>
      </a:dk2>
      <a:lt2>
        <a:srgbClr val="7187DE"/>
      </a:lt2>
      <a:accent1>
        <a:srgbClr val="A6B8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B7D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1836</TotalTime>
  <Words>1008</Words>
  <Application>Microsoft Office PowerPoint</Application>
  <PresentationFormat>On-screen Show (16:9)</PresentationFormat>
  <Paragraphs>166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5" baseType="lpstr">
      <vt:lpstr>Play</vt:lpstr>
      <vt:lpstr>Myanmar Text</vt:lpstr>
      <vt:lpstr>Anaheim</vt:lpstr>
      <vt:lpstr>Aptos</vt:lpstr>
      <vt:lpstr>Calibri</vt:lpstr>
      <vt:lpstr>Albert Sans</vt:lpstr>
      <vt:lpstr>Open Sans</vt:lpstr>
      <vt:lpstr>Bebas Neue</vt:lpstr>
      <vt:lpstr>Segoe UI</vt:lpstr>
      <vt:lpstr>Arial</vt:lpstr>
      <vt:lpstr>OCR A Extended</vt:lpstr>
      <vt:lpstr>Cyberspace by Slidesgo</vt:lpstr>
      <vt:lpstr>Our team</vt:lpstr>
      <vt:lpstr>Retail Analysis</vt:lpstr>
      <vt:lpstr>Business Problem</vt:lpstr>
      <vt:lpstr>Too much data!</vt:lpstr>
      <vt:lpstr>Goal</vt:lpstr>
      <vt:lpstr>Dataset Overview</vt:lpstr>
      <vt:lpstr>SQL</vt:lpstr>
      <vt:lpstr>Data Engineering</vt:lpstr>
      <vt:lpstr>Data Engineering</vt:lpstr>
      <vt:lpstr>Data Engineering</vt:lpstr>
      <vt:lpstr>Data Engineering</vt:lpstr>
      <vt:lpstr>Data Modeling: The Galaxy Schema</vt:lpstr>
      <vt:lpstr>Relationship Mapping </vt:lpstr>
      <vt:lpstr>Data Cleaning Challenges</vt:lpstr>
      <vt:lpstr>Power BI</vt:lpstr>
      <vt:lpstr>Dashboard Features</vt:lpstr>
      <vt:lpstr>Key Dax Measures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Sales Insights</vt:lpstr>
      <vt:lpstr>Products Insights</vt:lpstr>
      <vt:lpstr>Customers Insights</vt:lpstr>
      <vt:lpstr>Customers Insights</vt:lpstr>
      <vt:lpstr>Customers Insights</vt:lpstr>
      <vt:lpstr>Returns Insights</vt:lpstr>
      <vt:lpstr>Stores Insights</vt:lpstr>
      <vt:lpstr>Stores Insights</vt:lpstr>
      <vt:lpstr>Recommendations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محمود ابو السعود محمد محمد</cp:lastModifiedBy>
  <cp:revision>17</cp:revision>
  <dcterms:modified xsi:type="dcterms:W3CDTF">2026-05-25T22:14:55Z</dcterms:modified>
</cp:coreProperties>
</file>